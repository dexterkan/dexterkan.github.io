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64"/>
  </p:notesMasterIdLst>
  <p:sldIdLst>
    <p:sldId id="256" r:id="rId3"/>
    <p:sldId id="331" r:id="rId4"/>
    <p:sldId id="258" r:id="rId5"/>
    <p:sldId id="259" r:id="rId6"/>
    <p:sldId id="319" r:id="rId7"/>
    <p:sldId id="360" r:id="rId8"/>
    <p:sldId id="321" r:id="rId9"/>
    <p:sldId id="322" r:id="rId10"/>
    <p:sldId id="323" r:id="rId11"/>
    <p:sldId id="324" r:id="rId12"/>
    <p:sldId id="333" r:id="rId13"/>
    <p:sldId id="325" r:id="rId14"/>
    <p:sldId id="334" r:id="rId15"/>
    <p:sldId id="362" r:id="rId16"/>
    <p:sldId id="327" r:id="rId17"/>
    <p:sldId id="357" r:id="rId18"/>
    <p:sldId id="307" r:id="rId19"/>
    <p:sldId id="260" r:id="rId20"/>
    <p:sldId id="349" r:id="rId21"/>
    <p:sldId id="337" r:id="rId22"/>
    <p:sldId id="308" r:id="rId23"/>
    <p:sldId id="338" r:id="rId24"/>
    <p:sldId id="339" r:id="rId25"/>
    <p:sldId id="340" r:id="rId26"/>
    <p:sldId id="309" r:id="rId27"/>
    <p:sldId id="342" r:id="rId28"/>
    <p:sldId id="310" r:id="rId29"/>
    <p:sldId id="311" r:id="rId30"/>
    <p:sldId id="378" r:id="rId31"/>
    <p:sldId id="344" r:id="rId32"/>
    <p:sldId id="313" r:id="rId33"/>
    <p:sldId id="356" r:id="rId34"/>
    <p:sldId id="345" r:id="rId35"/>
    <p:sldId id="328" r:id="rId36"/>
    <p:sldId id="317" r:id="rId37"/>
    <p:sldId id="361" r:id="rId38"/>
    <p:sldId id="329" r:id="rId39"/>
    <p:sldId id="347" r:id="rId40"/>
    <p:sldId id="330" r:id="rId41"/>
    <p:sldId id="348" r:id="rId42"/>
    <p:sldId id="315" r:id="rId43"/>
    <p:sldId id="305" r:id="rId44"/>
    <p:sldId id="364" r:id="rId45"/>
    <p:sldId id="363" r:id="rId46"/>
    <p:sldId id="365" r:id="rId47"/>
    <p:sldId id="366" r:id="rId48"/>
    <p:sldId id="367" r:id="rId49"/>
    <p:sldId id="335" r:id="rId50"/>
    <p:sldId id="359" r:id="rId51"/>
    <p:sldId id="379" r:id="rId52"/>
    <p:sldId id="369" r:id="rId53"/>
    <p:sldId id="370" r:id="rId54"/>
    <p:sldId id="371" r:id="rId55"/>
    <p:sldId id="372" r:id="rId56"/>
    <p:sldId id="377" r:id="rId57"/>
    <p:sldId id="374" r:id="rId58"/>
    <p:sldId id="380" r:id="rId59"/>
    <p:sldId id="375" r:id="rId60"/>
    <p:sldId id="381" r:id="rId61"/>
    <p:sldId id="376" r:id="rId62"/>
    <p:sldId id="306" r:id="rId6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g2RBXxxudJvPC5Mkm//SkbEdrk8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01F21"/>
    <a:srgbClr val="666666"/>
    <a:srgbClr val="0F0F0F"/>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51"/>
    <p:restoredTop sz="73699"/>
  </p:normalViewPr>
  <p:slideViewPr>
    <p:cSldViewPr snapToGrid="0">
      <p:cViewPr varScale="1">
        <p:scale>
          <a:sx n="117" d="100"/>
          <a:sy n="117" d="100"/>
        </p:scale>
        <p:origin x="648" y="16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 will discuss my approaches to make machine learning practical on resource-constrained devices under latency, privacy, and deployment constraints.</a:t>
            </a:r>
            <a:r>
              <a:rPr lang="en-US" dirty="0">
                <a:effectLst/>
              </a:rPr>
              <a:t> </a:t>
            </a:r>
            <a:endParaRPr dirty="0"/>
          </a:p>
        </p:txBody>
      </p:sp>
      <p:sp>
        <p:nvSpPr>
          <p:cNvPr id="30" name="Google Shape;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future direction on fine-grained collaborative inference for large language models</a:t>
            </a:r>
            <a:r>
              <a:rPr lang="en-US" dirty="0">
                <a:effectLst/>
              </a:rPr>
              <a:t> </a:t>
            </a:r>
            <a:endParaRPr lang="en-US" dirty="0"/>
          </a:p>
          <a:p>
            <a:endParaRPr lang="en-US" dirty="0"/>
          </a:p>
        </p:txBody>
      </p:sp>
    </p:spTree>
    <p:extLst>
      <p:ext uri="{BB962C8B-B14F-4D97-AF65-F5344CB8AC3E}">
        <p14:creationId xmlns:p14="http://schemas.microsoft.com/office/powerpoint/2010/main" val="1553797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 name="Google Shape;4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So practical ML for resource-constrained devices is not just a matter of building accurate models or designing compact models. </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It requires coordinated system design under realistic deployment constraints.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0" dirty="0"/>
              <a:t>If we look at the two extremes, each may perform well on some of the three objectives, but usually gives up a lot on the others.</a:t>
            </a:r>
            <a:endParaRPr lang="en-US" sz="1100" b="0" i="0" u="none" strike="noStrike" cap="none" dirty="0">
              <a:solidFill>
                <a:srgbClr val="000000"/>
              </a:solidFill>
              <a:effectLst/>
              <a:latin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This balance does not come automatically. Instead, it requires proper design and coordination. </a:t>
            </a:r>
          </a:p>
          <a:p>
            <a:endParaRPr lang="en-US" dirty="0"/>
          </a:p>
        </p:txBody>
      </p:sp>
    </p:spTree>
    <p:extLst>
      <p:ext uri="{BB962C8B-B14F-4D97-AF65-F5344CB8AC3E}">
        <p14:creationId xmlns:p14="http://schemas.microsoft.com/office/powerpoint/2010/main" val="13208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3E58C005-51A1-DFAA-0BC0-41DD421B7E00}"/>
            </a:ext>
          </a:extLst>
        </p:cNvPr>
        <p:cNvGrpSpPr/>
        <p:nvPr/>
      </p:nvGrpSpPr>
      <p:grpSpPr>
        <a:xfrm>
          <a:off x="0" y="0"/>
          <a:ext cx="0" cy="0"/>
          <a:chOff x="0" y="0"/>
          <a:chExt cx="0" cy="0"/>
        </a:xfrm>
      </p:grpSpPr>
      <p:sp>
        <p:nvSpPr>
          <p:cNvPr id="48" name="Google Shape;48;p4:notes">
            <a:extLst>
              <a:ext uri="{FF2B5EF4-FFF2-40B4-BE49-F238E27FC236}">
                <a16:creationId xmlns:a16="http://schemas.microsoft.com/office/drawing/2014/main" id="{C378DE0E-D96F-EC68-07A9-06D11C2821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4:notes">
            <a:extLst>
              <a:ext uri="{FF2B5EF4-FFF2-40B4-BE49-F238E27FC236}">
                <a16:creationId xmlns:a16="http://schemas.microsoft.com/office/drawing/2014/main" id="{5BAA8C15-6F9A-C3E9-EA52-ECAD0DAFB7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1. Taken together, these observations motivate the overall objective of my research.</a:t>
            </a:r>
          </a:p>
          <a:p>
            <a:pPr marL="0" lvl="0" indent="0" algn="l" rtl="0">
              <a:lnSpc>
                <a:spcPct val="100000"/>
              </a:lnSpc>
              <a:spcBef>
                <a:spcPts val="0"/>
              </a:spcBef>
              <a:spcAft>
                <a:spcPts val="0"/>
              </a:spcAft>
              <a:buSzPts val="1100"/>
              <a:buNone/>
            </a:pPr>
            <a:r>
              <a:rPr lang="en-US" dirty="0"/>
              <a:t>2. </a:t>
            </a:r>
            <a:r>
              <a:rPr lang="en-US" sz="1100" b="0" i="0" u="none" strike="noStrike" cap="none" dirty="0">
                <a:solidFill>
                  <a:srgbClr val="000000"/>
                </a:solidFill>
                <a:effectLst/>
                <a:latin typeface="Arial"/>
                <a:ea typeface="Arial"/>
                <a:cs typeface="Arial"/>
                <a:sym typeface="Arial"/>
              </a:rPr>
              <a:t>practical ML in these settings requires jointly considering utility, privacy, and latency under deployment-specific constraints. Instead of optimizing a single objective in isolation.</a:t>
            </a:r>
          </a:p>
        </p:txBody>
      </p:sp>
    </p:spTree>
    <p:extLst>
      <p:ext uri="{BB962C8B-B14F-4D97-AF65-F5344CB8AC3E}">
        <p14:creationId xmlns:p14="http://schemas.microsoft.com/office/powerpoint/2010/main" val="2860986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Different deployment settings place different emphasis on these objectives, and therefore the research projects in this talk focus on different parts of this design space.</a:t>
            </a:r>
          </a:p>
          <a:p>
            <a:r>
              <a:rPr lang="en-US" dirty="0"/>
              <a:t>1. </a:t>
            </a:r>
            <a:r>
              <a:rPr lang="en-US" sz="1100" b="0" i="0" u="none" strike="noStrike" cap="none" dirty="0">
                <a:solidFill>
                  <a:srgbClr val="000000"/>
                </a:solidFill>
                <a:effectLst/>
                <a:latin typeface="Arial"/>
                <a:ea typeface="Arial"/>
                <a:cs typeface="Arial"/>
                <a:sym typeface="Arial"/>
              </a:rPr>
              <a:t>settings where the workload or model requirement is fixed, and latency is the dominant concern. </a:t>
            </a:r>
          </a:p>
          <a:p>
            <a:r>
              <a:rPr lang="en-US" sz="1100" b="0" i="0" u="none" strike="noStrike" cap="none" dirty="0">
                <a:solidFill>
                  <a:srgbClr val="000000"/>
                </a:solidFill>
                <a:effectLst/>
                <a:latin typeface="Arial"/>
                <a:cs typeface="Arial"/>
                <a:sym typeface="Arial"/>
              </a:rPr>
              <a:t>2. </a:t>
            </a:r>
            <a:r>
              <a:rPr lang="en-US" sz="1100" b="0" i="0" u="none" strike="noStrike" cap="none" dirty="0">
                <a:solidFill>
                  <a:srgbClr val="000000"/>
                </a:solidFill>
                <a:effectLst/>
                <a:latin typeface="Arial"/>
                <a:ea typeface="Arial"/>
                <a:cs typeface="Arial"/>
                <a:sym typeface="Arial"/>
              </a:rPr>
              <a:t>studies distributed inference when privacy must be considered jointly with utility and latency. </a:t>
            </a:r>
          </a:p>
          <a:p>
            <a:r>
              <a:rPr lang="en-US" sz="1100" b="0" i="0" u="none" strike="noStrike" cap="none" dirty="0">
                <a:solidFill>
                  <a:srgbClr val="000000"/>
                </a:solidFill>
                <a:effectLst/>
                <a:latin typeface="Arial"/>
                <a:cs typeface="Arial"/>
                <a:sym typeface="Arial"/>
              </a:rPr>
              <a:t>3. </a:t>
            </a:r>
            <a:r>
              <a:rPr lang="en-US" sz="1100" b="0" i="0" u="none" strike="noStrike" cap="none" dirty="0">
                <a:solidFill>
                  <a:srgbClr val="000000"/>
                </a:solidFill>
                <a:effectLst/>
                <a:latin typeface="Arial"/>
                <a:ea typeface="Arial"/>
                <a:cs typeface="Arial"/>
                <a:sym typeface="Arial"/>
              </a:rPr>
              <a:t>remote inference is less desirable, especially when privacy is strongly emphasized -&gt; select and adapt on-device model based on device’s conditions</a:t>
            </a:r>
          </a:p>
          <a:p>
            <a:r>
              <a:rPr lang="en-US" sz="1100" b="0" i="0" u="none" strike="noStrike" cap="none" dirty="0">
                <a:solidFill>
                  <a:srgbClr val="000000"/>
                </a:solidFill>
                <a:effectLst/>
                <a:latin typeface="Arial"/>
                <a:cs typeface="Arial"/>
                <a:sym typeface="Arial"/>
              </a:rPr>
              <a:t>4. future direction considers generative inference, where </a:t>
            </a:r>
            <a:r>
              <a:rPr lang="en-US" sz="1100" b="1" i="1" u="none" strike="noStrike" cap="none" dirty="0">
                <a:solidFill>
                  <a:srgbClr val="C01F21"/>
                </a:solidFill>
                <a:effectLst/>
                <a:latin typeface="Arial"/>
                <a:cs typeface="Arial"/>
                <a:sym typeface="Arial"/>
              </a:rPr>
              <a:t>iterative decoding makes collaboration even more challenging</a:t>
            </a:r>
            <a:endParaRPr lang="en-US" b="1" i="1" dirty="0">
              <a:solidFill>
                <a:srgbClr val="C01F21"/>
              </a:solidFill>
            </a:endParaRPr>
          </a:p>
        </p:txBody>
      </p:sp>
    </p:spTree>
    <p:extLst>
      <p:ext uri="{BB962C8B-B14F-4D97-AF65-F5344CB8AC3E}">
        <p14:creationId xmlns:p14="http://schemas.microsoft.com/office/powerpoint/2010/main" val="2741997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63F85D1C-597B-9DA0-D4E1-A3CBDADDE5B1}"/>
            </a:ext>
          </a:extLst>
        </p:cNvPr>
        <p:cNvGrpSpPr/>
        <p:nvPr/>
      </p:nvGrpSpPr>
      <p:grpSpPr>
        <a:xfrm>
          <a:off x="0" y="0"/>
          <a:ext cx="0" cy="0"/>
          <a:chOff x="0" y="0"/>
          <a:chExt cx="0" cy="0"/>
        </a:xfrm>
      </p:grpSpPr>
      <p:sp>
        <p:nvSpPr>
          <p:cNvPr id="286" name="Google Shape;286;p27:notes">
            <a:extLst>
              <a:ext uri="{FF2B5EF4-FFF2-40B4-BE49-F238E27FC236}">
                <a16:creationId xmlns:a16="http://schemas.microsoft.com/office/drawing/2014/main" id="{4CB887B8-65A2-B999-2708-A576A862D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7:notes">
            <a:extLst>
              <a:ext uri="{FF2B5EF4-FFF2-40B4-BE49-F238E27FC236}">
                <a16:creationId xmlns:a16="http://schemas.microsoft.com/office/drawing/2014/main" id="{F2FB47E1-EFF5-9D57-5AF4-6DC4AD2DDD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Efficient distributed execution for delay-sensitive settings</a:t>
            </a:r>
            <a:endParaRPr dirty="0"/>
          </a:p>
        </p:txBody>
      </p:sp>
    </p:spTree>
    <p:extLst>
      <p:ext uri="{BB962C8B-B14F-4D97-AF65-F5344CB8AC3E}">
        <p14:creationId xmlns:p14="http://schemas.microsoft.com/office/powerpoint/2010/main" val="3331269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Latency is the domain concern</a:t>
            </a:r>
          </a:p>
          <a:p>
            <a:r>
              <a:rPr lang="en-US" dirty="0"/>
              <a:t>Task model and its intended utility as fixed by the application</a:t>
            </a:r>
          </a:p>
          <a:p>
            <a:r>
              <a:rPr lang="en-US" dirty="0"/>
              <a:t>Offloading introduces system overhead</a:t>
            </a:r>
          </a:p>
          <a:p>
            <a:r>
              <a:rPr lang="en-US" dirty="0"/>
              <a:t>How to coordinate local and remote execution under system overhead and resource constraints</a:t>
            </a:r>
          </a:p>
        </p:txBody>
      </p:sp>
    </p:spTree>
    <p:extLst>
      <p:ext uri="{BB962C8B-B14F-4D97-AF65-F5344CB8AC3E}">
        <p14:creationId xmlns:p14="http://schemas.microsoft.com/office/powerpoint/2010/main" val="954990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Importantly, offloading introduces additional overhead through communication, request–response procedures, and coordination. </a:t>
            </a:r>
          </a:p>
          <a:p>
            <a:r>
              <a:rPr lang="en-US" sz="1100" b="0" i="0" u="none" strike="noStrike" cap="none" dirty="0">
                <a:solidFill>
                  <a:srgbClr val="000000"/>
                </a:solidFill>
                <a:effectLst/>
                <a:latin typeface="Arial"/>
                <a:ea typeface="Arial"/>
                <a:cs typeface="Arial"/>
                <a:sym typeface="Arial"/>
              </a:rPr>
              <a:t>As a result, end-to-end task duration is shaped not only by execution time, but also by these offloading-related overheads.</a:t>
            </a:r>
          </a:p>
          <a:p>
            <a:endParaRPr lang="en-US" dirty="0"/>
          </a:p>
        </p:txBody>
      </p:sp>
    </p:spTree>
    <p:extLst>
      <p:ext uri="{BB962C8B-B14F-4D97-AF65-F5344CB8AC3E}">
        <p14:creationId xmlns:p14="http://schemas.microsoft.com/office/powerpoint/2010/main" val="2477592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Importantly, task duration here includes queuing, transmission, and propagation delay, as well as coordination overhead, which are important in realistic offloading systems. </a:t>
            </a:r>
            <a:endParaRPr lang="en-US" dirty="0"/>
          </a:p>
        </p:txBody>
      </p:sp>
    </p:spTree>
    <p:extLst>
      <p:ext uri="{BB962C8B-B14F-4D97-AF65-F5344CB8AC3E}">
        <p14:creationId xmlns:p14="http://schemas.microsoft.com/office/powerpoint/2010/main" val="2061152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limitation of prior vehicular offloading work is that many methods still optimize only part of the overall problem. </a:t>
            </a:r>
          </a:p>
          <a:p>
            <a:r>
              <a:rPr lang="en-US" sz="1100" b="0" i="0" u="none" strike="noStrike" cap="none" dirty="0">
                <a:solidFill>
                  <a:srgbClr val="000000"/>
                </a:solidFill>
                <a:effectLst/>
                <a:latin typeface="Arial"/>
                <a:cs typeface="Arial"/>
                <a:sym typeface="Arial"/>
              </a:rPr>
              <a:t>Does not match the dynamic nature of vehicular systems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Most importantly, much of the literature focuses primarily on execution delay, without fully accounting for offloading-related overhead.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Do not fully capture realistic end-to-end behavior </a:t>
            </a:r>
          </a:p>
        </p:txBody>
      </p:sp>
    </p:spTree>
    <p:extLst>
      <p:ext uri="{BB962C8B-B14F-4D97-AF65-F5344CB8AC3E}">
        <p14:creationId xmlns:p14="http://schemas.microsoft.com/office/powerpoint/2010/main" val="1434691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Once a task is generated, it will be assigned a priority value for resources contention.</a:t>
            </a:r>
          </a:p>
          <a:p>
            <a:r>
              <a:rPr lang="en-US" dirty="0"/>
              <a:t>Specifically, a task has a higher priority value can occupy uplink transmission time slot earlier</a:t>
            </a:r>
          </a:p>
          <a:p>
            <a:r>
              <a:rPr lang="en-US" dirty="0"/>
              <a:t>Computation resources on a server are shared </a:t>
            </a:r>
            <a:r>
              <a:rPr lang="en-US" b="1" i="1" dirty="0"/>
              <a:t>in proportion to </a:t>
            </a:r>
            <a:r>
              <a:rPr lang="en-US" dirty="0"/>
              <a:t>the tasks’ priority values.</a:t>
            </a:r>
          </a:p>
          <a:p>
            <a:endParaRPr lang="en-US" dirty="0"/>
          </a:p>
          <a:p>
            <a:r>
              <a:rPr lang="en-US" dirty="0"/>
              <a:t>uses the priority value and the workload information from the RSU to estimate the offloading delay. If that estimated delay is likely to exceed the deadline, the task is executed locally right away.</a:t>
            </a:r>
          </a:p>
          <a:p>
            <a:r>
              <a:rPr lang="en-US" dirty="0"/>
              <a:t>Because the RSU information is piggybacked in the previous offloading result, it may already be outdated. So, we intentionally make the decision rule conservative.</a:t>
            </a:r>
          </a:p>
        </p:txBody>
      </p:sp>
    </p:spTree>
    <p:extLst>
      <p:ext uri="{BB962C8B-B14F-4D97-AF65-F5344CB8AC3E}">
        <p14:creationId xmlns:p14="http://schemas.microsoft.com/office/powerpoint/2010/main" val="25450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Inverse square root of deadlines times required compute</a:t>
            </a:r>
          </a:p>
          <a:p>
            <a:r>
              <a:rPr lang="en-US" dirty="0"/>
              <a:t>Earliest deadline first scheduling helps push urgent tasks to finish before their deadline</a:t>
            </a:r>
          </a:p>
          <a:p>
            <a:r>
              <a:rPr lang="en-US" dirty="0"/>
              <a:t>Shortest job first scheduling helps reducing the average completion time</a:t>
            </a:r>
          </a:p>
          <a:p>
            <a:r>
              <a:rPr lang="en-US" dirty="0"/>
              <a:t>Reciprocal would penalize large or less urgent tasks too aggressively</a:t>
            </a:r>
          </a:p>
          <a:p>
            <a:r>
              <a:rPr lang="en-US" sz="1100" b="0" i="0" u="none" strike="noStrike" cap="none" dirty="0">
                <a:solidFill>
                  <a:srgbClr val="000000"/>
                </a:solidFill>
                <a:effectLst/>
                <a:latin typeface="Arial"/>
                <a:ea typeface="Arial"/>
                <a:cs typeface="Arial"/>
                <a:sym typeface="Arial"/>
              </a:rPr>
              <a:t>priority-based mechanism keeps the control logic lightweight</a:t>
            </a:r>
            <a:r>
              <a:rPr lang="en-US" dirty="0">
                <a:effectLst/>
              </a:rPr>
              <a:t> </a:t>
            </a:r>
          </a:p>
          <a:p>
            <a:endParaRPr lang="en-US" dirty="0">
              <a:effectLst/>
            </a:endParaRPr>
          </a:p>
          <a:p>
            <a:r>
              <a:rPr lang="en-US" dirty="0">
                <a:effectLst/>
              </a:rPr>
              <a:t>Quick but less informed decision -&gt; reduce overhead due to request-response procedure</a:t>
            </a:r>
          </a:p>
          <a:p>
            <a:r>
              <a:rPr lang="en-US" dirty="0">
                <a:effectLst/>
              </a:rPr>
              <a:t>More informed decision with more complete information</a:t>
            </a:r>
          </a:p>
          <a:p>
            <a:r>
              <a:rPr lang="en-US" sz="1100" b="0" i="0" u="none" strike="noStrike" cap="none" dirty="0">
                <a:solidFill>
                  <a:srgbClr val="000000"/>
                </a:solidFill>
                <a:effectLst/>
                <a:latin typeface="Arial"/>
                <a:ea typeface="Arial"/>
                <a:cs typeface="Arial"/>
                <a:sym typeface="Arial"/>
              </a:rPr>
              <a:t>avoiding unnecessary request–response and centralized control.</a:t>
            </a:r>
            <a:r>
              <a:rPr lang="en-US" dirty="0">
                <a:effectLst/>
              </a:rPr>
              <a:t> </a:t>
            </a:r>
          </a:p>
          <a:p>
            <a:r>
              <a:rPr lang="en-US" sz="1100" b="0" i="0" u="none" strike="noStrike" cap="none" dirty="0">
                <a:solidFill>
                  <a:srgbClr val="000000"/>
                </a:solidFill>
                <a:effectLst/>
                <a:latin typeface="Arial"/>
                <a:ea typeface="Arial"/>
                <a:cs typeface="Arial"/>
                <a:sym typeface="Arial"/>
              </a:rPr>
              <a:t>TODORA is to make offloading decisions with low overhead.</a:t>
            </a:r>
            <a:r>
              <a:rPr lang="en-US" dirty="0">
                <a:effectLst/>
              </a:rPr>
              <a:t> </a:t>
            </a:r>
            <a:endParaRPr lang="en-US" dirty="0"/>
          </a:p>
        </p:txBody>
      </p:sp>
    </p:spTree>
    <p:extLst>
      <p:ext uri="{BB962C8B-B14F-4D97-AF65-F5344CB8AC3E}">
        <p14:creationId xmlns:p14="http://schemas.microsoft.com/office/powerpoint/2010/main" val="1378070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The x-axis plots varying vehicle compute over a realistic vehicular range. The farther right indicates more resources on vehicles.</a:t>
            </a:r>
          </a:p>
          <a:p>
            <a:r>
              <a:rPr lang="en-US" b="0" dirty="0"/>
              <a:t>If we look at task execution duration for which the coordination overhead from the request–response process is removed. In addition, the waiting overhead caused by the periodic mechanism is also omitted.</a:t>
            </a:r>
          </a:p>
          <a:p>
            <a:endParaRPr lang="en-US" b="0" dirty="0"/>
          </a:p>
        </p:txBody>
      </p:sp>
    </p:spTree>
    <p:extLst>
      <p:ext uri="{BB962C8B-B14F-4D97-AF65-F5344CB8AC3E}">
        <p14:creationId xmlns:p14="http://schemas.microsoft.com/office/powerpoint/2010/main" val="1888815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we examine TODORA’s performance under system stress in two ways: by increasing vehicle density as shown on the left and by increasing task arrival rate as shown on the right. </a:t>
            </a:r>
          </a:p>
          <a:p>
            <a:r>
              <a:rPr lang="en-US" sz="1100" b="0" i="0" u="none" strike="noStrike" cap="none" dirty="0">
                <a:solidFill>
                  <a:srgbClr val="000000"/>
                </a:solidFill>
                <a:effectLst/>
                <a:latin typeface="Arial"/>
                <a:cs typeface="Arial"/>
                <a:sym typeface="Arial"/>
              </a:rPr>
              <a:t>POPT uses optimization tools to solve the minimization problem previous mentioned in which there is a deadline constraint and in the high arrival-rate region, this constraint cannot be satisfied and hence POPT cannot generate a scheduling plan.</a:t>
            </a:r>
            <a:endParaRPr lang="en-US" dirty="0"/>
          </a:p>
        </p:txBody>
      </p:sp>
    </p:spTree>
    <p:extLst>
      <p:ext uri="{BB962C8B-B14F-4D97-AF65-F5344CB8AC3E}">
        <p14:creationId xmlns:p14="http://schemas.microsoft.com/office/powerpoint/2010/main" val="3023371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69FA724E-695B-0023-C1C3-C0CDFD80B336}"/>
            </a:ext>
          </a:extLst>
        </p:cNvPr>
        <p:cNvGrpSpPr/>
        <p:nvPr/>
      </p:nvGrpSpPr>
      <p:grpSpPr>
        <a:xfrm>
          <a:off x="0" y="0"/>
          <a:ext cx="0" cy="0"/>
          <a:chOff x="0" y="0"/>
          <a:chExt cx="0" cy="0"/>
        </a:xfrm>
      </p:grpSpPr>
      <p:sp>
        <p:nvSpPr>
          <p:cNvPr id="286" name="Google Shape;286;p27:notes">
            <a:extLst>
              <a:ext uri="{FF2B5EF4-FFF2-40B4-BE49-F238E27FC236}">
                <a16:creationId xmlns:a16="http://schemas.microsoft.com/office/drawing/2014/main" id="{F4F5A493-9239-BF86-AE9E-D840689B02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7:notes">
            <a:extLst>
              <a:ext uri="{FF2B5EF4-FFF2-40B4-BE49-F238E27FC236}">
                <a16:creationId xmlns:a16="http://schemas.microsoft.com/office/drawing/2014/main" id="{6AE1A8CC-5192-0945-B8CC-70BAEE1F8E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project asks how to utilize external support when privacy becomes an additional concern.</a:t>
            </a:r>
            <a:r>
              <a:rPr lang="en-US" dirty="0">
                <a:effectLst/>
              </a:rPr>
              <a:t> </a:t>
            </a:r>
            <a:endParaRPr dirty="0"/>
          </a:p>
        </p:txBody>
      </p:sp>
    </p:spTree>
    <p:extLst>
      <p:ext uri="{BB962C8B-B14F-4D97-AF65-F5344CB8AC3E}">
        <p14:creationId xmlns:p14="http://schemas.microsoft.com/office/powerpoint/2010/main" val="3831769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Visual inputs often naturally contain sensitive information</a:t>
            </a:r>
            <a:r>
              <a:rPr lang="en-US" dirty="0">
                <a:effectLs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Vision applications often require low-latency inference on resource-constrained devices, but they also cannot afford to lose too much utility.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None of these straightforward options satisfies all three objectives at once.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goal of this project is to develop a practical privacy-preserving inference system that balances all three.</a:t>
            </a:r>
            <a:r>
              <a:rPr lang="en-US" dirty="0">
                <a:effectLst/>
              </a:rPr>
              <a:t> </a:t>
            </a:r>
            <a:endParaRPr lang="en-US"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high-utility vision models are often too expensive to run directly on mobile devices with low latency, so remote assistance is still needed to achieve strong utility and responsiveness. </a:t>
            </a:r>
          </a:p>
          <a:p>
            <a:r>
              <a:rPr lang="en-US" sz="1100" b="0" i="0" u="none" strike="noStrike" cap="none" dirty="0">
                <a:solidFill>
                  <a:srgbClr val="000000"/>
                </a:solidFill>
                <a:effectLst/>
                <a:latin typeface="Arial"/>
                <a:ea typeface="Arial"/>
                <a:cs typeface="Arial"/>
                <a:sym typeface="Arial"/>
              </a:rPr>
              <a:t>once inference is offloaded to remote servers, privacy becomes a critical concern because the user’s visual data must be shared.</a:t>
            </a:r>
            <a:r>
              <a:rPr lang="en-US" dirty="0">
                <a:effectLst/>
              </a:rPr>
              <a:t> </a:t>
            </a:r>
          </a:p>
          <a:p>
            <a:r>
              <a:rPr lang="en-US" sz="1100" b="1" i="0" u="none" strike="noStrike" cap="none">
                <a:solidFill>
                  <a:srgbClr val="000000"/>
                </a:solidFill>
                <a:effectLst/>
                <a:latin typeface="Arial"/>
                <a:ea typeface="Arial"/>
                <a:cs typeface="Arial"/>
                <a:sym typeface="Arial"/>
              </a:rPr>
              <a:t>Here, we assume remote execution is supported by several moderately powerful servers, because we expect multi-server settings to become more common as edge computing becomes more prevalent.</a:t>
            </a:r>
            <a:endParaRPr lang="en-US" sz="1100" b="0" i="0" u="none" strike="noStrike" cap="none">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8341762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More broadly, most existing methods also do not really consider distributed multi-server settings.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So, the missing piece is not just privacy protection alone, but a practical system that can preserve privacy while still maintaining utility, low latency, and compatibility with distributed execution.</a:t>
            </a:r>
          </a:p>
          <a:p>
            <a:endParaRPr lang="en-US" dirty="0"/>
          </a:p>
        </p:txBody>
      </p:sp>
    </p:spTree>
    <p:extLst>
      <p:ext uri="{BB962C8B-B14F-4D97-AF65-F5344CB8AC3E}">
        <p14:creationId xmlns:p14="http://schemas.microsoft.com/office/powerpoint/2010/main" val="3183660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F399CA9-CD28-7F63-A31B-38798DA35CEE}"/>
            </a:ext>
          </a:extLst>
        </p:cNvPr>
        <p:cNvGrpSpPr/>
        <p:nvPr/>
      </p:nvGrpSpPr>
      <p:grpSpPr>
        <a:xfrm>
          <a:off x="0" y="0"/>
          <a:ext cx="0" cy="0"/>
          <a:chOff x="0" y="0"/>
          <a:chExt cx="0" cy="0"/>
        </a:xfrm>
      </p:grpSpPr>
      <p:sp>
        <p:nvSpPr>
          <p:cNvPr id="57" name="Google Shape;57;p5:notes">
            <a:extLst>
              <a:ext uri="{FF2B5EF4-FFF2-40B4-BE49-F238E27FC236}">
                <a16:creationId xmlns:a16="http://schemas.microsoft.com/office/drawing/2014/main" id="{A65F21DF-DC76-4BCA-E9C7-53D1B3C90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a:extLst>
              <a:ext uri="{FF2B5EF4-FFF2-40B4-BE49-F238E27FC236}">
                <a16:creationId xmlns:a16="http://schemas.microsoft.com/office/drawing/2014/main" id="{768C12A8-3608-2909-1539-1C3B88009B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69887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dirty="0"/>
              <a:t>false-negative loss: </a:t>
            </a:r>
            <a:r>
              <a:rPr lang="en-US" sz="1100" dirty="0"/>
              <a:t>Boosts sensitive-object recall by </a:t>
            </a:r>
            <a:r>
              <a:rPr lang="en-US" sz="1100" dirty="0">
                <a:solidFill>
                  <a:srgbClr val="0070C0"/>
                </a:solidFill>
              </a:rPr>
              <a:t>increasing sensitive confidence on anchors aligned with sensitive ground truth</a:t>
            </a:r>
            <a:r>
              <a:rPr lang="en-US" sz="1100" dirty="0"/>
              <a:t>.</a:t>
            </a:r>
          </a:p>
          <a:p>
            <a:endParaRPr lang="en-US" dirty="0"/>
          </a:p>
        </p:txBody>
      </p:sp>
    </p:spTree>
    <p:extLst>
      <p:ext uri="{BB962C8B-B14F-4D97-AF65-F5344CB8AC3E}">
        <p14:creationId xmlns:p14="http://schemas.microsoft.com/office/powerpoint/2010/main" val="942930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Client &amp; server are trained to maximize utility -&gt; stabilized the training</a:t>
            </a:r>
          </a:p>
        </p:txBody>
      </p:sp>
    </p:spTree>
    <p:extLst>
      <p:ext uri="{BB962C8B-B14F-4D97-AF65-F5344CB8AC3E}">
        <p14:creationId xmlns:p14="http://schemas.microsoft.com/office/powerpoint/2010/main" val="3250840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AF1A4413-1E4B-D972-95BF-F9CF41682009}"/>
            </a:ext>
          </a:extLst>
        </p:cNvPr>
        <p:cNvGrpSpPr/>
        <p:nvPr/>
      </p:nvGrpSpPr>
      <p:grpSpPr>
        <a:xfrm>
          <a:off x="0" y="0"/>
          <a:ext cx="0" cy="0"/>
          <a:chOff x="0" y="0"/>
          <a:chExt cx="0" cy="0"/>
        </a:xfrm>
      </p:grpSpPr>
      <p:sp>
        <p:nvSpPr>
          <p:cNvPr id="238" name="Google Shape;238;p21:notes">
            <a:extLst>
              <a:ext uri="{FF2B5EF4-FFF2-40B4-BE49-F238E27FC236}">
                <a16:creationId xmlns:a16="http://schemas.microsoft.com/office/drawing/2014/main" id="{4DD70E50-9E39-8C2A-7CD3-83054F16AE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21:notes">
            <a:extLst>
              <a:ext uri="{FF2B5EF4-FFF2-40B4-BE49-F238E27FC236}">
                <a16:creationId xmlns:a16="http://schemas.microsoft.com/office/drawing/2014/main" id="{947623F9-841A-4239-4D18-E447B90AF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Reconstruction threat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SSIM is a widely used image quality assessment metric in computer vision for examining the similarity between two images. It compares attributes, such as luminance and contrast, to capture perceptual differences.</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-&gt; reflecting perceptual discrepancies as perceived by the human visual system</a:t>
            </a:r>
          </a:p>
          <a:p>
            <a:pPr marL="171450" lvl="0" indent="-171450" algn="l" rtl="0">
              <a:lnSpc>
                <a:spcPct val="100000"/>
              </a:lnSpc>
              <a:spcBef>
                <a:spcPts val="0"/>
              </a:spcBef>
              <a:spcAft>
                <a:spcPts val="0"/>
              </a:spcAft>
              <a:buSzPts val="1100"/>
              <a:buFont typeface="Wingdings" pitchFamily="2" charset="2"/>
              <a:buChar char="è"/>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MI formally describes how much knowing one random variable reduces uncertainty about another</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Activation removal percentage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The variance for the Gaussian noise</a:t>
            </a:r>
          </a:p>
          <a:p>
            <a:r>
              <a:rPr lang="en-US" sz="1100" b="0" i="0" u="none" strike="noStrike" cap="none" dirty="0">
                <a:solidFill>
                  <a:srgbClr val="000000"/>
                </a:solidFill>
                <a:effectLst/>
                <a:latin typeface="Arial"/>
                <a:ea typeface="Arial"/>
                <a:cs typeface="Arial"/>
                <a:sym typeface="Arial"/>
              </a:rPr>
              <a:t>The retained spectrum percentage</a:t>
            </a:r>
          </a:p>
          <a:p>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11745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BBCE6784-89A2-73E3-FF68-C45AD9D29CB6}"/>
            </a:ext>
          </a:extLst>
        </p:cNvPr>
        <p:cNvGrpSpPr/>
        <p:nvPr/>
      </p:nvGrpSpPr>
      <p:grpSpPr>
        <a:xfrm>
          <a:off x="0" y="0"/>
          <a:ext cx="0" cy="0"/>
          <a:chOff x="0" y="0"/>
          <a:chExt cx="0" cy="0"/>
        </a:xfrm>
      </p:grpSpPr>
      <p:sp>
        <p:nvSpPr>
          <p:cNvPr id="286" name="Google Shape;286;p27:notes">
            <a:extLst>
              <a:ext uri="{FF2B5EF4-FFF2-40B4-BE49-F238E27FC236}">
                <a16:creationId xmlns:a16="http://schemas.microsoft.com/office/drawing/2014/main" id="{E65D29D9-C1CB-EA73-2499-4B1A1928D1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7:notes">
            <a:extLst>
              <a:ext uri="{FF2B5EF4-FFF2-40B4-BE49-F238E27FC236}">
                <a16:creationId xmlns:a16="http://schemas.microsoft.com/office/drawing/2014/main" id="{9EF71416-6B74-E725-3527-B6056A6A55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 now move to the third project, which asks a different question. When privacy requirements are strong enough that remote inference becomes less desirable, how can we select and strengthen on-device models under device constraints and device conditions.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2255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FA5784E-35E6-341B-A5D7-4AA6B9E28D7D}"/>
            </a:ext>
          </a:extLst>
        </p:cNvPr>
        <p:cNvGrpSpPr/>
        <p:nvPr/>
      </p:nvGrpSpPr>
      <p:grpSpPr>
        <a:xfrm>
          <a:off x="0" y="0"/>
          <a:ext cx="0" cy="0"/>
          <a:chOff x="0" y="0"/>
          <a:chExt cx="0" cy="0"/>
        </a:xfrm>
      </p:grpSpPr>
      <p:sp>
        <p:nvSpPr>
          <p:cNvPr id="57" name="Google Shape;57;p5:notes">
            <a:extLst>
              <a:ext uri="{FF2B5EF4-FFF2-40B4-BE49-F238E27FC236}">
                <a16:creationId xmlns:a16="http://schemas.microsoft.com/office/drawing/2014/main" id="{1D44B12C-B6DD-26A0-187F-360ED649CE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a:extLst>
              <a:ext uri="{FF2B5EF4-FFF2-40B4-BE49-F238E27FC236}">
                <a16:creationId xmlns:a16="http://schemas.microsoft.com/office/drawing/2014/main" id="{F5BF88EF-9F9D-4E4E-B081-D464C67B41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In particular, when privacy is strongly emphasized, executing models directly on the device becomes the more natural direction.</a:t>
            </a:r>
            <a:r>
              <a:rPr lang="en-US" dirty="0">
                <a:effectLst/>
              </a:rPr>
              <a:t> </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reliable on-device deployment is difficult in practice.</a:t>
            </a:r>
            <a:r>
              <a:rPr lang="en-US" dirty="0">
                <a:effectLst/>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So, the problem here is not just to find a compact model once, but to build a system that supports model adaptation under dynamic device condition.</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39105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So, the main challenge here is to make the final model both feasible and useful under dynamic device conditions, which cannot be achieved solely in the cloud.</a:t>
            </a:r>
          </a:p>
          <a:p>
            <a:endParaRPr lang="en-US" dirty="0"/>
          </a:p>
        </p:txBody>
      </p:sp>
    </p:spTree>
    <p:extLst>
      <p:ext uri="{BB962C8B-B14F-4D97-AF65-F5344CB8AC3E}">
        <p14:creationId xmlns:p14="http://schemas.microsoft.com/office/powerpoint/2010/main" val="36298808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how to stay aligned with local data, actual devices constraints under dynamic device conditions</a:t>
            </a:r>
            <a:endParaRPr lang="en-US" dirty="0"/>
          </a:p>
        </p:txBody>
      </p:sp>
    </p:spTree>
    <p:extLst>
      <p:ext uri="{BB962C8B-B14F-4D97-AF65-F5344CB8AC3E}">
        <p14:creationId xmlns:p14="http://schemas.microsoft.com/office/powerpoint/2010/main" val="3403163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A225815-6144-3D0A-204C-F1915B47A59B}"/>
            </a:ext>
          </a:extLst>
        </p:cNvPr>
        <p:cNvGrpSpPr/>
        <p:nvPr/>
      </p:nvGrpSpPr>
      <p:grpSpPr>
        <a:xfrm>
          <a:off x="0" y="0"/>
          <a:ext cx="0" cy="0"/>
          <a:chOff x="0" y="0"/>
          <a:chExt cx="0" cy="0"/>
        </a:xfrm>
      </p:grpSpPr>
      <p:sp>
        <p:nvSpPr>
          <p:cNvPr id="57" name="Google Shape;57;p5:notes">
            <a:extLst>
              <a:ext uri="{FF2B5EF4-FFF2-40B4-BE49-F238E27FC236}">
                <a16:creationId xmlns:a16="http://schemas.microsoft.com/office/drawing/2014/main" id="{3745857C-DBC6-7DD3-E584-00D31E9CA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a:extLst>
              <a:ext uri="{FF2B5EF4-FFF2-40B4-BE49-F238E27FC236}">
                <a16:creationId xmlns:a16="http://schemas.microsoft.com/office/drawing/2014/main" id="{F9CFD80A-9328-B137-0F9D-EDAB0CCE02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At a high level, the cloud stage is there to narrow the search space so that the later edge refinement can be done efficiently. </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edge stage aims to turn that reduced subnet into a final on-device model.</a:t>
            </a:r>
            <a:r>
              <a:rPr lang="en-US" dirty="0">
                <a:effectLst/>
              </a:rPr>
              <a:t> </a:t>
            </a:r>
            <a:endParaRPr dirty="0"/>
          </a:p>
        </p:txBody>
      </p:sp>
    </p:spTree>
    <p:extLst>
      <p:ext uri="{BB962C8B-B14F-4D97-AF65-F5344CB8AC3E}">
        <p14:creationId xmlns:p14="http://schemas.microsoft.com/office/powerpoint/2010/main" val="41878760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A29D819-6923-DBBB-E38B-9DA8D54E9DD1}"/>
            </a:ext>
          </a:extLst>
        </p:cNvPr>
        <p:cNvGrpSpPr/>
        <p:nvPr/>
      </p:nvGrpSpPr>
      <p:grpSpPr>
        <a:xfrm>
          <a:off x="0" y="0"/>
          <a:ext cx="0" cy="0"/>
          <a:chOff x="0" y="0"/>
          <a:chExt cx="0" cy="0"/>
        </a:xfrm>
      </p:grpSpPr>
      <p:sp>
        <p:nvSpPr>
          <p:cNvPr id="57" name="Google Shape;57;p5:notes">
            <a:extLst>
              <a:ext uri="{FF2B5EF4-FFF2-40B4-BE49-F238E27FC236}">
                <a16:creationId xmlns:a16="http://schemas.microsoft.com/office/drawing/2014/main" id="{242F25DD-77E8-2C9E-9F97-323B66137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a:extLst>
              <a:ext uri="{FF2B5EF4-FFF2-40B4-BE49-F238E27FC236}">
                <a16:creationId xmlns:a16="http://schemas.microsoft.com/office/drawing/2014/main" id="{8369DE4C-9EB5-7BB0-7419-CA4582C023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Each mutable block is replaced by a super-block with multiple candidate choices, so the search space can span several architectural dimensions at once, such as depth, width, kernel size.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Ever candidate network is a subnet of the </a:t>
            </a:r>
            <a:r>
              <a:rPr lang="en-US" dirty="0" err="1"/>
              <a:t>supernet</a:t>
            </a:r>
            <a:r>
              <a:rPr lang="en-US" dirty="0"/>
              <a:t>, so with the trained </a:t>
            </a:r>
            <a:r>
              <a:rPr lang="en-US" dirty="0" err="1"/>
              <a:t>supernet</a:t>
            </a:r>
            <a:r>
              <a:rPr lang="en-US" dirty="0"/>
              <a:t>, we do not need to retrain the network from scratch for evaluation</a:t>
            </a:r>
          </a:p>
          <a:p>
            <a:pPr marL="0" lvl="0" indent="0" algn="l" rtl="0">
              <a:lnSpc>
                <a:spcPct val="100000"/>
              </a:lnSpc>
              <a:spcBef>
                <a:spcPts val="0"/>
              </a:spcBef>
              <a:spcAft>
                <a:spcPts val="0"/>
              </a:spcAft>
              <a:buSzPts val="11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Since the cloud only sees surrogate hardware costs, we also relax the constraints slightly at this stage so that </a:t>
            </a:r>
            <a:r>
              <a:rPr lang="en-US" sz="1100" b="1" i="0" u="none" strike="noStrike" cap="none" dirty="0">
                <a:solidFill>
                  <a:srgbClr val="000000"/>
                </a:solidFill>
                <a:effectLst/>
                <a:latin typeface="Arial"/>
                <a:ea typeface="Arial"/>
                <a:cs typeface="Arial"/>
                <a:sym typeface="Arial"/>
              </a:rPr>
              <a:t>promising candidates</a:t>
            </a:r>
            <a:r>
              <a:rPr lang="en-US" sz="1100" b="0" i="0" u="none" strike="noStrike" cap="none" dirty="0">
                <a:solidFill>
                  <a:srgbClr val="000000"/>
                </a:solidFill>
                <a:effectLst/>
                <a:latin typeface="Arial"/>
                <a:ea typeface="Arial"/>
                <a:cs typeface="Arial"/>
                <a:sym typeface="Arial"/>
              </a:rPr>
              <a:t> are not pruned too aggressively before edge refinement.</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69731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grows the architecture block by block while keeping only the top-b partial architectures at each step.</a:t>
            </a:r>
            <a:r>
              <a:rPr lang="en-US" dirty="0">
                <a:effectLst/>
              </a:rPr>
              <a:t> </a:t>
            </a:r>
          </a:p>
          <a:p>
            <a:r>
              <a:rPr lang="en-US" sz="1100" b="0" i="0" u="none" strike="noStrike" cap="none" dirty="0">
                <a:solidFill>
                  <a:srgbClr val="000000"/>
                </a:solidFill>
                <a:effectLst/>
                <a:latin typeface="Arial"/>
                <a:ea typeface="Arial"/>
                <a:cs typeface="Arial"/>
                <a:sym typeface="Arial"/>
              </a:rPr>
              <a:t>candidates expanded from the same parent share a long common prefix. That means we can reuse intermediate activations from the shared prefix and recompute only the newly added suffix, instead of running the whole network from the input every time. </a:t>
            </a:r>
            <a:endParaRPr lang="en-US" dirty="0"/>
          </a:p>
        </p:txBody>
      </p:sp>
    </p:spTree>
    <p:extLst>
      <p:ext uri="{BB962C8B-B14F-4D97-AF65-F5344CB8AC3E}">
        <p14:creationId xmlns:p14="http://schemas.microsoft.com/office/powerpoint/2010/main" val="2902460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Evolutionary HW-NAS: </a:t>
            </a:r>
            <a:r>
              <a:rPr lang="en-US" dirty="0"/>
              <a:t>Use evolutionary search to explore architectures through selection, mutation, and crossover, and keep the best feasible architecture under the hardware constraints.</a:t>
            </a:r>
          </a:p>
          <a:p>
            <a:r>
              <a:rPr lang="en-US" b="1" dirty="0"/>
              <a:t>RL HW-NAS: </a:t>
            </a:r>
            <a:r>
              <a:rPr lang="en-US" dirty="0"/>
              <a:t>Use a PPO-based controller to sample architecture decisions, and optimize a reward that reflects utility while penalizing constraint violations.</a:t>
            </a:r>
          </a:p>
          <a:p>
            <a:r>
              <a:rPr lang="en-US" b="1" dirty="0"/>
              <a:t>Bayesian Optimization HW-NAS: </a:t>
            </a:r>
            <a:r>
              <a:rPr lang="en-US" dirty="0"/>
              <a:t>Use a Gaussian-process surrogate to predict architecture utility, and iteratively choose promising architectures through an acquisition function under the hardware constraints</a:t>
            </a:r>
          </a:p>
          <a:p>
            <a:endParaRPr lang="en-US" dirty="0"/>
          </a:p>
        </p:txBody>
      </p:sp>
    </p:spTree>
    <p:extLst>
      <p:ext uri="{BB962C8B-B14F-4D97-AF65-F5344CB8AC3E}">
        <p14:creationId xmlns:p14="http://schemas.microsoft.com/office/powerpoint/2010/main" val="20688489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352DBA6E-A570-2163-7454-166BABF6C236}"/>
            </a:ext>
          </a:extLst>
        </p:cNvPr>
        <p:cNvGrpSpPr/>
        <p:nvPr/>
      </p:nvGrpSpPr>
      <p:grpSpPr>
        <a:xfrm>
          <a:off x="0" y="0"/>
          <a:ext cx="0" cy="0"/>
          <a:chOff x="0" y="0"/>
          <a:chExt cx="0" cy="0"/>
        </a:xfrm>
      </p:grpSpPr>
      <p:sp>
        <p:nvSpPr>
          <p:cNvPr id="42" name="Google Shape;42;p3:notes">
            <a:extLst>
              <a:ext uri="{FF2B5EF4-FFF2-40B4-BE49-F238E27FC236}">
                <a16:creationId xmlns:a16="http://schemas.microsoft.com/office/drawing/2014/main" id="{B02BC82C-F86C-3509-B59E-5A1BAB8EED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 name="Google Shape;43;p3:notes">
            <a:extLst>
              <a:ext uri="{FF2B5EF4-FFF2-40B4-BE49-F238E27FC236}">
                <a16:creationId xmlns:a16="http://schemas.microsoft.com/office/drawing/2014/main" id="{7E3B6F05-EC43-D60B-3197-CE352A58BB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So far, the research projects  work on discriminative inference workloads</a:t>
            </a:r>
            <a:r>
              <a:rPr lang="en-US" dirty="0">
                <a:effectLst/>
              </a:rPr>
              <a:t>. </a:t>
            </a:r>
            <a:r>
              <a:rPr lang="en-US" sz="1100" b="0" i="0" u="none" strike="noStrike" cap="none" dirty="0">
                <a:solidFill>
                  <a:srgbClr val="000000"/>
                </a:solidFill>
                <a:effectLst/>
                <a:latin typeface="Arial"/>
                <a:ea typeface="Arial"/>
                <a:cs typeface="Arial"/>
                <a:sym typeface="Arial"/>
              </a:rPr>
              <a:t>An important extension of this same systems perspective is generative inference, especially large language models. In this future direction, I consider collaborative speculative decoding across edge and cloud.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extLst>
      <p:ext uri="{BB962C8B-B14F-4D97-AF65-F5344CB8AC3E}">
        <p14:creationId xmlns:p14="http://schemas.microsoft.com/office/powerpoint/2010/main" val="8819168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20FE6F99-F091-59A5-A749-228964B818EC}"/>
            </a:ext>
          </a:extLst>
        </p:cNvPr>
        <p:cNvGrpSpPr/>
        <p:nvPr/>
      </p:nvGrpSpPr>
      <p:grpSpPr>
        <a:xfrm>
          <a:off x="0" y="0"/>
          <a:ext cx="0" cy="0"/>
          <a:chOff x="0" y="0"/>
          <a:chExt cx="0" cy="0"/>
        </a:xfrm>
      </p:grpSpPr>
      <p:sp>
        <p:nvSpPr>
          <p:cNvPr id="57" name="Google Shape;57;p5:notes">
            <a:extLst>
              <a:ext uri="{FF2B5EF4-FFF2-40B4-BE49-F238E27FC236}">
                <a16:creationId xmlns:a16="http://schemas.microsoft.com/office/drawing/2014/main" id="{CCB72A91-49DC-96DC-306D-03F0772D0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5:notes">
            <a:extLst>
              <a:ext uri="{FF2B5EF4-FFF2-40B4-BE49-F238E27FC236}">
                <a16:creationId xmlns:a16="http://schemas.microsoft.com/office/drawing/2014/main" id="{BA0BBB34-02FC-F081-396E-6779A5B152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generation happens token by token rather than in a single forward pass, so computation, latency, and memory costs accumulate over time. </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That makes purely local generation even more difficult on edge devices, because the system has to sustain quality, latency, and memory over the full decoding process.</a:t>
            </a:r>
            <a:r>
              <a:rPr lang="en-US" dirty="0">
                <a:effectLst/>
              </a:rPr>
              <a:t> </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So, the main motivation is to move away from these two extremes and toward finer-grained edge–cloud collaboration during decoding</a:t>
            </a:r>
            <a:r>
              <a:rPr lang="en-US" dirty="0">
                <a:effectLst/>
              </a:rPr>
              <a:t> </a:t>
            </a:r>
            <a:endParaRPr dirty="0"/>
          </a:p>
        </p:txBody>
      </p:sp>
    </p:spTree>
    <p:extLst>
      <p:ext uri="{BB962C8B-B14F-4D97-AF65-F5344CB8AC3E}">
        <p14:creationId xmlns:p14="http://schemas.microsoft.com/office/powerpoint/2010/main" val="718832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So, the key point is that the remote model is not invoked for every decoding step. Verification is selective.</a:t>
            </a:r>
            <a:r>
              <a:rPr lang="en-US" dirty="0">
                <a:effectLst/>
              </a:rPr>
              <a:t> </a:t>
            </a:r>
          </a:p>
          <a:p>
            <a:r>
              <a:rPr lang="en-US" sz="1100" b="0" i="0" u="none" strike="noStrike" cap="none" dirty="0">
                <a:solidFill>
                  <a:srgbClr val="000000"/>
                </a:solidFill>
                <a:effectLst/>
                <a:latin typeface="Arial"/>
                <a:ea typeface="Arial"/>
                <a:cs typeface="Arial"/>
                <a:sym typeface="Arial"/>
              </a:rPr>
              <a:t>The edge handles easier steps locally, while the cloud is used only when stronger confirmation is needed.</a:t>
            </a:r>
            <a:r>
              <a:rPr lang="en-US" dirty="0">
                <a:effectLst/>
              </a:rPr>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In principle, this can reduce communication overhead and server-side computation compared with cloud-only generation, while still letting difficult decoding steps benefit from the stronger remote model instead of forcing the edge to handle everything alone.</a:t>
            </a:r>
          </a:p>
          <a:p>
            <a:endParaRPr lang="en-US" dirty="0"/>
          </a:p>
        </p:txBody>
      </p:sp>
    </p:spTree>
    <p:extLst>
      <p:ext uri="{BB962C8B-B14F-4D97-AF65-F5344CB8AC3E}">
        <p14:creationId xmlns:p14="http://schemas.microsoft.com/office/powerpoint/2010/main" val="38416461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central open problem in this future direction is how to decide when a decoding step should stay local and when it should be escalated for remote verification.</a:t>
            </a:r>
            <a:r>
              <a:rPr lang="en-US" dirty="0">
                <a:effectLst/>
              </a:rPr>
              <a:t> </a:t>
            </a:r>
          </a:p>
          <a:p>
            <a:endParaRPr lang="en-US" dirty="0">
              <a:effectLs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confidence and hardness are related, but they are not the same thing. How to </a:t>
            </a:r>
          </a:p>
          <a:p>
            <a:endParaRPr lang="en-US" dirty="0">
              <a:effectLst/>
            </a:endParaRPr>
          </a:p>
          <a:p>
            <a:endParaRPr lang="en-US" dirty="0">
              <a:effectLs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The difficulty is that this decision has to be made from imperfect local signals, as the true error risk of a decoding step is not directly observable.</a:t>
            </a:r>
          </a:p>
          <a:p>
            <a:endParaRPr lang="en-US" dirty="0"/>
          </a:p>
        </p:txBody>
      </p:sp>
    </p:spTree>
    <p:extLst>
      <p:ext uri="{BB962C8B-B14F-4D97-AF65-F5344CB8AC3E}">
        <p14:creationId xmlns:p14="http://schemas.microsoft.com/office/powerpoint/2010/main" val="18976337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8AF2C94-1715-A188-363A-DDCC15CDD0E8}"/>
            </a:ext>
          </a:extLst>
        </p:cNvPr>
        <p:cNvGrpSpPr/>
        <p:nvPr/>
      </p:nvGrpSpPr>
      <p:grpSpPr>
        <a:xfrm>
          <a:off x="0" y="0"/>
          <a:ext cx="0" cy="0"/>
          <a:chOff x="0" y="0"/>
          <a:chExt cx="0" cy="0"/>
        </a:xfrm>
      </p:grpSpPr>
      <p:sp>
        <p:nvSpPr>
          <p:cNvPr id="42" name="Google Shape;42;p3:notes">
            <a:extLst>
              <a:ext uri="{FF2B5EF4-FFF2-40B4-BE49-F238E27FC236}">
                <a16:creationId xmlns:a16="http://schemas.microsoft.com/office/drawing/2014/main" id="{A680C1B2-47D6-8A22-CDD7-01ABD55528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 name="Google Shape;43;p3:notes">
            <a:extLst>
              <a:ext uri="{FF2B5EF4-FFF2-40B4-BE49-F238E27FC236}">
                <a16:creationId xmlns:a16="http://schemas.microsoft.com/office/drawing/2014/main" id="{5A7F1954-A925-6F59-B577-C6BDE0BBED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0296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8BB9883-3461-ECE9-468E-E11F08ED96FF}"/>
            </a:ext>
          </a:extLst>
        </p:cNvPr>
        <p:cNvGrpSpPr/>
        <p:nvPr/>
      </p:nvGrpSpPr>
      <p:grpSpPr>
        <a:xfrm>
          <a:off x="0" y="0"/>
          <a:ext cx="0" cy="0"/>
          <a:chOff x="0" y="0"/>
          <a:chExt cx="0" cy="0"/>
        </a:xfrm>
      </p:grpSpPr>
      <p:sp>
        <p:nvSpPr>
          <p:cNvPr id="246" name="Google Shape;246;p22:notes">
            <a:extLst>
              <a:ext uri="{FF2B5EF4-FFF2-40B4-BE49-F238E27FC236}">
                <a16:creationId xmlns:a16="http://schemas.microsoft.com/office/drawing/2014/main" id="{F8E027F8-B94E-33FC-377B-85F667984D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22:notes">
            <a:extLst>
              <a:ext uri="{FF2B5EF4-FFF2-40B4-BE49-F238E27FC236}">
                <a16:creationId xmlns:a16="http://schemas.microsoft.com/office/drawing/2014/main" id="{A3958008-07EF-E951-1BF5-FF50591794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To close, the central message of this dissertation is that practical machine learning for resource-constrained devices is fundamentally a joint-design problem.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Utility, latency, privacy, and deployment conditions cannot be treated in isolation.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They must be addressed together with the consideration of various deployment scenarios through coordinated systems design.</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812681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9" name="Google Shape;449;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a:extLst>
            <a:ext uri="{FF2B5EF4-FFF2-40B4-BE49-F238E27FC236}">
              <a16:creationId xmlns:a16="http://schemas.microsoft.com/office/drawing/2014/main" id="{B8BB9B4B-C700-7BD9-8025-7B2CF192D9C6}"/>
            </a:ext>
          </a:extLst>
        </p:cNvPr>
        <p:cNvGrpSpPr/>
        <p:nvPr/>
      </p:nvGrpSpPr>
      <p:grpSpPr>
        <a:xfrm>
          <a:off x="0" y="0"/>
          <a:ext cx="0" cy="0"/>
          <a:chOff x="0" y="0"/>
          <a:chExt cx="0" cy="0"/>
        </a:xfrm>
      </p:grpSpPr>
      <p:sp>
        <p:nvSpPr>
          <p:cNvPr id="448" name="Google Shape;448;p47:notes">
            <a:extLst>
              <a:ext uri="{FF2B5EF4-FFF2-40B4-BE49-F238E27FC236}">
                <a16:creationId xmlns:a16="http://schemas.microsoft.com/office/drawing/2014/main" id="{F5BC6B69-CC68-1EE6-21BC-D5A8E7DD54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9" name="Google Shape;449;p47:notes">
            <a:extLst>
              <a:ext uri="{FF2B5EF4-FFF2-40B4-BE49-F238E27FC236}">
                <a16:creationId xmlns:a16="http://schemas.microsoft.com/office/drawing/2014/main" id="{6DD68EA1-B8BC-4B54-156A-45B5CC6A01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36475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scheduler first determines the local–remote split by balancing the estimated delay of the two branches, so that the local and remote parts are expected to finish at about the same time.</a:t>
            </a:r>
            <a:r>
              <a:rPr lang="en-US" dirty="0">
                <a:effectLst/>
              </a:rPr>
              <a:t> </a:t>
            </a:r>
            <a:endParaRPr lang="en-US" dirty="0"/>
          </a:p>
        </p:txBody>
      </p:sp>
    </p:spTree>
    <p:extLst>
      <p:ext uri="{BB962C8B-B14F-4D97-AF65-F5344CB8AC3E}">
        <p14:creationId xmlns:p14="http://schemas.microsoft.com/office/powerpoint/2010/main" val="12589730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SSIM is a widely used image quality assessment metric in computer vision for examining the similarity between two images. It compares attributes, such as luminance and contrast, to capture perceptual differences.</a:t>
            </a:r>
          </a:p>
          <a:p>
            <a:r>
              <a:rPr lang="en-US" dirty="0"/>
              <a:t>-&gt; </a:t>
            </a:r>
            <a:r>
              <a:rPr lang="en-US" sz="1100" b="0" i="0" u="none" strike="noStrike" cap="none" dirty="0">
                <a:solidFill>
                  <a:srgbClr val="000000"/>
                </a:solidFill>
                <a:effectLst/>
                <a:latin typeface="Arial"/>
                <a:ea typeface="Arial"/>
                <a:cs typeface="Arial"/>
                <a:sym typeface="Arial"/>
              </a:rPr>
              <a:t>reflecting perceptual discrepancies as perceived by the human visual system</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SIM -&gt; </a:t>
            </a:r>
            <a:r>
              <a:rPr lang="en-US" sz="1100" b="0" i="0" u="none" strike="noStrike" cap="none" dirty="0">
                <a:solidFill>
                  <a:srgbClr val="000000"/>
                </a:solidFill>
                <a:effectLst/>
                <a:latin typeface="Arial"/>
                <a:ea typeface="Arial"/>
                <a:cs typeface="Arial"/>
                <a:sym typeface="Arial"/>
              </a:rPr>
              <a:t>semantic similarity</a:t>
            </a:r>
          </a:p>
          <a:p>
            <a:r>
              <a:rPr lang="en-US" sz="1100" b="0" i="0" u="none" strike="noStrike" cap="none" dirty="0">
                <a:solidFill>
                  <a:srgbClr val="000000"/>
                </a:solidFill>
                <a:effectLst/>
                <a:latin typeface="Arial"/>
                <a:ea typeface="Arial"/>
                <a:cs typeface="Arial"/>
                <a:sym typeface="Arial"/>
              </a:rPr>
              <a:t>MI formally describes how much knowing one random variable reduces uncertainty about another</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12028789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
        <p:cNvGrpSpPr/>
        <p:nvPr/>
      </p:nvGrpSpPr>
      <p:grpSpPr>
        <a:xfrm>
          <a:off x="0" y="0"/>
          <a:ext cx="0" cy="0"/>
          <a:chOff x="0" y="0"/>
          <a:chExt cx="0" cy="0"/>
        </a:xfrm>
      </p:grpSpPr>
      <p:sp>
        <p:nvSpPr>
          <p:cNvPr id="12" name="Google Shape;12;p50"/>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52"/>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52"/>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2"/>
          <p:cNvSpPr txBox="1">
            <a:spLocks noGrp="1"/>
          </p:cNvSpPr>
          <p:nvPr>
            <p:ph type="body" idx="1"/>
          </p:nvPr>
        </p:nvSpPr>
        <p:spPr>
          <a:xfrm>
            <a:off x="249600" y="815200"/>
            <a:ext cx="85827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sz="18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00000"/>
              </a:lnSpc>
              <a:spcBef>
                <a:spcPts val="0"/>
              </a:spcBef>
              <a:spcAft>
                <a:spcPts val="0"/>
              </a:spcAft>
              <a:buSzPts val="1400"/>
              <a:buChar char="●"/>
              <a:defRPr/>
            </a:lvl4pPr>
            <a:lvl5pPr marL="2286000" lvl="4" indent="-317500" algn="l">
              <a:lnSpc>
                <a:spcPct val="100000"/>
              </a:lnSpc>
              <a:spcBef>
                <a:spcPts val="0"/>
              </a:spcBef>
              <a:spcAft>
                <a:spcPts val="0"/>
              </a:spcAft>
              <a:buSzPts val="1400"/>
              <a:buChar char="○"/>
              <a:defRPr/>
            </a:lvl5pPr>
            <a:lvl6pPr marL="2743200" lvl="5" indent="-317500" algn="l">
              <a:lnSpc>
                <a:spcPct val="100000"/>
              </a:lnSpc>
              <a:spcBef>
                <a:spcPts val="0"/>
              </a:spcBef>
              <a:spcAft>
                <a:spcPts val="0"/>
              </a:spcAft>
              <a:buSzPts val="1400"/>
              <a:buChar char="■"/>
              <a:defRPr/>
            </a:lvl6pPr>
            <a:lvl7pPr marL="3200400" lvl="6" indent="-317500" algn="l">
              <a:lnSpc>
                <a:spcPct val="100000"/>
              </a:lnSpc>
              <a:spcBef>
                <a:spcPts val="0"/>
              </a:spcBef>
              <a:spcAft>
                <a:spcPts val="0"/>
              </a:spcAft>
              <a:buSzPts val="1400"/>
              <a:buChar char="●"/>
              <a:defRPr/>
            </a:lvl7pPr>
            <a:lvl8pPr marL="3657600" lvl="7" indent="-317500" algn="l">
              <a:lnSpc>
                <a:spcPct val="100000"/>
              </a:lnSpc>
              <a:spcBef>
                <a:spcPts val="0"/>
              </a:spcBef>
              <a:spcAft>
                <a:spcPts val="0"/>
              </a:spcAft>
              <a:buSzPts val="1400"/>
              <a:buChar char="○"/>
              <a:defRPr/>
            </a:lvl8pPr>
            <a:lvl9pPr marL="4114800" lvl="8" indent="-317500" algn="l">
              <a:lnSpc>
                <a:spcPct val="100000"/>
              </a:lnSpc>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49"/>
          <p:cNvSpPr/>
          <p:nvPr/>
        </p:nvSpPr>
        <p:spPr>
          <a:xfrm rot="10800000" flipH="1">
            <a:off x="0" y="4333875"/>
            <a:ext cx="9144000" cy="38100"/>
          </a:xfrm>
          <a:prstGeom prst="rect">
            <a:avLst/>
          </a:prstGeom>
          <a:solidFill>
            <a:srgbClr val="FFCC00"/>
          </a:solidFill>
          <a:ln>
            <a:noFill/>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 name="Google Shape;7;p49" descr="Small Use Shield_GoldOnTrans.eps"/>
          <p:cNvPicPr preferRelativeResize="0"/>
          <p:nvPr/>
        </p:nvPicPr>
        <p:blipFill rotWithShape="1">
          <a:blip r:embed="rId3">
            <a:alphaModFix/>
          </a:blip>
          <a:srcRect/>
          <a:stretch/>
        </p:blipFill>
        <p:spPr>
          <a:xfrm>
            <a:off x="8201027" y="178595"/>
            <a:ext cx="420885" cy="420885"/>
          </a:xfrm>
          <a:prstGeom prst="rect">
            <a:avLst/>
          </a:prstGeom>
          <a:noFill/>
          <a:ln>
            <a:noFill/>
          </a:ln>
        </p:spPr>
      </p:pic>
      <p:pic>
        <p:nvPicPr>
          <p:cNvPr id="8" name="Google Shape;8;p49" descr="1-lineWordmark_GoldOnCard_NoBG.eps"/>
          <p:cNvPicPr preferRelativeResize="0"/>
          <p:nvPr/>
        </p:nvPicPr>
        <p:blipFill rotWithShape="1">
          <a:blip r:embed="rId4">
            <a:alphaModFix/>
          </a:blip>
          <a:srcRect/>
          <a:stretch/>
        </p:blipFill>
        <p:spPr>
          <a:xfrm>
            <a:off x="6997700" y="4846522"/>
            <a:ext cx="1024946" cy="87087"/>
          </a:xfrm>
          <a:prstGeom prst="rect">
            <a:avLst/>
          </a:prstGeom>
          <a:noFill/>
          <a:ln>
            <a:noFill/>
          </a:ln>
        </p:spPr>
      </p:pic>
      <p:pic>
        <p:nvPicPr>
          <p:cNvPr id="9" name="Google Shape;9;p49" descr="Formal_Viterbi_GoldOnCard_NoBG.eps"/>
          <p:cNvPicPr preferRelativeResize="0"/>
          <p:nvPr/>
        </p:nvPicPr>
        <p:blipFill rotWithShape="1">
          <a:blip r:embed="rId5">
            <a:alphaModFix/>
          </a:blip>
          <a:srcRect/>
          <a:stretch/>
        </p:blipFill>
        <p:spPr>
          <a:xfrm>
            <a:off x="292102" y="4603732"/>
            <a:ext cx="979700" cy="264417"/>
          </a:xfrm>
          <a:prstGeom prst="rect">
            <a:avLst/>
          </a:prstGeom>
          <a:noFill/>
          <a:ln>
            <a:noFill/>
          </a:ln>
        </p:spPr>
      </p:pic>
      <p:sp>
        <p:nvSpPr>
          <p:cNvPr id="10" name="Google Shape;10;p4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
        <p:cNvGrpSpPr/>
        <p:nvPr/>
      </p:nvGrpSpPr>
      <p:grpSpPr>
        <a:xfrm>
          <a:off x="0" y="0"/>
          <a:ext cx="0" cy="0"/>
          <a:chOff x="0" y="0"/>
          <a:chExt cx="0" cy="0"/>
        </a:xfrm>
      </p:grpSpPr>
      <p:sp>
        <p:nvSpPr>
          <p:cNvPr id="14" name="Google Shape;14;p51"/>
          <p:cNvSpPr/>
          <p:nvPr/>
        </p:nvSpPr>
        <p:spPr>
          <a:xfrm>
            <a:off x="0" y="4352925"/>
            <a:ext cx="9144000" cy="789600"/>
          </a:xfrm>
          <a:prstGeom prst="rect">
            <a:avLst/>
          </a:prstGeom>
          <a:solidFill>
            <a:schemeClr val="dk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 name="Google Shape;15;p51"/>
          <p:cNvSpPr/>
          <p:nvPr/>
        </p:nvSpPr>
        <p:spPr>
          <a:xfrm rot="10800000" flipH="1">
            <a:off x="0" y="4333875"/>
            <a:ext cx="9144000" cy="38100"/>
          </a:xfrm>
          <a:prstGeom prst="rect">
            <a:avLst/>
          </a:prstGeom>
          <a:solidFill>
            <a:srgbClr val="FFCC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 name="Google Shape;16;p51" descr="Small Use Shield_GoldOnTrans.eps"/>
          <p:cNvPicPr preferRelativeResize="0"/>
          <p:nvPr/>
        </p:nvPicPr>
        <p:blipFill rotWithShape="1">
          <a:blip r:embed="rId3">
            <a:alphaModFix/>
          </a:blip>
          <a:srcRect/>
          <a:stretch/>
        </p:blipFill>
        <p:spPr>
          <a:xfrm>
            <a:off x="8201027" y="178595"/>
            <a:ext cx="420885" cy="420885"/>
          </a:xfrm>
          <a:prstGeom prst="rect">
            <a:avLst/>
          </a:prstGeom>
          <a:noFill/>
          <a:ln>
            <a:noFill/>
          </a:ln>
        </p:spPr>
      </p:pic>
      <p:pic>
        <p:nvPicPr>
          <p:cNvPr id="17" name="Google Shape;17;p51" descr="1-lineWordmark_GoldOnCard_NoBG.eps"/>
          <p:cNvPicPr preferRelativeResize="0"/>
          <p:nvPr/>
        </p:nvPicPr>
        <p:blipFill rotWithShape="1">
          <a:blip r:embed="rId4">
            <a:alphaModFix/>
          </a:blip>
          <a:srcRect/>
          <a:stretch/>
        </p:blipFill>
        <p:spPr>
          <a:xfrm>
            <a:off x="6997700" y="4846522"/>
            <a:ext cx="1024946" cy="87087"/>
          </a:xfrm>
          <a:prstGeom prst="rect">
            <a:avLst/>
          </a:prstGeom>
          <a:noFill/>
          <a:ln>
            <a:noFill/>
          </a:ln>
        </p:spPr>
      </p:pic>
      <p:pic>
        <p:nvPicPr>
          <p:cNvPr id="18" name="Google Shape;18;p51" descr="Formal_Viterbi_GoldOnCard_NoBG.eps"/>
          <p:cNvPicPr preferRelativeResize="0"/>
          <p:nvPr/>
        </p:nvPicPr>
        <p:blipFill rotWithShape="1">
          <a:blip r:embed="rId5">
            <a:alphaModFix/>
          </a:blip>
          <a:srcRect/>
          <a:stretch/>
        </p:blipFill>
        <p:spPr>
          <a:xfrm>
            <a:off x="292102" y="4603732"/>
            <a:ext cx="979700" cy="264417"/>
          </a:xfrm>
          <a:prstGeom prst="rect">
            <a:avLst/>
          </a:prstGeom>
          <a:noFill/>
          <a:ln>
            <a:noFill/>
          </a:ln>
        </p:spPr>
      </p:pic>
      <p:sp>
        <p:nvSpPr>
          <p:cNvPr id="19" name="Google Shape;19;p5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51"/>
          <p:cNvSpPr txBox="1"/>
          <p:nvPr/>
        </p:nvSpPr>
        <p:spPr>
          <a:xfrm>
            <a:off x="311700" y="140225"/>
            <a:ext cx="8520600" cy="5727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21" name="Google Shape;21;p51"/>
          <p:cNvSpPr txBox="1"/>
          <p:nvPr/>
        </p:nvSpPr>
        <p:spPr>
          <a:xfrm>
            <a:off x="311700" y="847675"/>
            <a:ext cx="8520600" cy="341640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1200"/>
              </a:spcAft>
              <a:buClr>
                <a:srgbClr val="000000"/>
              </a:buClr>
              <a:buSzPts val="1800"/>
              <a:buFont typeface="Arial"/>
              <a:buNone/>
            </a:pPr>
            <a:endParaRPr sz="1800" b="0" i="0" u="none" strike="noStrike" cap="none">
              <a:solidFill>
                <a:srgbClr val="595959"/>
              </a:solidFill>
              <a:latin typeface="Arial"/>
              <a:ea typeface="Arial"/>
              <a:cs typeface="Arial"/>
              <a:sym typeface="Arial"/>
            </a:endParaRPr>
          </a:p>
        </p:txBody>
      </p:sp>
      <p:sp>
        <p:nvSpPr>
          <p:cNvPr id="22" name="Google Shape;22;p51"/>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p51"/>
          <p:cNvSpPr txBox="1">
            <a:spLocks noGrp="1"/>
          </p:cNvSpPr>
          <p:nvPr>
            <p:ph type="body" idx="1"/>
          </p:nvPr>
        </p:nvSpPr>
        <p:spPr>
          <a:xfrm>
            <a:off x="249600" y="815200"/>
            <a:ext cx="85827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800" b="0" i="0" u="none" strike="noStrike" cap="none">
                <a:solidFill>
                  <a:srgbClr val="000000"/>
                </a:solidFill>
                <a:latin typeface="Arial"/>
                <a:ea typeface="Arial"/>
                <a:cs typeface="Arial"/>
                <a:sym typeface="Arial"/>
              </a:defRPr>
            </a:lvl1pPr>
            <a:lvl2pPr marL="914400" marR="0" lvl="1" indent="-317500" algn="l" rtl="0">
              <a:lnSpc>
                <a:spcPct val="115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7"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2.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8.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6.png"/><Relationship Id="rId7"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59.png"/><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1"/>
          <p:cNvSpPr txBox="1"/>
          <p:nvPr/>
        </p:nvSpPr>
        <p:spPr>
          <a:xfrm>
            <a:off x="14700" y="798694"/>
            <a:ext cx="9129300" cy="3342609"/>
          </a:xfrm>
          <a:prstGeom prst="rect">
            <a:avLst/>
          </a:prstGeom>
          <a:noFill/>
          <a:ln>
            <a:noFill/>
          </a:ln>
        </p:spPr>
        <p:txBody>
          <a:bodyPr spcFirstLastPara="1" wrap="square" lIns="91425" tIns="45700" rIns="91425" bIns="45700" anchor="ctr" anchorCtr="0">
            <a:noAutofit/>
          </a:bodyPr>
          <a:lstStyle/>
          <a:p>
            <a:pPr algn="ctr">
              <a:buClr>
                <a:schemeClr val="lt2"/>
              </a:buClr>
              <a:buSzPts val="3200"/>
            </a:pPr>
            <a:r>
              <a:rPr lang="en-US" sz="3200" b="1" i="0" u="none" strike="noStrike" cap="none" dirty="0">
                <a:solidFill>
                  <a:schemeClr val="lt2"/>
                </a:solidFill>
                <a:latin typeface="Arial"/>
                <a:ea typeface="Arial"/>
                <a:cs typeface="Arial"/>
                <a:sym typeface="Arial"/>
              </a:rPr>
              <a:t>Ph.D. Qualifying Exam</a:t>
            </a:r>
          </a:p>
          <a:p>
            <a:pPr marL="0" marR="0" lvl="0" indent="0" algn="ctr" rtl="0">
              <a:lnSpc>
                <a:spcPct val="100000"/>
              </a:lnSpc>
              <a:spcBef>
                <a:spcPts val="0"/>
              </a:spcBef>
              <a:spcAft>
                <a:spcPts val="0"/>
              </a:spcAft>
              <a:buClr>
                <a:schemeClr val="lt2"/>
              </a:buClr>
              <a:buSzPts val="3200"/>
              <a:buFont typeface="Arial"/>
              <a:buNone/>
            </a:pPr>
            <a:endParaRPr lang="en-US" sz="2400" b="1" i="0" u="none" strike="noStrike" cap="none" dirty="0">
              <a:solidFill>
                <a:schemeClr val="lt2"/>
              </a:solidFill>
              <a:latin typeface="Arial"/>
              <a:ea typeface="Arial"/>
              <a:cs typeface="Arial"/>
              <a:sym typeface="Arial"/>
            </a:endParaRPr>
          </a:p>
          <a:p>
            <a:pPr marL="0" marR="0" lvl="0" indent="0" algn="ctr" rtl="0">
              <a:lnSpc>
                <a:spcPct val="100000"/>
              </a:lnSpc>
              <a:spcBef>
                <a:spcPts val="0"/>
              </a:spcBef>
              <a:spcAft>
                <a:spcPts val="0"/>
              </a:spcAft>
              <a:buClr>
                <a:schemeClr val="lt2"/>
              </a:buClr>
              <a:buSzPts val="3200"/>
              <a:buFont typeface="Arial"/>
              <a:buNone/>
            </a:pPr>
            <a:r>
              <a:rPr lang="en-US" sz="2400" b="1" i="0" u="none" strike="noStrike" cap="none" dirty="0">
                <a:solidFill>
                  <a:schemeClr val="lt2"/>
                </a:solidFill>
                <a:latin typeface="Arial"/>
                <a:ea typeface="Arial"/>
                <a:cs typeface="Arial"/>
                <a:sym typeface="Arial"/>
              </a:rPr>
              <a:t>Efficient and Privacy-Aware Machine Learning Systems for Resource-Constrained Devices</a:t>
            </a:r>
            <a:endParaRPr sz="2400" b="1" i="0" u="none" strike="noStrike" cap="none" dirty="0">
              <a:solidFill>
                <a:schemeClr val="lt2"/>
              </a:solidFill>
              <a:latin typeface="Arial"/>
              <a:ea typeface="Arial"/>
              <a:cs typeface="Arial"/>
              <a:sym typeface="Arial"/>
            </a:endParaRPr>
          </a:p>
          <a:p>
            <a:pPr marL="0" marR="0" lvl="0" indent="0" algn="ctr" rtl="0">
              <a:lnSpc>
                <a:spcPct val="100000"/>
              </a:lnSpc>
              <a:spcBef>
                <a:spcPts val="0"/>
              </a:spcBef>
              <a:spcAft>
                <a:spcPts val="0"/>
              </a:spcAft>
              <a:buClr>
                <a:schemeClr val="lt2"/>
              </a:buClr>
              <a:buSzPts val="3200"/>
              <a:buFont typeface="Arial"/>
              <a:buNone/>
            </a:pPr>
            <a:endParaRPr sz="3200" b="1" i="0" u="none" strike="noStrike" cap="none" dirty="0">
              <a:solidFill>
                <a:schemeClr val="lt2"/>
              </a:solidFill>
              <a:latin typeface="Arial"/>
              <a:ea typeface="Arial"/>
              <a:cs typeface="Arial"/>
              <a:sym typeface="Arial"/>
            </a:endParaRPr>
          </a:p>
          <a:p>
            <a:pPr marL="0" marR="0" lvl="0" indent="0" algn="ctr" rtl="0">
              <a:lnSpc>
                <a:spcPct val="100000"/>
              </a:lnSpc>
              <a:spcBef>
                <a:spcPts val="0"/>
              </a:spcBef>
              <a:spcAft>
                <a:spcPts val="0"/>
              </a:spcAft>
              <a:buClr>
                <a:schemeClr val="lt2"/>
              </a:buClr>
              <a:buSzPts val="3200"/>
              <a:buFont typeface="Arial"/>
              <a:buNone/>
            </a:pPr>
            <a:r>
              <a:rPr lang="en-US" sz="2200" b="1" dirty="0">
                <a:solidFill>
                  <a:schemeClr val="lt2"/>
                </a:solidFill>
              </a:rPr>
              <a:t>TE-YI KAN</a:t>
            </a:r>
          </a:p>
          <a:p>
            <a:pPr marL="0" marR="0" lvl="0" indent="0" algn="ctr" rtl="0">
              <a:lnSpc>
                <a:spcPct val="100000"/>
              </a:lnSpc>
              <a:spcBef>
                <a:spcPts val="0"/>
              </a:spcBef>
              <a:spcAft>
                <a:spcPts val="0"/>
              </a:spcAft>
              <a:buClr>
                <a:schemeClr val="lt2"/>
              </a:buClr>
              <a:buSzPts val="3200"/>
              <a:buFont typeface="Arial"/>
              <a:buNone/>
            </a:pPr>
            <a:r>
              <a:rPr lang="en-US" sz="1800" b="1" i="0" u="none" strike="noStrike" cap="none" dirty="0">
                <a:solidFill>
                  <a:schemeClr val="lt2"/>
                </a:solidFill>
                <a:latin typeface="Arial"/>
                <a:ea typeface="Arial"/>
                <a:cs typeface="Arial"/>
                <a:sym typeface="Arial"/>
              </a:rPr>
              <a:t>Department of Electrical and Computer Engineering, USC</a:t>
            </a:r>
          </a:p>
          <a:p>
            <a:pPr marL="0" marR="0" lvl="0" indent="0" algn="ctr" rtl="0">
              <a:lnSpc>
                <a:spcPct val="100000"/>
              </a:lnSpc>
              <a:spcBef>
                <a:spcPts val="0"/>
              </a:spcBef>
              <a:spcAft>
                <a:spcPts val="0"/>
              </a:spcAft>
              <a:buClr>
                <a:schemeClr val="lt2"/>
              </a:buClr>
              <a:buSzPts val="3200"/>
              <a:buFont typeface="Arial"/>
              <a:buNone/>
            </a:pPr>
            <a:endParaRPr sz="2200" b="1" i="0" u="none" strike="noStrike" cap="none" dirty="0">
              <a:solidFill>
                <a:schemeClr val="lt2"/>
              </a:solidFill>
              <a:latin typeface="Arial"/>
              <a:ea typeface="Arial"/>
              <a:cs typeface="Arial"/>
              <a:sym typeface="Arial"/>
            </a:endParaRPr>
          </a:p>
          <a:p>
            <a:pPr lvl="0" algn="ctr">
              <a:buClr>
                <a:schemeClr val="lt2"/>
              </a:buClr>
              <a:buSzPts val="3200"/>
            </a:pPr>
            <a:r>
              <a:rPr lang="en-US" sz="1800" b="1" dirty="0">
                <a:solidFill>
                  <a:schemeClr val="lt2"/>
                </a:solidFill>
              </a:rPr>
              <a:t>April 20</a:t>
            </a:r>
            <a:r>
              <a:rPr lang="en-US" sz="1800" b="1" baseline="30000" dirty="0">
                <a:solidFill>
                  <a:schemeClr val="lt2"/>
                </a:solidFill>
              </a:rPr>
              <a:t>th</a:t>
            </a:r>
            <a:r>
              <a:rPr lang="en-US" sz="1800" b="1" dirty="0">
                <a:solidFill>
                  <a:schemeClr val="lt2"/>
                </a:solidFill>
              </a:rPr>
              <a:t>, 2026</a:t>
            </a:r>
          </a:p>
          <a:p>
            <a:pPr marL="0" marR="0" lvl="0" indent="0" algn="ctr" rtl="0">
              <a:lnSpc>
                <a:spcPct val="100000"/>
              </a:lnSpc>
              <a:spcBef>
                <a:spcPts val="0"/>
              </a:spcBef>
              <a:spcAft>
                <a:spcPts val="0"/>
              </a:spcAft>
              <a:buClr>
                <a:schemeClr val="lt2"/>
              </a:buClr>
              <a:buSzPts val="3200"/>
              <a:buFont typeface="Arial"/>
              <a:buNone/>
            </a:pPr>
            <a:endParaRPr lang="en-US" sz="2200" b="1" i="0" u="none" strike="noStrike" cap="none" dirty="0">
              <a:solidFill>
                <a:schemeClr val="lt2"/>
              </a:solidFill>
              <a:latin typeface="Arial"/>
              <a:ea typeface="Arial"/>
              <a:cs typeface="Arial"/>
              <a:sym typeface="Arial"/>
            </a:endParaRPr>
          </a:p>
          <a:p>
            <a:pPr algn="ctr">
              <a:buClr>
                <a:schemeClr val="lt2"/>
              </a:buClr>
              <a:buSzPts val="3200"/>
            </a:pPr>
            <a:r>
              <a:rPr lang="en-US" sz="1200" b="1" i="0" u="none" strike="noStrike" cap="none" dirty="0">
                <a:solidFill>
                  <a:schemeClr val="lt2"/>
                </a:solidFill>
                <a:latin typeface="Arial"/>
                <a:ea typeface="Arial"/>
                <a:cs typeface="Arial"/>
                <a:sym typeface="Arial"/>
              </a:rPr>
              <a:t>Committee: Konstantinos </a:t>
            </a:r>
            <a:r>
              <a:rPr lang="en-US" sz="1200" b="1" i="0" u="none" strike="noStrike" cap="none" dirty="0" err="1">
                <a:solidFill>
                  <a:schemeClr val="lt2"/>
                </a:solidFill>
                <a:latin typeface="Arial"/>
                <a:ea typeface="Arial"/>
                <a:cs typeface="Arial"/>
                <a:sym typeface="Arial"/>
              </a:rPr>
              <a:t>Psounis</a:t>
            </a:r>
            <a:r>
              <a:rPr lang="en-US" sz="1200" b="1" i="0" u="none" strike="noStrike" cap="none" dirty="0">
                <a:solidFill>
                  <a:schemeClr val="lt2"/>
                </a:solidFill>
                <a:latin typeface="Arial"/>
                <a:ea typeface="Arial"/>
                <a:cs typeface="Arial"/>
                <a:sym typeface="Arial"/>
              </a:rPr>
              <a:t> (Chair), Bhaskar </a:t>
            </a:r>
            <a:r>
              <a:rPr lang="en-US" sz="1200" b="1" i="0" u="none" strike="noStrike" cap="none" dirty="0" err="1">
                <a:solidFill>
                  <a:schemeClr val="lt2"/>
                </a:solidFill>
                <a:latin typeface="Arial"/>
                <a:ea typeface="Arial"/>
                <a:cs typeface="Arial"/>
                <a:sym typeface="Arial"/>
              </a:rPr>
              <a:t>Krishnamachari</a:t>
            </a:r>
            <a:r>
              <a:rPr lang="en-US" sz="1200" b="1" i="0" u="none" strike="noStrike" cap="none" dirty="0">
                <a:solidFill>
                  <a:schemeClr val="lt2"/>
                </a:solidFill>
                <a:latin typeface="Arial"/>
                <a:ea typeface="Arial"/>
                <a:cs typeface="Arial"/>
                <a:sym typeface="Arial"/>
              </a:rPr>
              <a:t>, </a:t>
            </a:r>
          </a:p>
          <a:p>
            <a:pPr algn="ctr">
              <a:buClr>
                <a:schemeClr val="lt2"/>
              </a:buClr>
              <a:buSzPts val="3200"/>
            </a:pPr>
            <a:r>
              <a:rPr lang="en-US" sz="1200" b="1" i="0" u="none" strike="noStrike" cap="none" dirty="0">
                <a:solidFill>
                  <a:schemeClr val="lt2"/>
                </a:solidFill>
                <a:latin typeface="Arial"/>
                <a:ea typeface="Arial"/>
                <a:cs typeface="Arial"/>
                <a:sym typeface="Arial"/>
              </a:rPr>
              <a:t>Leana Golubchik, Peter A. </a:t>
            </a:r>
            <a:r>
              <a:rPr lang="en-US" sz="1200" b="1" i="0" u="none" strike="noStrike" cap="none" dirty="0" err="1">
                <a:solidFill>
                  <a:schemeClr val="lt2"/>
                </a:solidFill>
                <a:latin typeface="Arial"/>
                <a:ea typeface="Arial"/>
                <a:cs typeface="Arial"/>
                <a:sym typeface="Arial"/>
              </a:rPr>
              <a:t>Beerel</a:t>
            </a:r>
            <a:r>
              <a:rPr lang="en-US" sz="1200" b="1" i="0" u="none" strike="noStrike" cap="none" dirty="0">
                <a:solidFill>
                  <a:schemeClr val="lt2"/>
                </a:solidFill>
                <a:latin typeface="Arial"/>
                <a:ea typeface="Arial"/>
                <a:cs typeface="Arial"/>
                <a:sym typeface="Arial"/>
              </a:rPr>
              <a:t>, and Sai Praneeth </a:t>
            </a:r>
            <a:r>
              <a:rPr lang="en-US" sz="1200" b="1" i="0" u="none" strike="noStrike" cap="none" dirty="0" err="1">
                <a:solidFill>
                  <a:schemeClr val="lt2"/>
                </a:solidFill>
                <a:latin typeface="Arial"/>
                <a:ea typeface="Arial"/>
                <a:cs typeface="Arial"/>
                <a:sym typeface="Arial"/>
              </a:rPr>
              <a:t>Karimireddy</a:t>
            </a:r>
            <a:endParaRPr lang="en-US" sz="1200" b="1" i="0" u="none" strike="noStrike" cap="none" dirty="0">
              <a:solidFill>
                <a:schemeClr val="lt2"/>
              </a:solidFill>
              <a:latin typeface="Arial"/>
              <a:ea typeface="Arial"/>
              <a:cs typeface="Arial"/>
              <a:sym typeface="Arial"/>
            </a:endParaRPr>
          </a:p>
          <a:p>
            <a:pPr algn="ctr">
              <a:buClr>
                <a:schemeClr val="lt2"/>
              </a:buClr>
              <a:buSzPts val="3200"/>
            </a:pPr>
            <a:endParaRPr b="1" i="0" u="none" strike="noStrike" cap="none" dirty="0">
              <a:solidFill>
                <a:schemeClr val="lt2"/>
              </a:solidFill>
              <a:latin typeface="Arial"/>
              <a:ea typeface="Arial"/>
              <a:cs typeface="Arial"/>
              <a:sym typeface="Arial"/>
            </a:endParaRPr>
          </a:p>
          <a:p>
            <a:pPr marL="0" marR="0" lvl="0" indent="0" algn="ctr" rtl="0">
              <a:lnSpc>
                <a:spcPct val="100000"/>
              </a:lnSpc>
              <a:spcBef>
                <a:spcPts val="0"/>
              </a:spcBef>
              <a:spcAft>
                <a:spcPts val="0"/>
              </a:spcAft>
              <a:buClr>
                <a:schemeClr val="lt2"/>
              </a:buClr>
              <a:buSzPts val="3200"/>
              <a:buFont typeface="Arial"/>
              <a:buNone/>
            </a:pPr>
            <a:endParaRPr sz="2200" b="1" i="0" u="none" strike="noStrike" cap="none" dirty="0">
              <a:solidFill>
                <a:schemeClr val="lt2"/>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027F609A-7073-5EE4-FFD0-B46DCEE019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C900-8B36-F6F8-8B9E-6ADEC6DBCF53}"/>
              </a:ext>
            </a:extLst>
          </p:cNvPr>
          <p:cNvSpPr>
            <a:spLocks noGrp="1"/>
          </p:cNvSpPr>
          <p:nvPr>
            <p:ph type="title"/>
          </p:nvPr>
        </p:nvSpPr>
        <p:spPr/>
        <p:txBody>
          <a:bodyPr/>
          <a:lstStyle/>
          <a:p>
            <a:r>
              <a:rPr lang="en-US" b="1" dirty="0">
                <a:solidFill>
                  <a:srgbClr val="C01F21"/>
                </a:solidFill>
              </a:rPr>
              <a:t>Outline</a:t>
            </a:r>
          </a:p>
        </p:txBody>
      </p:sp>
      <p:sp>
        <p:nvSpPr>
          <p:cNvPr id="3" name="Text Placeholder 2">
            <a:extLst>
              <a:ext uri="{FF2B5EF4-FFF2-40B4-BE49-F238E27FC236}">
                <a16:creationId xmlns:a16="http://schemas.microsoft.com/office/drawing/2014/main" id="{DFD56EE4-B2FB-BBB3-6927-FBE702A5ED19}"/>
              </a:ext>
            </a:extLst>
          </p:cNvPr>
          <p:cNvSpPr>
            <a:spLocks noGrp="1"/>
          </p:cNvSpPr>
          <p:nvPr>
            <p:ph type="body" idx="1"/>
          </p:nvPr>
        </p:nvSpPr>
        <p:spPr/>
        <p:txBody>
          <a:bodyPr/>
          <a:lstStyle/>
          <a:p>
            <a:r>
              <a:rPr lang="en-US" dirty="0"/>
              <a:t>Motivation &amp; Research Focus</a:t>
            </a:r>
          </a:p>
          <a:p>
            <a:r>
              <a:rPr lang="en-US" dirty="0"/>
              <a:t>Thrust I: Efficient Distributed Execution</a:t>
            </a:r>
          </a:p>
          <a:p>
            <a:r>
              <a:rPr lang="en-US" dirty="0"/>
              <a:t>Thrust II: Privacy-aware Distributed Inference</a:t>
            </a:r>
          </a:p>
          <a:p>
            <a:r>
              <a:rPr lang="en-US" dirty="0"/>
              <a:t>Thrust III: Deployment-Faithful Model Adaptation</a:t>
            </a:r>
          </a:p>
          <a:p>
            <a:r>
              <a:rPr lang="en-US" dirty="0"/>
              <a:t>Future Direction: Fine-Grained Collaborative LLM Inference</a:t>
            </a:r>
          </a:p>
          <a:p>
            <a:r>
              <a:rPr lang="en-US" dirty="0"/>
              <a:t>Conclusion   </a:t>
            </a:r>
          </a:p>
        </p:txBody>
      </p:sp>
      <p:sp>
        <p:nvSpPr>
          <p:cNvPr id="4" name="Slide Number Placeholder 3">
            <a:extLst>
              <a:ext uri="{FF2B5EF4-FFF2-40B4-BE49-F238E27FC236}">
                <a16:creationId xmlns:a16="http://schemas.microsoft.com/office/drawing/2014/main" id="{F25061A1-2A47-D3B9-76BA-0E998D2BE3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91542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6" name="Google Shape;46;p3"/>
          <p:cNvSpPr txBox="1">
            <a:spLocks noGrp="1"/>
          </p:cNvSpPr>
          <p:nvPr>
            <p:ph type="title"/>
          </p:nvPr>
        </p:nvSpPr>
        <p:spPr>
          <a:xfrm>
            <a:off x="249600" y="1982375"/>
            <a:ext cx="8582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dirty="0">
                <a:solidFill>
                  <a:srgbClr val="C01F21"/>
                </a:solidFill>
              </a:rPr>
              <a:t>Motivation &amp; Research Focus</a:t>
            </a:r>
            <a:endParaRPr b="1" dirty="0">
              <a:solidFill>
                <a:srgbClr val="C01F21"/>
              </a:solidFill>
            </a:endParaRPr>
          </a:p>
        </p:txBody>
      </p:sp>
      <p:sp>
        <p:nvSpPr>
          <p:cNvPr id="2" name="Slide Number Placeholder 1">
            <a:extLst>
              <a:ext uri="{FF2B5EF4-FFF2-40B4-BE49-F238E27FC236}">
                <a16:creationId xmlns:a16="http://schemas.microsoft.com/office/drawing/2014/main" id="{BB0E17C4-4007-FC33-D27A-9F330964DE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2" name="Google Shape;52;p4"/>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Motivation: </a:t>
            </a:r>
            <a:br>
              <a:rPr lang="en-US" sz="2200" b="1" dirty="0">
                <a:solidFill>
                  <a:srgbClr val="C01F21"/>
                </a:solidFill>
              </a:rPr>
            </a:br>
            <a:r>
              <a:rPr lang="en-US" sz="2200" b="1" dirty="0">
                <a:solidFill>
                  <a:srgbClr val="C01F21"/>
                </a:solidFill>
              </a:rPr>
              <a:t>The Need for ML on Resource-constrained Devices</a:t>
            </a:r>
            <a:endParaRPr sz="2200" b="1" dirty="0">
              <a:solidFill>
                <a:srgbClr val="C01F21"/>
              </a:solidFill>
            </a:endParaRPr>
          </a:p>
        </p:txBody>
      </p:sp>
      <p:sp>
        <p:nvSpPr>
          <p:cNvPr id="53" name="Google Shape;53;p4"/>
          <p:cNvSpPr txBox="1">
            <a:spLocks noGrp="1"/>
          </p:cNvSpPr>
          <p:nvPr>
            <p:ph type="body" idx="1"/>
          </p:nvPr>
        </p:nvSpPr>
        <p:spPr>
          <a:xfrm>
            <a:off x="249599" y="1322515"/>
            <a:ext cx="7688453" cy="2626629"/>
          </a:xfrm>
          <a:prstGeom prst="rect">
            <a:avLst/>
          </a:prstGeom>
          <a:noFill/>
          <a:ln>
            <a:noFill/>
          </a:ln>
        </p:spPr>
        <p:txBody>
          <a:bodyPr spcFirstLastPara="1" wrap="square" lIns="91425" tIns="91425" rIns="91425" bIns="91425" anchor="t" anchorCtr="0">
            <a:noAutofit/>
          </a:bodyPr>
          <a:lstStyle/>
          <a:p>
            <a:pPr>
              <a:spcAft>
                <a:spcPts val="800"/>
              </a:spcAft>
            </a:pPr>
            <a:r>
              <a:rPr lang="en-US" sz="1400" dirty="0"/>
              <a:t>ML is increasingly moving closer to end users and data sources.</a:t>
            </a:r>
          </a:p>
          <a:p>
            <a:pPr>
              <a:spcAft>
                <a:spcPts val="800"/>
              </a:spcAft>
            </a:pPr>
            <a:r>
              <a:rPr lang="en-US" sz="1400" dirty="0"/>
              <a:t>ML workloads are becoming increasingly resource-demanding.</a:t>
            </a:r>
          </a:p>
          <a:p>
            <a:pPr>
              <a:spcAft>
                <a:spcPts val="800"/>
              </a:spcAft>
            </a:pPr>
            <a:r>
              <a:rPr lang="en-US" sz="1400" dirty="0"/>
              <a:t>Many applications impose strict requirements on utility, latency, and privacy.</a:t>
            </a:r>
          </a:p>
          <a:p>
            <a:pPr>
              <a:spcAft>
                <a:spcPts val="800"/>
              </a:spcAft>
            </a:pPr>
            <a:r>
              <a:rPr lang="en-US" sz="1400" dirty="0"/>
              <a:t>End devices are typically constrained in compute, memory, connectivity. </a:t>
            </a:r>
          </a:p>
          <a:p>
            <a:pPr marL="114300" indent="0">
              <a:spcAft>
                <a:spcPts val="800"/>
              </a:spcAft>
              <a:buNone/>
            </a:pPr>
            <a:endParaRPr lang="en-US" sz="1600" dirty="0"/>
          </a:p>
          <a:p>
            <a:pPr marL="114300" indent="0">
              <a:spcAft>
                <a:spcPts val="800"/>
              </a:spcAft>
              <a:buNone/>
            </a:pPr>
            <a:r>
              <a:rPr lang="en-US" sz="1400" b="1" dirty="0">
                <a:solidFill>
                  <a:srgbClr val="C01F21"/>
                </a:solidFill>
              </a:rPr>
              <a:t>Practical ML for resource-constrained devices requires coordinated system design beyond strong models or compact model design alone.</a:t>
            </a:r>
          </a:p>
          <a:p>
            <a:pPr marL="114300" indent="0">
              <a:spcAft>
                <a:spcPts val="800"/>
              </a:spcAft>
              <a:buNone/>
            </a:pPr>
            <a:endParaRPr lang="en-US" sz="1400" b="1" dirty="0">
              <a:solidFill>
                <a:srgbClr val="C01F21"/>
              </a:solidFill>
            </a:endParaRPr>
          </a:p>
          <a:p>
            <a:pPr marL="114300" indent="0">
              <a:spcAft>
                <a:spcPts val="1200"/>
              </a:spcAft>
              <a:buNone/>
            </a:pPr>
            <a:endParaRPr lang="en-US" dirty="0"/>
          </a:p>
          <a:p>
            <a:pPr marL="114300" indent="0">
              <a:spcAft>
                <a:spcPts val="1200"/>
              </a:spcAft>
              <a:buNone/>
            </a:pPr>
            <a:endParaRPr lang="en-US" dirty="0"/>
          </a:p>
          <a:p>
            <a:endParaRPr lang="en-US" dirty="0"/>
          </a:p>
        </p:txBody>
      </p:sp>
      <p:sp>
        <p:nvSpPr>
          <p:cNvPr id="2" name="Slide Number Placeholder 1">
            <a:extLst>
              <a:ext uri="{FF2B5EF4-FFF2-40B4-BE49-F238E27FC236}">
                <a16:creationId xmlns:a16="http://schemas.microsoft.com/office/drawing/2014/main" id="{E566795B-5D10-886F-A788-99BE809490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7FB4A-0A44-65FC-AB47-8B100C01EB95}"/>
              </a:ext>
            </a:extLst>
          </p:cNvPr>
          <p:cNvSpPr>
            <a:spLocks noGrp="1"/>
          </p:cNvSpPr>
          <p:nvPr>
            <p:ph type="title"/>
          </p:nvPr>
        </p:nvSpPr>
        <p:spPr/>
        <p:txBody>
          <a:bodyPr/>
          <a:lstStyle/>
          <a:p>
            <a:r>
              <a:rPr lang="en-US" sz="2400" b="1" dirty="0">
                <a:solidFill>
                  <a:srgbClr val="C01F21"/>
                </a:solidFill>
              </a:rPr>
              <a:t>Utility-Latency-Privacy Tradeoff</a:t>
            </a:r>
          </a:p>
        </p:txBody>
      </p:sp>
      <p:graphicFrame>
        <p:nvGraphicFramePr>
          <p:cNvPr id="6" name="Table 5">
            <a:extLst>
              <a:ext uri="{FF2B5EF4-FFF2-40B4-BE49-F238E27FC236}">
                <a16:creationId xmlns:a16="http://schemas.microsoft.com/office/drawing/2014/main" id="{14837621-A91B-5247-E6BF-C7071D420331}"/>
              </a:ext>
            </a:extLst>
          </p:cNvPr>
          <p:cNvGraphicFramePr>
            <a:graphicFrameLocks noGrp="1"/>
          </p:cNvGraphicFramePr>
          <p:nvPr>
            <p:extLst>
              <p:ext uri="{D42A27DB-BD31-4B8C-83A1-F6EECF244321}">
                <p14:modId xmlns:p14="http://schemas.microsoft.com/office/powerpoint/2010/main" val="316319928"/>
              </p:ext>
            </p:extLst>
          </p:nvPr>
        </p:nvGraphicFramePr>
        <p:xfrm>
          <a:off x="159830" y="1270242"/>
          <a:ext cx="8762240" cy="1828800"/>
        </p:xfrm>
        <a:graphic>
          <a:graphicData uri="http://schemas.openxmlformats.org/drawingml/2006/table">
            <a:tbl>
              <a:tblPr>
                <a:effectLst/>
              </a:tblPr>
              <a:tblGrid>
                <a:gridCol w="890449">
                  <a:extLst>
                    <a:ext uri="{9D8B030D-6E8A-4147-A177-3AD203B41FA5}">
                      <a16:colId xmlns:a16="http://schemas.microsoft.com/office/drawing/2014/main" val="3503503590"/>
                    </a:ext>
                  </a:extLst>
                </a:gridCol>
                <a:gridCol w="2286000">
                  <a:extLst>
                    <a:ext uri="{9D8B030D-6E8A-4147-A177-3AD203B41FA5}">
                      <a16:colId xmlns:a16="http://schemas.microsoft.com/office/drawing/2014/main" val="2369308428"/>
                    </a:ext>
                  </a:extLst>
                </a:gridCol>
                <a:gridCol w="2630556">
                  <a:extLst>
                    <a:ext uri="{9D8B030D-6E8A-4147-A177-3AD203B41FA5}">
                      <a16:colId xmlns:a16="http://schemas.microsoft.com/office/drawing/2014/main" val="477958958"/>
                    </a:ext>
                  </a:extLst>
                </a:gridCol>
                <a:gridCol w="2955235">
                  <a:extLst>
                    <a:ext uri="{9D8B030D-6E8A-4147-A177-3AD203B41FA5}">
                      <a16:colId xmlns:a16="http://schemas.microsoft.com/office/drawing/2014/main" val="1594488846"/>
                    </a:ext>
                  </a:extLst>
                </a:gridCol>
              </a:tblGrid>
              <a:tr h="457200">
                <a:tc>
                  <a:txBody>
                    <a:bodyPr/>
                    <a:lstStyle/>
                    <a:p>
                      <a:pPr>
                        <a:buNone/>
                      </a:pPr>
                      <a:endParaRPr lang="en-US" sz="1200" dirty="0">
                        <a:ln>
                          <a:noFill/>
                        </a:ln>
                        <a:solidFill>
                          <a:srgbClr val="000000"/>
                        </a:solidFill>
                      </a:endParaRPr>
                    </a:p>
                  </a:txBody>
                  <a:tcPr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b="1" dirty="0">
                          <a:ln>
                            <a:noFill/>
                          </a:ln>
                          <a:solidFill>
                            <a:srgbClr val="000000"/>
                          </a:solidFill>
                        </a:rPr>
                        <a:t>Purely Local ML</a:t>
                      </a:r>
                      <a:endParaRPr lang="en-US" sz="1200" dirty="0">
                        <a:ln>
                          <a:noFill/>
                        </a:ln>
                        <a:solidFill>
                          <a:srgbClr val="000000"/>
                        </a:solidFill>
                      </a:endParaRPr>
                    </a:p>
                  </a:txBody>
                  <a:tcPr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b="1" dirty="0">
                          <a:ln>
                            <a:noFill/>
                          </a:ln>
                          <a:solidFill>
                            <a:srgbClr val="000000"/>
                          </a:solidFill>
                        </a:rPr>
                        <a:t>Fully Remote ML</a:t>
                      </a:r>
                      <a:endParaRPr lang="en-US" sz="12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b="1">
                          <a:ln>
                            <a:noFill/>
                          </a:ln>
                          <a:solidFill>
                            <a:srgbClr val="000000"/>
                          </a:solidFill>
                        </a:rPr>
                        <a:t>Local–Remote Collaboration</a:t>
                      </a:r>
                      <a:endParaRPr lang="en-US" sz="120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25993"/>
                  </a:ext>
                </a:extLst>
              </a:tr>
              <a:tr h="457200">
                <a:tc>
                  <a:txBody>
                    <a:bodyPr/>
                    <a:lstStyle/>
                    <a:p>
                      <a:pPr>
                        <a:buNone/>
                      </a:pPr>
                      <a:r>
                        <a:rPr lang="en-US" sz="1200" b="1" dirty="0">
                          <a:ln>
                            <a:noFill/>
                          </a:ln>
                          <a:solidFill>
                            <a:srgbClr val="000000"/>
                          </a:solidFill>
                        </a:rPr>
                        <a:t>Utility</a:t>
                      </a:r>
                      <a:endParaRPr lang="en-US" sz="1200" dirty="0">
                        <a:ln>
                          <a:noFill/>
                        </a:ln>
                        <a:solidFill>
                          <a:srgbClr val="000000"/>
                        </a:solidFill>
                      </a:endParaRP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dirty="0">
                          <a:ln>
                            <a:noFill/>
                          </a:ln>
                          <a:solidFill>
                            <a:srgbClr val="000000"/>
                          </a:solidFill>
                        </a:rPr>
                        <a:t>Limited by local resource</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ln>
                            <a:noFill/>
                          </a:ln>
                          <a:solidFill>
                            <a:srgbClr val="000000"/>
                          </a:solidFill>
                        </a:rPr>
                        <a:t>Strong with larger models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ln>
                            <a:noFill/>
                          </a:ln>
                          <a:solidFill>
                            <a:srgbClr val="000000"/>
                          </a:solidFill>
                        </a:rPr>
                        <a:t>balanced under practical constraints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1562630"/>
                  </a:ext>
                </a:extLst>
              </a:tr>
              <a:tr h="457200">
                <a:tc>
                  <a:txBody>
                    <a:bodyPr/>
                    <a:lstStyle/>
                    <a:p>
                      <a:pPr>
                        <a:buNone/>
                      </a:pPr>
                      <a:r>
                        <a:rPr lang="en-US" sz="1200" b="1" dirty="0">
                          <a:ln>
                            <a:noFill/>
                          </a:ln>
                          <a:solidFill>
                            <a:srgbClr val="000000"/>
                          </a:solidFill>
                        </a:rPr>
                        <a:t>Latency</a:t>
                      </a:r>
                      <a:endParaRPr lang="en-US" sz="1200" dirty="0">
                        <a:ln>
                          <a:noFill/>
                        </a:ln>
                        <a:solidFill>
                          <a:srgbClr val="000000"/>
                        </a:solidFill>
                      </a:endParaRP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dirty="0">
                          <a:ln>
                            <a:noFill/>
                          </a:ln>
                          <a:solidFill>
                            <a:srgbClr val="000000"/>
                          </a:solidFill>
                        </a:rPr>
                        <a:t>High for demanding workloads</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ln>
                            <a:noFill/>
                          </a:ln>
                          <a:solidFill>
                            <a:srgbClr val="000000"/>
                          </a:solidFill>
                        </a:rPr>
                        <a:t>Increased by coordination overhead</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dirty="0">
                          <a:ln>
                            <a:noFill/>
                          </a:ln>
                          <a:solidFill>
                            <a:srgbClr val="000000"/>
                          </a:solidFill>
                        </a:rPr>
                        <a:t>Reduced through selective collaboration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927000"/>
                  </a:ext>
                </a:extLst>
              </a:tr>
              <a:tr h="457200">
                <a:tc>
                  <a:txBody>
                    <a:bodyPr/>
                    <a:lstStyle/>
                    <a:p>
                      <a:pPr>
                        <a:buNone/>
                      </a:pPr>
                      <a:r>
                        <a:rPr lang="en-US" sz="1200" b="1" dirty="0">
                          <a:ln>
                            <a:noFill/>
                          </a:ln>
                          <a:solidFill>
                            <a:srgbClr val="000000"/>
                          </a:solidFill>
                        </a:rPr>
                        <a:t>Privacy</a:t>
                      </a: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buNone/>
                      </a:pPr>
                      <a:r>
                        <a:rPr lang="en-US" sz="1200" dirty="0">
                          <a:ln>
                            <a:noFill/>
                          </a:ln>
                          <a:solidFill>
                            <a:srgbClr val="000000"/>
                          </a:solidFill>
                        </a:rPr>
                        <a:t>Strong</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buNone/>
                      </a:pPr>
                      <a:r>
                        <a:rPr lang="en-US" sz="1200" dirty="0">
                          <a:ln>
                            <a:noFill/>
                          </a:ln>
                          <a:solidFill>
                            <a:srgbClr val="000000"/>
                          </a:solidFill>
                        </a:rPr>
                        <a:t>Weak</a:t>
                      </a:r>
                    </a:p>
                  </a:txBody>
                  <a:tcPr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buNone/>
                      </a:pPr>
                      <a:r>
                        <a:rPr lang="en-US" sz="1200" dirty="0">
                          <a:ln>
                            <a:noFill/>
                          </a:ln>
                          <a:solidFill>
                            <a:srgbClr val="000000"/>
                          </a:solidFill>
                        </a:rPr>
                        <a:t>Preserved with proper design</a:t>
                      </a:r>
                    </a:p>
                  </a:txBody>
                  <a:tcPr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12978038"/>
                  </a:ext>
                </a:extLst>
              </a:tr>
            </a:tbl>
          </a:graphicData>
        </a:graphic>
      </p:graphicFrame>
      <p:sp>
        <p:nvSpPr>
          <p:cNvPr id="3" name="Slide Number Placeholder 2">
            <a:extLst>
              <a:ext uri="{FF2B5EF4-FFF2-40B4-BE49-F238E27FC236}">
                <a16:creationId xmlns:a16="http://schemas.microsoft.com/office/drawing/2014/main" id="{6905B958-0EEC-301E-41AF-880DE465E8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4" name="Rectangle 3">
            <a:extLst>
              <a:ext uri="{FF2B5EF4-FFF2-40B4-BE49-F238E27FC236}">
                <a16:creationId xmlns:a16="http://schemas.microsoft.com/office/drawing/2014/main" id="{10156FC4-AAAE-9CE6-27AB-0B9760A84739}"/>
              </a:ext>
            </a:extLst>
          </p:cNvPr>
          <p:cNvSpPr/>
          <p:nvPr/>
        </p:nvSpPr>
        <p:spPr>
          <a:xfrm>
            <a:off x="5885793" y="1198177"/>
            <a:ext cx="3142593" cy="1963925"/>
          </a:xfrm>
          <a:prstGeom prst="rect">
            <a:avLst/>
          </a:prstGeom>
          <a:noFill/>
          <a:ln>
            <a:solidFill>
              <a:srgbClr val="C01F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830AB5E-2345-74D3-9B6C-79E8FE5E88BB}"/>
              </a:ext>
            </a:extLst>
          </p:cNvPr>
          <p:cNvSpPr txBox="1"/>
          <p:nvPr/>
        </p:nvSpPr>
        <p:spPr>
          <a:xfrm>
            <a:off x="339371" y="3507884"/>
            <a:ext cx="8582699" cy="523220"/>
          </a:xfrm>
          <a:prstGeom prst="rect">
            <a:avLst/>
          </a:prstGeom>
          <a:noFill/>
        </p:spPr>
        <p:txBody>
          <a:bodyPr wrap="square" rtlCol="0">
            <a:spAutoFit/>
          </a:bodyPr>
          <a:lstStyle/>
          <a:p>
            <a:r>
              <a:rPr lang="en-US" b="1" dirty="0">
                <a:solidFill>
                  <a:srgbClr val="C01F21"/>
                </a:solidFill>
              </a:rPr>
              <a:t>Local-remote collaboration provides a more balanced way to manage utility, latency, and privacy.</a:t>
            </a:r>
            <a:endParaRPr lang="en-US" dirty="0">
              <a:solidFill>
                <a:srgbClr val="C01F21"/>
              </a:solidFill>
            </a:endParaRPr>
          </a:p>
          <a:p>
            <a:endParaRPr lang="en-US" dirty="0"/>
          </a:p>
        </p:txBody>
      </p:sp>
    </p:spTree>
    <p:extLst>
      <p:ext uri="{BB962C8B-B14F-4D97-AF65-F5344CB8AC3E}">
        <p14:creationId xmlns:p14="http://schemas.microsoft.com/office/powerpoint/2010/main" val="4030408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510B964E-E938-AD14-D2FA-9A53BE88F9A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D7F5D2D-43C9-8B18-94EE-540F5CBFE3E6}"/>
              </a:ext>
            </a:extLst>
          </p:cNvPr>
          <p:cNvPicPr>
            <a:picLocks noChangeAspect="1"/>
          </p:cNvPicPr>
          <p:nvPr/>
        </p:nvPicPr>
        <p:blipFill>
          <a:blip r:embed="rId3"/>
          <a:stretch>
            <a:fillRect/>
          </a:stretch>
        </p:blipFill>
        <p:spPr>
          <a:xfrm>
            <a:off x="5865909" y="1062601"/>
            <a:ext cx="2501365" cy="2359945"/>
          </a:xfrm>
          <a:prstGeom prst="rect">
            <a:avLst/>
          </a:prstGeom>
        </p:spPr>
      </p:pic>
      <p:sp>
        <p:nvSpPr>
          <p:cNvPr id="52" name="Google Shape;52;p4">
            <a:extLst>
              <a:ext uri="{FF2B5EF4-FFF2-40B4-BE49-F238E27FC236}">
                <a16:creationId xmlns:a16="http://schemas.microsoft.com/office/drawing/2014/main" id="{9B089DE4-588B-9025-C5D4-7F996A2A30DB}"/>
              </a:ext>
            </a:extLst>
          </p:cNvPr>
          <p:cNvSpPr txBox="1">
            <a:spLocks noGrp="1"/>
          </p:cNvSpPr>
          <p:nvPr>
            <p:ph type="title"/>
          </p:nvPr>
        </p:nvSpPr>
        <p:spPr>
          <a:xfrm>
            <a:off x="249600" y="153575"/>
            <a:ext cx="7867357"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Practical ML for Resource-constrained Devices</a:t>
            </a:r>
            <a:endParaRPr sz="2200" b="1" dirty="0">
              <a:solidFill>
                <a:srgbClr val="C01F21"/>
              </a:solidFill>
            </a:endParaRPr>
          </a:p>
        </p:txBody>
      </p:sp>
      <p:sp>
        <p:nvSpPr>
          <p:cNvPr id="53" name="Google Shape;53;p4">
            <a:extLst>
              <a:ext uri="{FF2B5EF4-FFF2-40B4-BE49-F238E27FC236}">
                <a16:creationId xmlns:a16="http://schemas.microsoft.com/office/drawing/2014/main" id="{46484FD9-20B8-D0BD-B58F-649DC732FFA6}"/>
              </a:ext>
            </a:extLst>
          </p:cNvPr>
          <p:cNvSpPr txBox="1">
            <a:spLocks noGrp="1"/>
          </p:cNvSpPr>
          <p:nvPr>
            <p:ph type="body" idx="1"/>
          </p:nvPr>
        </p:nvSpPr>
        <p:spPr>
          <a:xfrm>
            <a:off x="511328" y="1267619"/>
            <a:ext cx="6120728" cy="963485"/>
          </a:xfrm>
          <a:prstGeom prst="rect">
            <a:avLst/>
          </a:prstGeom>
          <a:noFill/>
          <a:ln>
            <a:noFill/>
          </a:ln>
        </p:spPr>
        <p:txBody>
          <a:bodyPr spcFirstLastPara="1" wrap="square" lIns="91425" tIns="91425" rIns="91425" bIns="91425" anchor="t" anchorCtr="0">
            <a:noAutofit/>
          </a:bodyPr>
          <a:lstStyle/>
          <a:p>
            <a:pPr marL="976313" indent="-966788">
              <a:spcAft>
                <a:spcPts val="1000"/>
              </a:spcAft>
              <a:buNone/>
            </a:pPr>
            <a:r>
              <a:rPr lang="en-US" sz="1400" b="1" dirty="0"/>
              <a:t>Objective:  </a:t>
            </a:r>
            <a:r>
              <a:rPr lang="en-US" sz="1400" dirty="0"/>
              <a:t>Develop efficient and privacy-aware ML systems for resource-constrained devices across diverse deployment settings.</a:t>
            </a:r>
          </a:p>
          <a:p>
            <a:pPr marL="114300" indent="0">
              <a:spcAft>
                <a:spcPts val="1200"/>
              </a:spcAft>
              <a:buNone/>
            </a:pPr>
            <a:endParaRPr lang="en-US" dirty="0"/>
          </a:p>
          <a:p>
            <a:endParaRPr lang="en-US" dirty="0"/>
          </a:p>
        </p:txBody>
      </p:sp>
      <p:sp>
        <p:nvSpPr>
          <p:cNvPr id="2" name="TextBox 1">
            <a:extLst>
              <a:ext uri="{FF2B5EF4-FFF2-40B4-BE49-F238E27FC236}">
                <a16:creationId xmlns:a16="http://schemas.microsoft.com/office/drawing/2014/main" id="{FDB3759C-F042-9310-D560-1C7460E81FF3}"/>
              </a:ext>
            </a:extLst>
          </p:cNvPr>
          <p:cNvSpPr txBox="1"/>
          <p:nvPr/>
        </p:nvSpPr>
        <p:spPr>
          <a:xfrm>
            <a:off x="169725" y="3493458"/>
            <a:ext cx="8582699" cy="738664"/>
          </a:xfrm>
          <a:prstGeom prst="rect">
            <a:avLst/>
          </a:prstGeom>
          <a:noFill/>
        </p:spPr>
        <p:txBody>
          <a:bodyPr wrap="square" rtlCol="0">
            <a:spAutoFit/>
          </a:bodyPr>
          <a:lstStyle/>
          <a:p>
            <a:r>
              <a:rPr lang="en-US" b="1" dirty="0">
                <a:solidFill>
                  <a:srgbClr val="C01F21"/>
                </a:solidFill>
              </a:rPr>
              <a:t>Practical ML for resource-constrained devices requires balancing utility, latency, and privacy under deployment-specific constraints.</a:t>
            </a:r>
            <a:endParaRPr lang="en-US" dirty="0">
              <a:solidFill>
                <a:srgbClr val="C01F21"/>
              </a:solidFill>
            </a:endParaRPr>
          </a:p>
          <a:p>
            <a:endParaRPr lang="en-US" dirty="0"/>
          </a:p>
        </p:txBody>
      </p:sp>
      <p:sp>
        <p:nvSpPr>
          <p:cNvPr id="5" name="TextBox 4">
            <a:extLst>
              <a:ext uri="{FF2B5EF4-FFF2-40B4-BE49-F238E27FC236}">
                <a16:creationId xmlns:a16="http://schemas.microsoft.com/office/drawing/2014/main" id="{466492E1-CF62-D582-5B51-A3C245748ED8}"/>
              </a:ext>
            </a:extLst>
          </p:cNvPr>
          <p:cNvSpPr txBox="1"/>
          <p:nvPr/>
        </p:nvSpPr>
        <p:spPr>
          <a:xfrm>
            <a:off x="550722" y="2156272"/>
            <a:ext cx="5691807" cy="738664"/>
          </a:xfrm>
          <a:prstGeom prst="rect">
            <a:avLst/>
          </a:prstGeom>
          <a:noFill/>
        </p:spPr>
        <p:txBody>
          <a:bodyPr wrap="square" rtlCol="0">
            <a:spAutoFit/>
          </a:bodyPr>
          <a:lstStyle/>
          <a:p>
            <a:pPr marL="1485900" indent="-1485900"/>
            <a:r>
              <a:rPr lang="en-US" b="1" dirty="0"/>
              <a:t>Central premise: </a:t>
            </a:r>
            <a:r>
              <a:rPr lang="en-US" dirty="0"/>
              <a:t>Practical ML should not optimize a single objective in isolation.</a:t>
            </a:r>
          </a:p>
          <a:p>
            <a:endParaRPr lang="en-US" dirty="0"/>
          </a:p>
        </p:txBody>
      </p:sp>
      <p:sp>
        <p:nvSpPr>
          <p:cNvPr id="3" name="Slide Number Placeholder 2">
            <a:extLst>
              <a:ext uri="{FF2B5EF4-FFF2-40B4-BE49-F238E27FC236}">
                <a16:creationId xmlns:a16="http://schemas.microsoft.com/office/drawing/2014/main" id="{B1D0E3C6-F0E1-C960-B49A-C63144E2BC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795179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84F8-445A-B6D5-F1DA-C4EF9EBC1169}"/>
              </a:ext>
            </a:extLst>
          </p:cNvPr>
          <p:cNvSpPr>
            <a:spLocks noGrp="1"/>
          </p:cNvSpPr>
          <p:nvPr>
            <p:ph type="title"/>
          </p:nvPr>
        </p:nvSpPr>
        <p:spPr>
          <a:xfrm>
            <a:off x="249600" y="290439"/>
            <a:ext cx="8582700" cy="572700"/>
          </a:xfrm>
        </p:spPr>
        <p:txBody>
          <a:bodyPr/>
          <a:lstStyle/>
          <a:p>
            <a:r>
              <a:rPr lang="en-US" sz="2200" b="1" dirty="0">
                <a:solidFill>
                  <a:srgbClr val="C01F21"/>
                </a:solidFill>
              </a:rPr>
              <a:t>Key Dimensions and Research Thrusts</a:t>
            </a:r>
          </a:p>
        </p:txBody>
      </p:sp>
      <p:graphicFrame>
        <p:nvGraphicFramePr>
          <p:cNvPr id="4" name="Table 3">
            <a:extLst>
              <a:ext uri="{FF2B5EF4-FFF2-40B4-BE49-F238E27FC236}">
                <a16:creationId xmlns:a16="http://schemas.microsoft.com/office/drawing/2014/main" id="{757D1D0D-0997-DA11-21F5-F77F5AFB7832}"/>
              </a:ext>
            </a:extLst>
          </p:cNvPr>
          <p:cNvGraphicFramePr>
            <a:graphicFrameLocks noGrp="1"/>
          </p:cNvGraphicFramePr>
          <p:nvPr>
            <p:extLst>
              <p:ext uri="{D42A27DB-BD31-4B8C-83A1-F6EECF244321}">
                <p14:modId xmlns:p14="http://schemas.microsoft.com/office/powerpoint/2010/main" val="32915500"/>
              </p:ext>
            </p:extLst>
          </p:nvPr>
        </p:nvGraphicFramePr>
        <p:xfrm>
          <a:off x="978433" y="1092022"/>
          <a:ext cx="7187134" cy="2286000"/>
        </p:xfrm>
        <a:graphic>
          <a:graphicData uri="http://schemas.openxmlformats.org/drawingml/2006/table">
            <a:tbl>
              <a:tblPr>
                <a:effectLst/>
              </a:tblPr>
              <a:tblGrid>
                <a:gridCol w="2721846">
                  <a:extLst>
                    <a:ext uri="{9D8B030D-6E8A-4147-A177-3AD203B41FA5}">
                      <a16:colId xmlns:a16="http://schemas.microsoft.com/office/drawing/2014/main" val="477958958"/>
                    </a:ext>
                  </a:extLst>
                </a:gridCol>
                <a:gridCol w="4465288">
                  <a:extLst>
                    <a:ext uri="{9D8B030D-6E8A-4147-A177-3AD203B41FA5}">
                      <a16:colId xmlns:a16="http://schemas.microsoft.com/office/drawing/2014/main" val="1594488846"/>
                    </a:ext>
                  </a:extLst>
                </a:gridCol>
              </a:tblGrid>
              <a:tr h="457200">
                <a:tc>
                  <a:txBody>
                    <a:bodyPr/>
                    <a:lstStyle/>
                    <a:p>
                      <a:pPr>
                        <a:buNone/>
                      </a:pPr>
                      <a:r>
                        <a:rPr lang="en-US" sz="1200" b="1" dirty="0">
                          <a:ln>
                            <a:noFill/>
                          </a:ln>
                          <a:solidFill>
                            <a:srgbClr val="000000"/>
                          </a:solidFill>
                        </a:rPr>
                        <a:t>Design Space</a:t>
                      </a:r>
                      <a:endParaRPr lang="en-US" sz="12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b="1" dirty="0">
                          <a:ln>
                            <a:noFill/>
                          </a:ln>
                          <a:solidFill>
                            <a:srgbClr val="000000"/>
                          </a:solidFill>
                        </a:rPr>
                        <a:t>Response</a:t>
                      </a:r>
                      <a:endParaRPr lang="en-US" sz="12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25993"/>
                  </a:ext>
                </a:extLst>
              </a:tr>
              <a:tr h="365760">
                <a:tc>
                  <a:txBody>
                    <a:bodyPr/>
                    <a:lstStyle/>
                    <a:p>
                      <a:pPr>
                        <a:buNone/>
                      </a:pPr>
                      <a:r>
                        <a:rPr lang="en-US" sz="1200" dirty="0">
                          <a:ln>
                            <a:noFill/>
                          </a:ln>
                          <a:solidFill>
                            <a:srgbClr val="000000"/>
                          </a:solidFill>
                        </a:rPr>
                        <a:t>Latency is the dominate concern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200" b="1" dirty="0">
                          <a:solidFill>
                            <a:srgbClr val="000000"/>
                          </a:solidFill>
                        </a:rPr>
                        <a:t>Thrust I:</a:t>
                      </a:r>
                      <a:r>
                        <a:rPr lang="en-US" sz="1200" dirty="0">
                          <a:solidFill>
                            <a:srgbClr val="000000"/>
                          </a:solidFill>
                        </a:rPr>
                        <a:t> TODORA — efficient distributed execution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1562630"/>
                  </a:ext>
                </a:extLst>
              </a:tr>
              <a:tr h="365760">
                <a:tc>
                  <a:txBody>
                    <a:bodyPr/>
                    <a:lstStyle/>
                    <a:p>
                      <a:pPr>
                        <a:buNone/>
                      </a:pPr>
                      <a:r>
                        <a:rPr lang="en-US" sz="1200" dirty="0">
                          <a:ln>
                            <a:noFill/>
                          </a:ln>
                          <a:solidFill>
                            <a:srgbClr val="000000"/>
                          </a:solidFill>
                        </a:rPr>
                        <a:t>Privacy on top of utility and latency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200" b="1" dirty="0">
                          <a:solidFill>
                            <a:srgbClr val="000000"/>
                          </a:solidFill>
                        </a:rPr>
                        <a:t>Thrust II:</a:t>
                      </a:r>
                      <a:r>
                        <a:rPr lang="en-US" sz="1200" dirty="0">
                          <a:solidFill>
                            <a:srgbClr val="000000"/>
                          </a:solidFill>
                        </a:rPr>
                        <a:t> LLPRI — privacy-aware distributed inference</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927000"/>
                  </a:ext>
                </a:extLst>
              </a:tr>
              <a:tr h="548640">
                <a:tc>
                  <a:txBody>
                    <a:bodyPr/>
                    <a:lstStyle/>
                    <a:p>
                      <a:pPr>
                        <a:buNone/>
                      </a:pPr>
                      <a:r>
                        <a:rPr lang="en-US" sz="1200" dirty="0">
                          <a:ln>
                            <a:noFill/>
                          </a:ln>
                          <a:solidFill>
                            <a:srgbClr val="000000"/>
                          </a:solidFill>
                        </a:rPr>
                        <a:t>Privacy is strongly emphasized</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200" b="1" dirty="0">
                          <a:solidFill>
                            <a:srgbClr val="000000"/>
                          </a:solidFill>
                        </a:rPr>
                        <a:t>Thrust III:</a:t>
                      </a:r>
                      <a:r>
                        <a:rPr lang="en-US" sz="1200" dirty="0">
                          <a:solidFill>
                            <a:srgbClr val="000000"/>
                          </a:solidFill>
                        </a:rPr>
                        <a:t> Cloud–Edge HW-NAS — adaptive model optimization and selection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978038"/>
                  </a:ext>
                </a:extLst>
              </a:tr>
              <a:tr h="548640">
                <a:tc>
                  <a:txBody>
                    <a:bodyPr/>
                    <a:lstStyle/>
                    <a:p>
                      <a:pPr>
                        <a:buNone/>
                      </a:pPr>
                      <a:r>
                        <a:rPr lang="en-US" sz="1200" dirty="0">
                          <a:ln>
                            <a:noFill/>
                          </a:ln>
                          <a:solidFill>
                            <a:srgbClr val="000000"/>
                          </a:solidFill>
                        </a:rPr>
                        <a:t>Fine-grained generative collaboration</a:t>
                      </a:r>
                    </a:p>
                  </a:txBody>
                  <a:tcPr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buNone/>
                      </a:pPr>
                      <a:r>
                        <a:rPr lang="en-US" sz="1200" b="1" dirty="0">
                          <a:solidFill>
                            <a:srgbClr val="000000"/>
                          </a:solidFill>
                        </a:rPr>
                        <a:t>Future Direction:</a:t>
                      </a:r>
                      <a:r>
                        <a:rPr lang="en-US" sz="1200" dirty="0">
                          <a:solidFill>
                            <a:srgbClr val="000000"/>
                          </a:solidFill>
                        </a:rPr>
                        <a:t> Collaborative speculative decoding across edge and cloud</a:t>
                      </a:r>
                    </a:p>
                  </a:txBody>
                  <a:tcPr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92146556"/>
                  </a:ext>
                </a:extLst>
              </a:tr>
            </a:tbl>
          </a:graphicData>
        </a:graphic>
      </p:graphicFrame>
      <p:sp>
        <p:nvSpPr>
          <p:cNvPr id="3" name="Slide Number Placeholder 2">
            <a:extLst>
              <a:ext uri="{FF2B5EF4-FFF2-40B4-BE49-F238E27FC236}">
                <a16:creationId xmlns:a16="http://schemas.microsoft.com/office/drawing/2014/main" id="{F9C53774-7C38-5D1B-6C96-866D3377DD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TextBox 4">
            <a:extLst>
              <a:ext uri="{FF2B5EF4-FFF2-40B4-BE49-F238E27FC236}">
                <a16:creationId xmlns:a16="http://schemas.microsoft.com/office/drawing/2014/main" id="{167AA025-B4A8-9382-D27D-CFCDDF614CA7}"/>
              </a:ext>
            </a:extLst>
          </p:cNvPr>
          <p:cNvSpPr txBox="1"/>
          <p:nvPr/>
        </p:nvSpPr>
        <p:spPr>
          <a:xfrm>
            <a:off x="1157697" y="3606905"/>
            <a:ext cx="6588427" cy="307777"/>
          </a:xfrm>
          <a:prstGeom prst="rect">
            <a:avLst/>
          </a:prstGeom>
          <a:noFill/>
        </p:spPr>
        <p:txBody>
          <a:bodyPr wrap="square" rtlCol="0">
            <a:spAutoFit/>
          </a:bodyPr>
          <a:lstStyle/>
          <a:p>
            <a:r>
              <a:rPr lang="en-US" b="1" dirty="0">
                <a:solidFill>
                  <a:srgbClr val="C01F21"/>
                </a:solidFill>
              </a:rPr>
              <a:t>Different deployment settings place different emphasis on three objectives. </a:t>
            </a:r>
          </a:p>
        </p:txBody>
      </p:sp>
    </p:spTree>
    <p:extLst>
      <p:ext uri="{BB962C8B-B14F-4D97-AF65-F5344CB8AC3E}">
        <p14:creationId xmlns:p14="http://schemas.microsoft.com/office/powerpoint/2010/main" val="3671437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A11440A6-78FA-4C91-97EB-BC8D4DE3D334}"/>
            </a:ext>
          </a:extLst>
        </p:cNvPr>
        <p:cNvGrpSpPr/>
        <p:nvPr/>
      </p:nvGrpSpPr>
      <p:grpSpPr>
        <a:xfrm>
          <a:off x="0" y="0"/>
          <a:ext cx="0" cy="0"/>
          <a:chOff x="0" y="0"/>
          <a:chExt cx="0" cy="0"/>
        </a:xfrm>
      </p:grpSpPr>
      <p:sp>
        <p:nvSpPr>
          <p:cNvPr id="290" name="Google Shape;290;p27">
            <a:extLst>
              <a:ext uri="{FF2B5EF4-FFF2-40B4-BE49-F238E27FC236}">
                <a16:creationId xmlns:a16="http://schemas.microsoft.com/office/drawing/2014/main" id="{D9065B34-A97F-91AD-2F93-6EDAF22F9F4A}"/>
              </a:ext>
            </a:extLst>
          </p:cNvPr>
          <p:cNvSpPr txBox="1">
            <a:spLocks noGrp="1"/>
          </p:cNvSpPr>
          <p:nvPr>
            <p:ph type="title"/>
          </p:nvPr>
        </p:nvSpPr>
        <p:spPr>
          <a:xfrm>
            <a:off x="280650" y="1277724"/>
            <a:ext cx="8582700" cy="1996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200" b="1" dirty="0">
                <a:solidFill>
                  <a:srgbClr val="C01F21"/>
                </a:solidFill>
              </a:rPr>
              <a:t>Thrust I: Efficient Distributed Execution</a:t>
            </a:r>
            <a:br>
              <a:rPr lang="en-US" dirty="0"/>
            </a:br>
            <a:br>
              <a:rPr lang="en-US" dirty="0"/>
            </a:br>
            <a:r>
              <a:rPr lang="en-US" sz="2000" dirty="0"/>
              <a:t>Online Distributed Offloading of Time-Sensitive Vehicular Tasks in Edge-Cloud Systems</a:t>
            </a:r>
            <a:endParaRPr sz="2000" dirty="0"/>
          </a:p>
          <a:p>
            <a:pPr marL="0" lvl="0" indent="0" algn="ctr" rtl="0">
              <a:lnSpc>
                <a:spcPct val="100000"/>
              </a:lnSpc>
              <a:spcBef>
                <a:spcPts val="0"/>
              </a:spcBef>
              <a:spcAft>
                <a:spcPts val="0"/>
              </a:spcAft>
              <a:buSzPts val="2800"/>
              <a:buNone/>
            </a:pPr>
            <a:endParaRPr sz="1800" dirty="0"/>
          </a:p>
        </p:txBody>
      </p:sp>
      <p:sp>
        <p:nvSpPr>
          <p:cNvPr id="3" name="Slide Number Placeholder 2">
            <a:extLst>
              <a:ext uri="{FF2B5EF4-FFF2-40B4-BE49-F238E27FC236}">
                <a16:creationId xmlns:a16="http://schemas.microsoft.com/office/drawing/2014/main" id="{46A9D850-39E1-7E82-6CA4-D1D5155801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4" name="TextBox 3">
            <a:extLst>
              <a:ext uri="{FF2B5EF4-FFF2-40B4-BE49-F238E27FC236}">
                <a16:creationId xmlns:a16="http://schemas.microsoft.com/office/drawing/2014/main" id="{4E12A9A5-E0AD-35F7-BC4A-67425B337F1F}"/>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55286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ED8D-B928-D355-051F-B1F45C378FCF}"/>
              </a:ext>
            </a:extLst>
          </p:cNvPr>
          <p:cNvSpPr>
            <a:spLocks noGrp="1"/>
          </p:cNvSpPr>
          <p:nvPr>
            <p:ph type="title"/>
          </p:nvPr>
        </p:nvSpPr>
        <p:spPr/>
        <p:txBody>
          <a:bodyPr/>
          <a:lstStyle/>
          <a:p>
            <a:r>
              <a:rPr lang="en-US" sz="2200" b="1" dirty="0">
                <a:solidFill>
                  <a:srgbClr val="C01F21"/>
                </a:solidFill>
              </a:rPr>
              <a:t>Motivation</a:t>
            </a:r>
          </a:p>
        </p:txBody>
      </p:sp>
      <p:sp>
        <p:nvSpPr>
          <p:cNvPr id="4" name="Google Shape;53;p4">
            <a:extLst>
              <a:ext uri="{FF2B5EF4-FFF2-40B4-BE49-F238E27FC236}">
                <a16:creationId xmlns:a16="http://schemas.microsoft.com/office/drawing/2014/main" id="{DE955D9A-6061-0DDE-182A-FDB32D20984D}"/>
              </a:ext>
            </a:extLst>
          </p:cNvPr>
          <p:cNvSpPr txBox="1">
            <a:spLocks noGrp="1"/>
          </p:cNvSpPr>
          <p:nvPr>
            <p:ph type="body" idx="1"/>
          </p:nvPr>
        </p:nvSpPr>
        <p:spPr>
          <a:xfrm>
            <a:off x="322486" y="901014"/>
            <a:ext cx="7900487" cy="2626629"/>
          </a:xfrm>
          <a:prstGeom prst="rect">
            <a:avLst/>
          </a:prstGeom>
          <a:noFill/>
          <a:ln>
            <a:noFill/>
          </a:ln>
        </p:spPr>
        <p:txBody>
          <a:bodyPr spcFirstLastPara="1" wrap="square" lIns="91425" tIns="91425" rIns="91425" bIns="91425" anchor="t" anchorCtr="0">
            <a:noAutofit/>
          </a:bodyPr>
          <a:lstStyle/>
          <a:p>
            <a:pPr>
              <a:spcAft>
                <a:spcPts val="1000"/>
              </a:spcAft>
            </a:pPr>
            <a:r>
              <a:rPr lang="en-US" sz="1400" dirty="0"/>
              <a:t>Vehicular workloads provide a representative case of delay-sensitive ML tasks.</a:t>
            </a:r>
          </a:p>
          <a:p>
            <a:pPr lvl="1">
              <a:spcAft>
                <a:spcPts val="1000"/>
              </a:spcAft>
              <a:buFont typeface="Times New Roman" panose="02020603050405020304" pitchFamily="18" charset="0"/>
              <a:buChar char="→"/>
            </a:pPr>
            <a:r>
              <a:rPr lang="en-US" sz="1200" dirty="0"/>
              <a:t>Timely results are critical for safety and driving support systems.</a:t>
            </a:r>
          </a:p>
          <a:p>
            <a:pPr>
              <a:spcAft>
                <a:spcPts val="1000"/>
              </a:spcAft>
            </a:pPr>
            <a:r>
              <a:rPr lang="en-US" sz="1400" dirty="0"/>
              <a:t>Purely local execution is insufficient.</a:t>
            </a:r>
          </a:p>
          <a:p>
            <a:pPr lvl="1">
              <a:spcAft>
                <a:spcPts val="1000"/>
              </a:spcAft>
              <a:buFont typeface="Times New Roman" panose="02020603050405020304" pitchFamily="18" charset="0"/>
              <a:buChar char="→"/>
            </a:pPr>
            <a:r>
              <a:rPr lang="en-US" sz="1200" dirty="0"/>
              <a:t>Vehicles often cannot complete demanding ML tasks within deadlines.</a:t>
            </a:r>
          </a:p>
          <a:p>
            <a:pPr lvl="1">
              <a:spcAft>
                <a:spcPts val="1000"/>
              </a:spcAft>
              <a:buFont typeface="Times New Roman" panose="02020603050405020304" pitchFamily="18" charset="0"/>
              <a:buChar char="→"/>
            </a:pPr>
            <a:r>
              <a:rPr lang="en-US" sz="1200" dirty="0"/>
              <a:t>Vehicle size, energy, and cooling constraints further limit onboard execution.</a:t>
            </a:r>
          </a:p>
          <a:p>
            <a:pPr>
              <a:spcAft>
                <a:spcPts val="1000"/>
              </a:spcAft>
            </a:pPr>
            <a:r>
              <a:rPr lang="en-US" sz="1400" dirty="0"/>
              <a:t>External servers introduce overhead.</a:t>
            </a:r>
          </a:p>
          <a:p>
            <a:pPr lvl="1">
              <a:spcAft>
                <a:spcPts val="1000"/>
              </a:spcAft>
              <a:buFont typeface="Times New Roman" panose="02020603050405020304" pitchFamily="18" charset="0"/>
              <a:buChar char="→"/>
            </a:pPr>
            <a:r>
              <a:rPr lang="en-US" sz="1200" dirty="0"/>
              <a:t>Edge/cloud support creates resource contention and coordination overhead.</a:t>
            </a:r>
          </a:p>
          <a:p>
            <a:pPr marL="114300" indent="0">
              <a:spcAft>
                <a:spcPts val="1200"/>
              </a:spcAft>
              <a:buNone/>
            </a:pPr>
            <a:endParaRPr lang="en-US" dirty="0"/>
          </a:p>
          <a:p>
            <a:endParaRPr lang="en-US" dirty="0"/>
          </a:p>
        </p:txBody>
      </p:sp>
      <p:sp>
        <p:nvSpPr>
          <p:cNvPr id="5" name="TextBox 4">
            <a:extLst>
              <a:ext uri="{FF2B5EF4-FFF2-40B4-BE49-F238E27FC236}">
                <a16:creationId xmlns:a16="http://schemas.microsoft.com/office/drawing/2014/main" id="{F953C8BF-2005-D1B2-A494-7FD977766A77}"/>
              </a:ext>
            </a:extLst>
          </p:cNvPr>
          <p:cNvSpPr txBox="1"/>
          <p:nvPr/>
        </p:nvSpPr>
        <p:spPr>
          <a:xfrm>
            <a:off x="322486" y="3702382"/>
            <a:ext cx="8152278" cy="307777"/>
          </a:xfrm>
          <a:prstGeom prst="rect">
            <a:avLst/>
          </a:prstGeom>
          <a:noFill/>
        </p:spPr>
        <p:txBody>
          <a:bodyPr wrap="square" rtlCol="0">
            <a:spAutoFit/>
          </a:bodyPr>
          <a:lstStyle/>
          <a:p>
            <a:pPr marL="114300" indent="0">
              <a:spcAft>
                <a:spcPts val="800"/>
              </a:spcAft>
              <a:buNone/>
            </a:pPr>
            <a:r>
              <a:rPr lang="en-US" b="1" dirty="0">
                <a:solidFill>
                  <a:srgbClr val="C01F21"/>
                </a:solidFill>
              </a:rPr>
              <a:t>Efficient execution for vehicular ML requires more than simply offloading tasks.</a:t>
            </a:r>
          </a:p>
        </p:txBody>
      </p:sp>
      <p:sp>
        <p:nvSpPr>
          <p:cNvPr id="3" name="Slide Number Placeholder 2">
            <a:extLst>
              <a:ext uri="{FF2B5EF4-FFF2-40B4-BE49-F238E27FC236}">
                <a16:creationId xmlns:a16="http://schemas.microsoft.com/office/drawing/2014/main" id="{11ED90DC-E560-78DC-2A0D-20F8FF37B3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TextBox 5">
            <a:extLst>
              <a:ext uri="{FF2B5EF4-FFF2-40B4-BE49-F238E27FC236}">
                <a16:creationId xmlns:a16="http://schemas.microsoft.com/office/drawing/2014/main" id="{4AADA864-4618-1B3D-4C37-CC419293E57C}"/>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4238548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9D44C-B24D-FF8B-7D22-308F803A4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81F31-58B0-5EB2-F12E-12C4388BA145}"/>
              </a:ext>
            </a:extLst>
          </p:cNvPr>
          <p:cNvSpPr>
            <a:spLocks noGrp="1"/>
          </p:cNvSpPr>
          <p:nvPr>
            <p:ph type="title"/>
          </p:nvPr>
        </p:nvSpPr>
        <p:spPr/>
        <p:txBody>
          <a:bodyPr/>
          <a:lstStyle/>
          <a:p>
            <a:r>
              <a:rPr lang="en-US" sz="2200" b="1" dirty="0">
                <a:solidFill>
                  <a:srgbClr val="C01F21"/>
                </a:solidFill>
              </a:rPr>
              <a:t>Vehicular Offloading System Architecture</a:t>
            </a:r>
          </a:p>
        </p:txBody>
      </p:sp>
      <p:sp>
        <p:nvSpPr>
          <p:cNvPr id="3" name="Text Placeholder 2">
            <a:extLst>
              <a:ext uri="{FF2B5EF4-FFF2-40B4-BE49-F238E27FC236}">
                <a16:creationId xmlns:a16="http://schemas.microsoft.com/office/drawing/2014/main" id="{ADC2B1F8-CC93-EBF8-3FFD-3CEDCB5415E2}"/>
              </a:ext>
            </a:extLst>
          </p:cNvPr>
          <p:cNvSpPr>
            <a:spLocks noGrp="1"/>
          </p:cNvSpPr>
          <p:nvPr>
            <p:ph type="body" idx="1"/>
          </p:nvPr>
        </p:nvSpPr>
        <p:spPr>
          <a:xfrm>
            <a:off x="4571999" y="1736103"/>
            <a:ext cx="3967141" cy="1619972"/>
          </a:xfrm>
        </p:spPr>
        <p:txBody>
          <a:bodyPr/>
          <a:lstStyle/>
          <a:p>
            <a:pPr>
              <a:spcAft>
                <a:spcPts val="2600"/>
              </a:spcAft>
            </a:pPr>
            <a:r>
              <a:rPr lang="en-US" sz="1400" dirty="0"/>
              <a:t>Tasks can be executed</a:t>
            </a:r>
            <a:r>
              <a:rPr lang="en-US" sz="1400" b="1" dirty="0">
                <a:solidFill>
                  <a:srgbClr val="0070C0"/>
                </a:solidFill>
              </a:rPr>
              <a:t> </a:t>
            </a:r>
            <a:r>
              <a:rPr lang="en-US" sz="1400" dirty="0">
                <a:solidFill>
                  <a:srgbClr val="0070C0"/>
                </a:solidFill>
              </a:rPr>
              <a:t>locally</a:t>
            </a:r>
            <a:r>
              <a:rPr lang="en-US" sz="1400" dirty="0"/>
              <a:t>, at the </a:t>
            </a:r>
            <a:r>
              <a:rPr lang="en-US" sz="1400" dirty="0">
                <a:solidFill>
                  <a:srgbClr val="0070C0"/>
                </a:solidFill>
              </a:rPr>
              <a:t>edge</a:t>
            </a:r>
            <a:r>
              <a:rPr lang="en-US" sz="1400" dirty="0"/>
              <a:t>, or in the </a:t>
            </a:r>
            <a:r>
              <a:rPr lang="en-US" sz="1400" dirty="0">
                <a:solidFill>
                  <a:srgbClr val="0070C0"/>
                </a:solidFill>
              </a:rPr>
              <a:t>cloud</a:t>
            </a:r>
            <a:r>
              <a:rPr lang="en-US" sz="1400" dirty="0"/>
              <a:t>.</a:t>
            </a:r>
          </a:p>
          <a:p>
            <a:pPr>
              <a:spcAft>
                <a:spcPts val="2600"/>
              </a:spcAft>
            </a:pPr>
            <a:r>
              <a:rPr lang="en-US" sz="1400" dirty="0"/>
              <a:t>Tasks share and contend for </a:t>
            </a:r>
            <a:r>
              <a:rPr lang="en-US" sz="1400" dirty="0">
                <a:solidFill>
                  <a:srgbClr val="0070C0"/>
                </a:solidFill>
              </a:rPr>
              <a:t>computation</a:t>
            </a:r>
            <a:r>
              <a:rPr lang="en-US" sz="1400" dirty="0"/>
              <a:t> and </a:t>
            </a:r>
            <a:r>
              <a:rPr lang="en-US" sz="1400" dirty="0">
                <a:solidFill>
                  <a:srgbClr val="0070C0"/>
                </a:solidFill>
              </a:rPr>
              <a:t>radio resources</a:t>
            </a:r>
            <a:r>
              <a:rPr lang="en-US" sz="1400" dirty="0"/>
              <a:t>.</a:t>
            </a:r>
          </a:p>
          <a:p>
            <a:pPr marL="114300" indent="0">
              <a:spcAft>
                <a:spcPts val="2600"/>
              </a:spcAft>
              <a:buNone/>
            </a:pPr>
            <a:endParaRPr lang="en-US" sz="1600" dirty="0"/>
          </a:p>
          <a:p>
            <a:endParaRPr lang="en-US" dirty="0"/>
          </a:p>
        </p:txBody>
      </p:sp>
      <p:sp>
        <p:nvSpPr>
          <p:cNvPr id="4" name="Slide Number Placeholder 3">
            <a:extLst>
              <a:ext uri="{FF2B5EF4-FFF2-40B4-BE49-F238E27FC236}">
                <a16:creationId xmlns:a16="http://schemas.microsoft.com/office/drawing/2014/main" id="{0E276E40-8EFD-1732-5443-5CFA0C549D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TextBox 5">
            <a:extLst>
              <a:ext uri="{FF2B5EF4-FFF2-40B4-BE49-F238E27FC236}">
                <a16:creationId xmlns:a16="http://schemas.microsoft.com/office/drawing/2014/main" id="{0E4725EC-F8E4-7471-4D87-C3B13FBEA3AF}"/>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pic>
        <p:nvPicPr>
          <p:cNvPr id="8" name="Picture 7">
            <a:extLst>
              <a:ext uri="{FF2B5EF4-FFF2-40B4-BE49-F238E27FC236}">
                <a16:creationId xmlns:a16="http://schemas.microsoft.com/office/drawing/2014/main" id="{E8129C27-C6C9-58F6-77F5-A062480A7B2B}"/>
              </a:ext>
            </a:extLst>
          </p:cNvPr>
          <p:cNvPicPr>
            <a:picLocks noChangeAspect="1"/>
          </p:cNvPicPr>
          <p:nvPr/>
        </p:nvPicPr>
        <p:blipFill>
          <a:blip r:embed="rId3"/>
          <a:stretch>
            <a:fillRect/>
          </a:stretch>
        </p:blipFill>
        <p:spPr>
          <a:xfrm>
            <a:off x="323653" y="796563"/>
            <a:ext cx="4217297" cy="3494729"/>
          </a:xfrm>
          <a:prstGeom prst="rect">
            <a:avLst/>
          </a:prstGeom>
        </p:spPr>
      </p:pic>
      <p:sp>
        <p:nvSpPr>
          <p:cNvPr id="9" name="TextBox 8">
            <a:extLst>
              <a:ext uri="{FF2B5EF4-FFF2-40B4-BE49-F238E27FC236}">
                <a16:creationId xmlns:a16="http://schemas.microsoft.com/office/drawing/2014/main" id="{698953F6-B634-3D4D-CCBB-08D5D9C5AD3B}"/>
              </a:ext>
            </a:extLst>
          </p:cNvPr>
          <p:cNvSpPr txBox="1"/>
          <p:nvPr/>
        </p:nvSpPr>
        <p:spPr>
          <a:xfrm>
            <a:off x="323653" y="807605"/>
            <a:ext cx="1639616" cy="246221"/>
          </a:xfrm>
          <a:prstGeom prst="rect">
            <a:avLst/>
          </a:prstGeom>
          <a:noFill/>
        </p:spPr>
        <p:txBody>
          <a:bodyPr wrap="square" rtlCol="0">
            <a:spAutoFit/>
          </a:bodyPr>
          <a:lstStyle/>
          <a:p>
            <a:r>
              <a:rPr lang="en-US" sz="1000" dirty="0"/>
              <a:t>* RSU: Road-Side Unit</a:t>
            </a:r>
          </a:p>
        </p:txBody>
      </p:sp>
    </p:spTree>
    <p:extLst>
      <p:ext uri="{BB962C8B-B14F-4D97-AF65-F5344CB8AC3E}">
        <p14:creationId xmlns:p14="http://schemas.microsoft.com/office/powerpoint/2010/main" val="1701725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B678F-E3B7-05FF-44B9-AED6177BE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17E3D-37F9-61AF-43CC-2C7CEAF06569}"/>
              </a:ext>
            </a:extLst>
          </p:cNvPr>
          <p:cNvSpPr>
            <a:spLocks noGrp="1"/>
          </p:cNvSpPr>
          <p:nvPr>
            <p:ph type="title"/>
          </p:nvPr>
        </p:nvSpPr>
        <p:spPr/>
        <p:txBody>
          <a:bodyPr/>
          <a:lstStyle/>
          <a:p>
            <a:r>
              <a:rPr lang="en-US" sz="2200" b="1" dirty="0">
                <a:solidFill>
                  <a:srgbClr val="C01F21"/>
                </a:solidFill>
              </a:rPr>
              <a:t>Task Duration Minimization Problem</a:t>
            </a:r>
          </a:p>
        </p:txBody>
      </p:sp>
      <p:grpSp>
        <p:nvGrpSpPr>
          <p:cNvPr id="6" name="群組 53">
            <a:extLst>
              <a:ext uri="{FF2B5EF4-FFF2-40B4-BE49-F238E27FC236}">
                <a16:creationId xmlns:a16="http://schemas.microsoft.com/office/drawing/2014/main" id="{02F0C4E9-933F-1390-D175-1C0D02FF152A}"/>
              </a:ext>
            </a:extLst>
          </p:cNvPr>
          <p:cNvGrpSpPr/>
          <p:nvPr/>
        </p:nvGrpSpPr>
        <p:grpSpPr>
          <a:xfrm>
            <a:off x="935285" y="992106"/>
            <a:ext cx="4112427" cy="1007982"/>
            <a:chOff x="973739" y="2235078"/>
            <a:chExt cx="5612762" cy="897030"/>
          </a:xfrm>
        </p:grpSpPr>
        <p:grpSp>
          <p:nvGrpSpPr>
            <p:cNvPr id="7" name="群組 36">
              <a:extLst>
                <a:ext uri="{FF2B5EF4-FFF2-40B4-BE49-F238E27FC236}">
                  <a16:creationId xmlns:a16="http://schemas.microsoft.com/office/drawing/2014/main" id="{1914E959-4896-D6B2-5C0A-13941C48ACFA}"/>
                </a:ext>
              </a:extLst>
            </p:cNvPr>
            <p:cNvGrpSpPr/>
            <p:nvPr/>
          </p:nvGrpSpPr>
          <p:grpSpPr>
            <a:xfrm>
              <a:off x="973739" y="2235078"/>
              <a:ext cx="5612762" cy="897030"/>
              <a:chOff x="3371513" y="1310835"/>
              <a:chExt cx="6140794" cy="897030"/>
            </a:xfrm>
          </p:grpSpPr>
          <p:sp>
            <p:nvSpPr>
              <p:cNvPr id="9" name="矩形: 圓角化同側角落 9">
                <a:extLst>
                  <a:ext uri="{FF2B5EF4-FFF2-40B4-BE49-F238E27FC236}">
                    <a16:creationId xmlns:a16="http://schemas.microsoft.com/office/drawing/2014/main" id="{40B75513-1238-16A5-9ACE-DF09C2553499}"/>
                  </a:ext>
                </a:extLst>
              </p:cNvPr>
              <p:cNvSpPr/>
              <p:nvPr/>
            </p:nvSpPr>
            <p:spPr>
              <a:xfrm flipV="1">
                <a:off x="3371513" y="1708549"/>
                <a:ext cx="6140794" cy="499316"/>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0" name="矩形: 圓角化同側角落 14">
                <a:extLst>
                  <a:ext uri="{FF2B5EF4-FFF2-40B4-BE49-F238E27FC236}">
                    <a16:creationId xmlns:a16="http://schemas.microsoft.com/office/drawing/2014/main" id="{0C7A3BDD-8218-E22E-982C-72A2165124B9}"/>
                  </a:ext>
                </a:extLst>
              </p:cNvPr>
              <p:cNvSpPr/>
              <p:nvPr/>
            </p:nvSpPr>
            <p:spPr>
              <a:xfrm>
                <a:off x="3371513" y="1310835"/>
                <a:ext cx="6140794"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1" name="文字方塊 15">
                <a:extLst>
                  <a:ext uri="{FF2B5EF4-FFF2-40B4-BE49-F238E27FC236}">
                    <a16:creationId xmlns:a16="http://schemas.microsoft.com/office/drawing/2014/main" id="{D93AE886-E19A-DD3D-50B4-AA96502E3ECF}"/>
                  </a:ext>
                </a:extLst>
              </p:cNvPr>
              <p:cNvSpPr txBox="1"/>
              <p:nvPr/>
            </p:nvSpPr>
            <p:spPr>
              <a:xfrm>
                <a:off x="4997756" y="1369995"/>
                <a:ext cx="2632623" cy="273899"/>
              </a:xfrm>
              <a:prstGeom prst="rect">
                <a:avLst/>
              </a:prstGeom>
              <a:noFill/>
              <a:ln>
                <a:noFill/>
              </a:ln>
            </p:spPr>
            <p:txBody>
              <a:bodyPr wrap="square">
                <a:spAutoFit/>
              </a:bodyPr>
              <a:lstStyle/>
              <a:p>
                <a:pPr algn="ctr"/>
                <a:r>
                  <a:rPr lang="en-US" altLang="zh-TW" b="1" dirty="0"/>
                  <a:t>Objective</a:t>
                </a:r>
              </a:p>
            </p:txBody>
          </p:sp>
        </p:grpSp>
        <p:sp>
          <p:nvSpPr>
            <p:cNvPr id="8" name="文字方塊 48">
              <a:extLst>
                <a:ext uri="{FF2B5EF4-FFF2-40B4-BE49-F238E27FC236}">
                  <a16:creationId xmlns:a16="http://schemas.microsoft.com/office/drawing/2014/main" id="{CD76B0C4-74F0-D757-419A-382CDCD9F658}"/>
                </a:ext>
              </a:extLst>
            </p:cNvPr>
            <p:cNvSpPr txBox="1"/>
            <p:nvPr/>
          </p:nvSpPr>
          <p:spPr>
            <a:xfrm>
              <a:off x="1107234" y="2728562"/>
              <a:ext cx="5345769" cy="273899"/>
            </a:xfrm>
            <a:prstGeom prst="rect">
              <a:avLst/>
            </a:prstGeom>
            <a:noFill/>
            <a:ln>
              <a:noFill/>
            </a:ln>
          </p:spPr>
          <p:txBody>
            <a:bodyPr wrap="square">
              <a:spAutoFit/>
            </a:bodyPr>
            <a:lstStyle/>
            <a:p>
              <a:r>
                <a:rPr lang="en-US" altLang="zh-TW" dirty="0"/>
                <a:t>Minimize average </a:t>
              </a:r>
              <a:r>
                <a:rPr lang="en-US" altLang="zh-TW" b="1" i="1" dirty="0"/>
                <a:t>end-to-end task duration</a:t>
              </a:r>
            </a:p>
          </p:txBody>
        </p:sp>
      </p:grpSp>
      <p:grpSp>
        <p:nvGrpSpPr>
          <p:cNvPr id="12" name="群組 53">
            <a:extLst>
              <a:ext uri="{FF2B5EF4-FFF2-40B4-BE49-F238E27FC236}">
                <a16:creationId xmlns:a16="http://schemas.microsoft.com/office/drawing/2014/main" id="{8829D508-0983-9257-441A-E886C2A428FA}"/>
              </a:ext>
            </a:extLst>
          </p:cNvPr>
          <p:cNvGrpSpPr/>
          <p:nvPr/>
        </p:nvGrpSpPr>
        <p:grpSpPr>
          <a:xfrm>
            <a:off x="935285" y="2346885"/>
            <a:ext cx="4112428" cy="1564570"/>
            <a:chOff x="973739" y="2235078"/>
            <a:chExt cx="6194782" cy="1392352"/>
          </a:xfrm>
        </p:grpSpPr>
        <p:grpSp>
          <p:nvGrpSpPr>
            <p:cNvPr id="13" name="群組 36">
              <a:extLst>
                <a:ext uri="{FF2B5EF4-FFF2-40B4-BE49-F238E27FC236}">
                  <a16:creationId xmlns:a16="http://schemas.microsoft.com/office/drawing/2014/main" id="{B1DDFC0C-56B6-ACB1-683A-C625D4644246}"/>
                </a:ext>
              </a:extLst>
            </p:cNvPr>
            <p:cNvGrpSpPr/>
            <p:nvPr/>
          </p:nvGrpSpPr>
          <p:grpSpPr>
            <a:xfrm>
              <a:off x="973739" y="2235078"/>
              <a:ext cx="6194782" cy="1392352"/>
              <a:chOff x="3371513" y="1310835"/>
              <a:chExt cx="6777569" cy="1392352"/>
            </a:xfrm>
          </p:grpSpPr>
          <p:sp>
            <p:nvSpPr>
              <p:cNvPr id="15" name="矩形: 圓角化同側角落 9">
                <a:extLst>
                  <a:ext uri="{FF2B5EF4-FFF2-40B4-BE49-F238E27FC236}">
                    <a16:creationId xmlns:a16="http://schemas.microsoft.com/office/drawing/2014/main" id="{096767CE-A4BA-6F60-BB71-061E71A09BB7}"/>
                  </a:ext>
                </a:extLst>
              </p:cNvPr>
              <p:cNvSpPr/>
              <p:nvPr/>
            </p:nvSpPr>
            <p:spPr>
              <a:xfrm flipV="1">
                <a:off x="3371513" y="1708547"/>
                <a:ext cx="6777569" cy="994640"/>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6" name="矩形: 圓角化同側角落 14">
                <a:extLst>
                  <a:ext uri="{FF2B5EF4-FFF2-40B4-BE49-F238E27FC236}">
                    <a16:creationId xmlns:a16="http://schemas.microsoft.com/office/drawing/2014/main" id="{E4F567FB-755B-9632-191C-626F7601C277}"/>
                  </a:ext>
                </a:extLst>
              </p:cNvPr>
              <p:cNvSpPr/>
              <p:nvPr/>
            </p:nvSpPr>
            <p:spPr>
              <a:xfrm>
                <a:off x="3371513" y="1310835"/>
                <a:ext cx="6777569"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7" name="文字方塊 15">
                <a:extLst>
                  <a:ext uri="{FF2B5EF4-FFF2-40B4-BE49-F238E27FC236}">
                    <a16:creationId xmlns:a16="http://schemas.microsoft.com/office/drawing/2014/main" id="{BEB15CF2-0424-D711-D4C0-1A7FE4A27F0E}"/>
                  </a:ext>
                </a:extLst>
              </p:cNvPr>
              <p:cNvSpPr txBox="1"/>
              <p:nvPr/>
            </p:nvSpPr>
            <p:spPr>
              <a:xfrm>
                <a:off x="5517012" y="1348886"/>
                <a:ext cx="2632624" cy="273899"/>
              </a:xfrm>
              <a:prstGeom prst="rect">
                <a:avLst/>
              </a:prstGeom>
              <a:noFill/>
              <a:ln>
                <a:noFill/>
              </a:ln>
            </p:spPr>
            <p:txBody>
              <a:bodyPr wrap="square">
                <a:spAutoFit/>
              </a:bodyPr>
              <a:lstStyle/>
              <a:p>
                <a:pPr algn="ctr"/>
                <a:r>
                  <a:rPr lang="en-US" altLang="zh-TW" b="1" dirty="0"/>
                  <a:t>Task Duration</a:t>
                </a:r>
              </a:p>
            </p:txBody>
          </p:sp>
        </p:grpSp>
        <p:sp>
          <p:nvSpPr>
            <p:cNvPr id="14" name="文字方塊 48">
              <a:extLst>
                <a:ext uri="{FF2B5EF4-FFF2-40B4-BE49-F238E27FC236}">
                  <a16:creationId xmlns:a16="http://schemas.microsoft.com/office/drawing/2014/main" id="{92473FEB-0E11-0F5A-41FA-F1031A9F4CFC}"/>
                </a:ext>
              </a:extLst>
            </p:cNvPr>
            <p:cNvSpPr txBox="1"/>
            <p:nvPr/>
          </p:nvSpPr>
          <p:spPr>
            <a:xfrm>
              <a:off x="1107234" y="2728562"/>
              <a:ext cx="6061287" cy="794305"/>
            </a:xfrm>
            <a:prstGeom prst="rect">
              <a:avLst/>
            </a:prstGeom>
            <a:noFill/>
            <a:ln>
              <a:noFill/>
            </a:ln>
          </p:spPr>
          <p:txBody>
            <a:bodyPr wrap="square">
              <a:spAutoFit/>
            </a:bodyPr>
            <a:lstStyle/>
            <a:p>
              <a:pPr marL="285750" indent="-285750">
                <a:spcAft>
                  <a:spcPts val="600"/>
                </a:spcAft>
                <a:buFont typeface="Wingdings" pitchFamily="2" charset="2"/>
                <a:buChar char="§"/>
              </a:pPr>
              <a:r>
                <a:rPr lang="en-US" altLang="zh-TW" dirty="0"/>
                <a:t>Execution delay</a:t>
              </a:r>
            </a:p>
            <a:p>
              <a:pPr marL="285750" indent="-285750">
                <a:spcAft>
                  <a:spcPts val="600"/>
                </a:spcAft>
                <a:buFont typeface="Wingdings" pitchFamily="2" charset="2"/>
                <a:buChar char="§"/>
              </a:pPr>
              <a:r>
                <a:rPr lang="en-US" altLang="zh-TW" dirty="0"/>
                <a:t>Queuing / transmission / propagation delay</a:t>
              </a:r>
            </a:p>
            <a:p>
              <a:pPr marL="285750" indent="-285750">
                <a:spcAft>
                  <a:spcPts val="600"/>
                </a:spcAft>
                <a:buFont typeface="Wingdings" pitchFamily="2" charset="2"/>
                <a:buChar char="§"/>
              </a:pPr>
              <a:r>
                <a:rPr lang="en-US" altLang="zh-TW" dirty="0"/>
                <a:t>Coordination overhead</a:t>
              </a:r>
            </a:p>
          </p:txBody>
        </p:sp>
      </p:grpSp>
      <p:grpSp>
        <p:nvGrpSpPr>
          <p:cNvPr id="19" name="群組 53">
            <a:extLst>
              <a:ext uri="{FF2B5EF4-FFF2-40B4-BE49-F238E27FC236}">
                <a16:creationId xmlns:a16="http://schemas.microsoft.com/office/drawing/2014/main" id="{696EB922-D22D-3E4E-48AA-85CAF0AB23E5}"/>
              </a:ext>
            </a:extLst>
          </p:cNvPr>
          <p:cNvGrpSpPr/>
          <p:nvPr/>
        </p:nvGrpSpPr>
        <p:grpSpPr>
          <a:xfrm>
            <a:off x="5266409" y="1248797"/>
            <a:ext cx="2858087" cy="2348910"/>
            <a:chOff x="973739" y="2235078"/>
            <a:chExt cx="4305297" cy="2039510"/>
          </a:xfrm>
        </p:grpSpPr>
        <p:grpSp>
          <p:nvGrpSpPr>
            <p:cNvPr id="20" name="群組 36">
              <a:extLst>
                <a:ext uri="{FF2B5EF4-FFF2-40B4-BE49-F238E27FC236}">
                  <a16:creationId xmlns:a16="http://schemas.microsoft.com/office/drawing/2014/main" id="{C2B8D2D4-47F3-C141-D738-4916333F77C0}"/>
                </a:ext>
              </a:extLst>
            </p:cNvPr>
            <p:cNvGrpSpPr/>
            <p:nvPr/>
          </p:nvGrpSpPr>
          <p:grpSpPr>
            <a:xfrm>
              <a:off x="973739" y="2235078"/>
              <a:ext cx="4305297" cy="2039510"/>
              <a:chOff x="3371513" y="1310835"/>
              <a:chExt cx="4710327" cy="2039510"/>
            </a:xfrm>
          </p:grpSpPr>
          <p:sp>
            <p:nvSpPr>
              <p:cNvPr id="22" name="矩形: 圓角化同側角落 9">
                <a:extLst>
                  <a:ext uri="{FF2B5EF4-FFF2-40B4-BE49-F238E27FC236}">
                    <a16:creationId xmlns:a16="http://schemas.microsoft.com/office/drawing/2014/main" id="{DA681D54-2A2E-67F4-8C89-4E94D18653F5}"/>
                  </a:ext>
                </a:extLst>
              </p:cNvPr>
              <p:cNvSpPr/>
              <p:nvPr/>
            </p:nvSpPr>
            <p:spPr>
              <a:xfrm flipV="1">
                <a:off x="3371513" y="1708544"/>
                <a:ext cx="4710327" cy="1641801"/>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23" name="矩形: 圓角化同側角落 14">
                <a:extLst>
                  <a:ext uri="{FF2B5EF4-FFF2-40B4-BE49-F238E27FC236}">
                    <a16:creationId xmlns:a16="http://schemas.microsoft.com/office/drawing/2014/main" id="{93E88F46-541B-0535-F500-6CCC45E8B1BC}"/>
                  </a:ext>
                </a:extLst>
              </p:cNvPr>
              <p:cNvSpPr/>
              <p:nvPr/>
            </p:nvSpPr>
            <p:spPr>
              <a:xfrm>
                <a:off x="3371513" y="1310835"/>
                <a:ext cx="4710327"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24" name="文字方塊 15">
                <a:extLst>
                  <a:ext uri="{FF2B5EF4-FFF2-40B4-BE49-F238E27FC236}">
                    <a16:creationId xmlns:a16="http://schemas.microsoft.com/office/drawing/2014/main" id="{2B97D1E2-1577-00C2-964E-09629134D181}"/>
                  </a:ext>
                </a:extLst>
              </p:cNvPr>
              <p:cNvSpPr txBox="1"/>
              <p:nvPr/>
            </p:nvSpPr>
            <p:spPr>
              <a:xfrm>
                <a:off x="4077279" y="1390392"/>
                <a:ext cx="3298792" cy="267236"/>
              </a:xfrm>
              <a:prstGeom prst="rect">
                <a:avLst/>
              </a:prstGeom>
              <a:noFill/>
              <a:ln>
                <a:noFill/>
              </a:ln>
            </p:spPr>
            <p:txBody>
              <a:bodyPr wrap="square">
                <a:spAutoFit/>
              </a:bodyPr>
              <a:lstStyle/>
              <a:p>
                <a:pPr algn="ctr"/>
                <a:r>
                  <a:rPr lang="en-US" altLang="zh-TW" b="1" dirty="0"/>
                  <a:t>Main Constraints</a:t>
                </a:r>
              </a:p>
            </p:txBody>
          </p:sp>
        </p:grpSp>
        <p:sp>
          <p:nvSpPr>
            <p:cNvPr id="21" name="文字方塊 48">
              <a:extLst>
                <a:ext uri="{FF2B5EF4-FFF2-40B4-BE49-F238E27FC236}">
                  <a16:creationId xmlns:a16="http://schemas.microsoft.com/office/drawing/2014/main" id="{BDB10317-E423-7830-6EA2-32988659D0CD}"/>
                </a:ext>
              </a:extLst>
            </p:cNvPr>
            <p:cNvSpPr txBox="1"/>
            <p:nvPr/>
          </p:nvSpPr>
          <p:spPr>
            <a:xfrm>
              <a:off x="1107235" y="2728562"/>
              <a:ext cx="3984213" cy="1229286"/>
            </a:xfrm>
            <a:prstGeom prst="rect">
              <a:avLst/>
            </a:prstGeom>
            <a:noFill/>
            <a:ln>
              <a:noFill/>
            </a:ln>
          </p:spPr>
          <p:txBody>
            <a:bodyPr wrap="square">
              <a:spAutoFit/>
            </a:bodyPr>
            <a:lstStyle/>
            <a:p>
              <a:pPr marL="285750" indent="-285750">
                <a:spcAft>
                  <a:spcPts val="1200"/>
                </a:spcAft>
                <a:buFont typeface="Wingdings" pitchFamily="2" charset="2"/>
                <a:buChar char="§"/>
              </a:pPr>
              <a:r>
                <a:rPr lang="en-US" altLang="zh-TW" dirty="0"/>
                <a:t>Task-specific deadlines</a:t>
              </a:r>
            </a:p>
            <a:p>
              <a:pPr marL="285750" indent="-285750">
                <a:spcAft>
                  <a:spcPts val="1200"/>
                </a:spcAft>
                <a:buFont typeface="Wingdings" pitchFamily="2" charset="2"/>
                <a:buChar char="§"/>
              </a:pPr>
              <a:r>
                <a:rPr lang="en-US" altLang="zh-TW" dirty="0"/>
                <a:t>Limited compute</a:t>
              </a:r>
            </a:p>
            <a:p>
              <a:pPr marL="285750" indent="-285750">
                <a:spcAft>
                  <a:spcPts val="1200"/>
                </a:spcAft>
                <a:buFont typeface="Wingdings" pitchFamily="2" charset="2"/>
                <a:buChar char="§"/>
              </a:pPr>
              <a:r>
                <a:rPr lang="en-US" altLang="zh-TW" dirty="0"/>
                <a:t>Limited radio resources </a:t>
              </a:r>
            </a:p>
            <a:p>
              <a:pPr marL="285750" indent="-285750">
                <a:spcAft>
                  <a:spcPts val="1200"/>
                </a:spcAft>
                <a:buFont typeface="Wingdings" pitchFamily="2" charset="2"/>
                <a:buChar char="§"/>
              </a:pPr>
              <a:r>
                <a:rPr lang="en-US" altLang="zh-TW" dirty="0"/>
                <a:t>Non-preemptive execution</a:t>
              </a:r>
            </a:p>
          </p:txBody>
        </p:sp>
      </p:grpSp>
      <p:sp>
        <p:nvSpPr>
          <p:cNvPr id="3" name="Slide Number Placeholder 2">
            <a:extLst>
              <a:ext uri="{FF2B5EF4-FFF2-40B4-BE49-F238E27FC236}">
                <a16:creationId xmlns:a16="http://schemas.microsoft.com/office/drawing/2014/main" id="{F6152FFA-97F9-E308-EDFE-DEA6C4F7A9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4" name="TextBox 3">
            <a:extLst>
              <a:ext uri="{FF2B5EF4-FFF2-40B4-BE49-F238E27FC236}">
                <a16:creationId xmlns:a16="http://schemas.microsoft.com/office/drawing/2014/main" id="{31A72802-A7A0-B7BD-1A31-D011FEB75B1E}"/>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349671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A4AA-AB28-4B88-6015-889457EDA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024E3-4296-B3D9-70D7-D2FED2A05547}"/>
              </a:ext>
            </a:extLst>
          </p:cNvPr>
          <p:cNvSpPr>
            <a:spLocks noGrp="1"/>
          </p:cNvSpPr>
          <p:nvPr>
            <p:ph type="title"/>
          </p:nvPr>
        </p:nvSpPr>
        <p:spPr/>
        <p:txBody>
          <a:bodyPr/>
          <a:lstStyle/>
          <a:p>
            <a:r>
              <a:rPr lang="en-US" sz="2200" b="1" dirty="0">
                <a:solidFill>
                  <a:srgbClr val="C01F21"/>
                </a:solidFill>
              </a:rPr>
              <a:t>What is Missing in Prior Vehicular Offloading Work?</a:t>
            </a:r>
          </a:p>
        </p:txBody>
      </p:sp>
      <p:sp>
        <p:nvSpPr>
          <p:cNvPr id="7" name="TextBox 6">
            <a:extLst>
              <a:ext uri="{FF2B5EF4-FFF2-40B4-BE49-F238E27FC236}">
                <a16:creationId xmlns:a16="http://schemas.microsoft.com/office/drawing/2014/main" id="{92471CCA-06FF-C1CD-C6F2-11558FD2B192}"/>
              </a:ext>
            </a:extLst>
          </p:cNvPr>
          <p:cNvSpPr txBox="1"/>
          <p:nvPr/>
        </p:nvSpPr>
        <p:spPr>
          <a:xfrm>
            <a:off x="770211" y="3630137"/>
            <a:ext cx="8060923" cy="738664"/>
          </a:xfrm>
          <a:prstGeom prst="rect">
            <a:avLst/>
          </a:prstGeom>
          <a:noFill/>
        </p:spPr>
        <p:txBody>
          <a:bodyPr wrap="square" rtlCol="0">
            <a:spAutoFit/>
          </a:bodyPr>
          <a:lstStyle/>
          <a:p>
            <a:r>
              <a:rPr lang="en-US" b="1" dirty="0">
                <a:solidFill>
                  <a:srgbClr val="C01F21"/>
                </a:solidFill>
              </a:rPr>
              <a:t>Existing methods often optimize only part of the system and do not fully capture realistic end-to-end behavior.</a:t>
            </a:r>
          </a:p>
          <a:p>
            <a:endParaRPr lang="en-US" dirty="0"/>
          </a:p>
        </p:txBody>
      </p:sp>
      <p:graphicFrame>
        <p:nvGraphicFramePr>
          <p:cNvPr id="8" name="Table 7">
            <a:extLst>
              <a:ext uri="{FF2B5EF4-FFF2-40B4-BE49-F238E27FC236}">
                <a16:creationId xmlns:a16="http://schemas.microsoft.com/office/drawing/2014/main" id="{A5E313C6-9C8C-B1A6-6218-C668AE49EDA4}"/>
              </a:ext>
            </a:extLst>
          </p:cNvPr>
          <p:cNvGraphicFramePr>
            <a:graphicFrameLocks noGrp="1"/>
          </p:cNvGraphicFramePr>
          <p:nvPr>
            <p:extLst>
              <p:ext uri="{D42A27DB-BD31-4B8C-83A1-F6EECF244321}">
                <p14:modId xmlns:p14="http://schemas.microsoft.com/office/powerpoint/2010/main" val="2470299571"/>
              </p:ext>
            </p:extLst>
          </p:nvPr>
        </p:nvGraphicFramePr>
        <p:xfrm>
          <a:off x="1043387" y="1080926"/>
          <a:ext cx="6814314" cy="2194560"/>
        </p:xfrm>
        <a:graphic>
          <a:graphicData uri="http://schemas.openxmlformats.org/drawingml/2006/table">
            <a:tbl>
              <a:tblPr>
                <a:effectLst/>
              </a:tblPr>
              <a:tblGrid>
                <a:gridCol w="1916493">
                  <a:extLst>
                    <a:ext uri="{9D8B030D-6E8A-4147-A177-3AD203B41FA5}">
                      <a16:colId xmlns:a16="http://schemas.microsoft.com/office/drawing/2014/main" val="477958958"/>
                    </a:ext>
                  </a:extLst>
                </a:gridCol>
                <a:gridCol w="2091559">
                  <a:extLst>
                    <a:ext uri="{9D8B030D-6E8A-4147-A177-3AD203B41FA5}">
                      <a16:colId xmlns:a16="http://schemas.microsoft.com/office/drawing/2014/main" val="1594488846"/>
                    </a:ext>
                  </a:extLst>
                </a:gridCol>
                <a:gridCol w="2806262">
                  <a:extLst>
                    <a:ext uri="{9D8B030D-6E8A-4147-A177-3AD203B41FA5}">
                      <a16:colId xmlns:a16="http://schemas.microsoft.com/office/drawing/2014/main" val="2698435119"/>
                    </a:ext>
                  </a:extLst>
                </a:gridCol>
              </a:tblGrid>
              <a:tr h="365760">
                <a:tc>
                  <a:txBody>
                    <a:bodyPr/>
                    <a:lstStyle/>
                    <a:p>
                      <a:pPr algn="l">
                        <a:buNone/>
                      </a:pPr>
                      <a:r>
                        <a:rPr lang="en-US" sz="1000" b="1" dirty="0">
                          <a:ln>
                            <a:noFill/>
                          </a:ln>
                          <a:solidFill>
                            <a:srgbClr val="000000"/>
                          </a:solidFill>
                        </a:rPr>
                        <a:t>Research Dimension</a:t>
                      </a:r>
                      <a:endParaRPr lang="en-US" sz="10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a:buNone/>
                      </a:pPr>
                      <a:r>
                        <a:rPr lang="en-US" sz="1000" b="1" dirty="0">
                          <a:ln>
                            <a:noFill/>
                          </a:ln>
                          <a:solidFill>
                            <a:srgbClr val="000000"/>
                          </a:solidFill>
                        </a:rPr>
                        <a:t>Typical Setting</a:t>
                      </a:r>
                      <a:endParaRPr lang="en-US" sz="10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a:buNone/>
                      </a:pPr>
                      <a:r>
                        <a:rPr lang="en-US" sz="1000" b="1" dirty="0">
                          <a:ln>
                            <a:noFill/>
                          </a:ln>
                          <a:solidFill>
                            <a:srgbClr val="000000"/>
                          </a:solidFill>
                        </a:rPr>
                        <a:t>Limitation</a:t>
                      </a: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25993"/>
                  </a:ext>
                </a:extLst>
              </a:tr>
              <a:tr h="365760">
                <a:tc>
                  <a:txBody>
                    <a:bodyPr/>
                    <a:lstStyle/>
                    <a:p>
                      <a:pPr algn="l">
                        <a:buNone/>
                      </a:pPr>
                      <a:r>
                        <a:rPr lang="en-US" sz="1000" b="0" dirty="0">
                          <a:ln>
                            <a:noFill/>
                          </a:ln>
                          <a:solidFill>
                            <a:srgbClr val="000000"/>
                          </a:solidFill>
                        </a:rPr>
                        <a:t>Offloading Topology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b="0" dirty="0">
                          <a:solidFill>
                            <a:srgbClr val="000000"/>
                          </a:solidFill>
                        </a:rPr>
                        <a:t>Local-edge or local-cloud</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b="0" dirty="0">
                          <a:solidFill>
                            <a:srgbClr val="000000"/>
                          </a:solidFill>
                        </a:rPr>
                        <a:t>Limited flexibility across deployment settings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1562630"/>
                  </a:ext>
                </a:extLst>
              </a:tr>
              <a:tr h="365760">
                <a:tc>
                  <a:txBody>
                    <a:bodyPr/>
                    <a:lstStyle/>
                    <a:p>
                      <a:pPr algn="l">
                        <a:buNone/>
                      </a:pPr>
                      <a:r>
                        <a:rPr lang="en-US" sz="1000" b="0" dirty="0">
                          <a:ln>
                            <a:noFill/>
                          </a:ln>
                          <a:solidFill>
                            <a:srgbClr val="000000"/>
                          </a:solidFill>
                        </a:rPr>
                        <a:t>Resource Allocation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000" b="0" dirty="0">
                          <a:solidFill>
                            <a:srgbClr val="000000"/>
                          </a:solidFill>
                        </a:rPr>
                        <a:t>Compute-only or radio-only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000" b="0" dirty="0">
                          <a:solidFill>
                            <a:srgbClr val="000000"/>
                          </a:solidFill>
                        </a:rPr>
                        <a:t>Missing couple effects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927000"/>
                  </a:ext>
                </a:extLst>
              </a:tr>
              <a:tr h="365760">
                <a:tc>
                  <a:txBody>
                    <a:bodyPr/>
                    <a:lstStyle/>
                    <a:p>
                      <a:pPr algn="l">
                        <a:buNone/>
                      </a:pPr>
                      <a:r>
                        <a:rPr lang="en-US" sz="1000" b="0" dirty="0">
                          <a:ln>
                            <a:noFill/>
                          </a:ln>
                          <a:solidFill>
                            <a:srgbClr val="000000"/>
                          </a:solidFill>
                        </a:rPr>
                        <a:t>Decision Strategy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000" b="0" dirty="0">
                          <a:solidFill>
                            <a:srgbClr val="000000"/>
                          </a:solidFill>
                        </a:rPr>
                        <a:t>Offline or periodic</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000" b="0" dirty="0">
                          <a:solidFill>
                            <a:srgbClr val="000000"/>
                          </a:solidFill>
                        </a:rPr>
                        <a:t>Less suitable for dynamic environments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978038"/>
                  </a:ext>
                </a:extLst>
              </a:tr>
              <a:tr h="365760">
                <a:tc>
                  <a:txBody>
                    <a:bodyPr/>
                    <a:lstStyle/>
                    <a:p>
                      <a:pPr algn="l">
                        <a:buNone/>
                      </a:pPr>
                      <a:r>
                        <a:rPr lang="en-US" sz="1000" b="0" dirty="0">
                          <a:ln>
                            <a:noFill/>
                          </a:ln>
                          <a:solidFill>
                            <a:srgbClr val="000000"/>
                          </a:solidFill>
                        </a:rPr>
                        <a:t>Control Mechanism</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b="0" dirty="0">
                          <a:solidFill>
                            <a:srgbClr val="000000"/>
                          </a:solidFill>
                        </a:rPr>
                        <a:t>Centralized</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b="0" dirty="0">
                          <a:solidFill>
                            <a:srgbClr val="000000"/>
                          </a:solidFill>
                        </a:rPr>
                        <a:t>High coordination overhead</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46556"/>
                  </a:ext>
                </a:extLst>
              </a:tr>
              <a:tr h="365760">
                <a:tc>
                  <a:txBody>
                    <a:bodyPr/>
                    <a:lstStyle/>
                    <a:p>
                      <a:pPr algn="l">
                        <a:buNone/>
                      </a:pPr>
                      <a:r>
                        <a:rPr lang="en-US" sz="1000" b="0" dirty="0">
                          <a:ln>
                            <a:noFill/>
                          </a:ln>
                          <a:solidFill>
                            <a:srgbClr val="000000"/>
                          </a:solidFill>
                        </a:rPr>
                        <a:t>Task Duration Modeling</a:t>
                      </a:r>
                    </a:p>
                  </a:txBody>
                  <a:tcPr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a:buNone/>
                      </a:pPr>
                      <a:r>
                        <a:rPr lang="en-US" sz="1000" b="0" dirty="0">
                          <a:solidFill>
                            <a:srgbClr val="000000"/>
                          </a:solidFill>
                        </a:rPr>
                        <a:t>Only execution delay</a:t>
                      </a:r>
                    </a:p>
                  </a:txBody>
                  <a:tcPr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a:buNone/>
                      </a:pPr>
                      <a:r>
                        <a:rPr lang="en-US" sz="1000" b="0" dirty="0">
                          <a:solidFill>
                            <a:srgbClr val="000000"/>
                          </a:solidFill>
                        </a:rPr>
                        <a:t>underestimates end-to-end delay</a:t>
                      </a:r>
                    </a:p>
                  </a:txBody>
                  <a:tcPr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1003588"/>
                  </a:ext>
                </a:extLst>
              </a:tr>
            </a:tbl>
          </a:graphicData>
        </a:graphic>
      </p:graphicFrame>
      <p:sp>
        <p:nvSpPr>
          <p:cNvPr id="3" name="Slide Number Placeholder 2">
            <a:extLst>
              <a:ext uri="{FF2B5EF4-FFF2-40B4-BE49-F238E27FC236}">
                <a16:creationId xmlns:a16="http://schemas.microsoft.com/office/drawing/2014/main" id="{959B62FA-14F0-C531-7D85-15CFE32D47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4" name="TextBox 3">
            <a:extLst>
              <a:ext uri="{FF2B5EF4-FFF2-40B4-BE49-F238E27FC236}">
                <a16:creationId xmlns:a16="http://schemas.microsoft.com/office/drawing/2014/main" id="{0EA71C28-1B8B-26CF-6224-1861FA6A3FF6}"/>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60855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16C1-98A5-0560-111B-8280F0562931}"/>
              </a:ext>
            </a:extLst>
          </p:cNvPr>
          <p:cNvSpPr>
            <a:spLocks noGrp="1"/>
          </p:cNvSpPr>
          <p:nvPr>
            <p:ph type="title"/>
          </p:nvPr>
        </p:nvSpPr>
        <p:spPr/>
        <p:txBody>
          <a:bodyPr/>
          <a:lstStyle/>
          <a:p>
            <a:r>
              <a:rPr lang="en-US" sz="2200" b="1" dirty="0">
                <a:solidFill>
                  <a:srgbClr val="C01F21"/>
                </a:solidFill>
              </a:rPr>
              <a:t>TODORA:</a:t>
            </a:r>
            <a:br>
              <a:rPr lang="en-US" sz="2200" b="1" dirty="0">
                <a:solidFill>
                  <a:srgbClr val="C01F21"/>
                </a:solidFill>
              </a:rPr>
            </a:br>
            <a:r>
              <a:rPr lang="en-US" sz="2200" b="1" dirty="0">
                <a:solidFill>
                  <a:srgbClr val="C01F21"/>
                </a:solidFill>
              </a:rPr>
              <a:t>Online Distributed Offloading and Resource Allocation</a:t>
            </a:r>
            <a:br>
              <a:rPr lang="en-US" sz="2400" dirty="0"/>
            </a:br>
            <a:endParaRPr lang="en-US" sz="2200" b="1" dirty="0">
              <a:solidFill>
                <a:srgbClr val="C01F21"/>
              </a:solidFill>
            </a:endParaRPr>
          </a:p>
        </p:txBody>
      </p:sp>
      <p:sp>
        <p:nvSpPr>
          <p:cNvPr id="5" name="Slide Number Placeholder 4">
            <a:extLst>
              <a:ext uri="{FF2B5EF4-FFF2-40B4-BE49-F238E27FC236}">
                <a16:creationId xmlns:a16="http://schemas.microsoft.com/office/drawing/2014/main" id="{859247E7-0D34-FAA6-9738-795352347D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7" name="Picture 6">
            <a:extLst>
              <a:ext uri="{FF2B5EF4-FFF2-40B4-BE49-F238E27FC236}">
                <a16:creationId xmlns:a16="http://schemas.microsoft.com/office/drawing/2014/main" id="{2ED48C77-0919-CBD5-F8FF-5C067F238DFD}"/>
              </a:ext>
            </a:extLst>
          </p:cNvPr>
          <p:cNvPicPr>
            <a:picLocks noChangeAspect="1"/>
          </p:cNvPicPr>
          <p:nvPr/>
        </p:nvPicPr>
        <p:blipFill>
          <a:blip r:embed="rId3"/>
          <a:stretch>
            <a:fillRect/>
          </a:stretch>
        </p:blipFill>
        <p:spPr>
          <a:xfrm>
            <a:off x="358380" y="1704308"/>
            <a:ext cx="4179532" cy="1798466"/>
          </a:xfrm>
          <a:prstGeom prst="rect">
            <a:avLst/>
          </a:prstGeom>
        </p:spPr>
      </p:pic>
      <p:sp>
        <p:nvSpPr>
          <p:cNvPr id="8" name="TextBox 7">
            <a:extLst>
              <a:ext uri="{FF2B5EF4-FFF2-40B4-BE49-F238E27FC236}">
                <a16:creationId xmlns:a16="http://schemas.microsoft.com/office/drawing/2014/main" id="{61256F45-FC1D-3C9B-2A50-7B1E75DA7717}"/>
              </a:ext>
            </a:extLst>
          </p:cNvPr>
          <p:cNvSpPr txBox="1"/>
          <p:nvPr/>
        </p:nvSpPr>
        <p:spPr>
          <a:xfrm>
            <a:off x="4603530" y="1640726"/>
            <a:ext cx="3974005" cy="1862048"/>
          </a:xfrm>
          <a:prstGeom prst="rect">
            <a:avLst/>
          </a:prstGeom>
          <a:noFill/>
        </p:spPr>
        <p:txBody>
          <a:bodyPr wrap="square" rtlCol="0">
            <a:spAutoFit/>
          </a:bodyPr>
          <a:lstStyle/>
          <a:p>
            <a:pPr marL="342900" indent="-342900">
              <a:spcAft>
                <a:spcPts val="1800"/>
              </a:spcAft>
              <a:buFont typeface="+mj-lt"/>
              <a:buAutoNum type="arabicPeriod"/>
            </a:pPr>
            <a:r>
              <a:rPr lang="en-US" dirty="0"/>
              <a:t>Tasks are assigned priority</a:t>
            </a:r>
          </a:p>
          <a:p>
            <a:pPr marL="342900" indent="-342900">
              <a:spcAft>
                <a:spcPts val="1800"/>
              </a:spcAft>
              <a:buFont typeface="+mj-lt"/>
              <a:buAutoNum type="arabicPeriod"/>
            </a:pPr>
            <a:r>
              <a:rPr lang="en-US" dirty="0"/>
              <a:t>Perform local feasibility screening</a:t>
            </a:r>
          </a:p>
          <a:p>
            <a:pPr marL="342900" indent="-342900">
              <a:spcAft>
                <a:spcPts val="1800"/>
              </a:spcAft>
              <a:buFont typeface="+mj-lt"/>
              <a:buAutoNum type="arabicPeriod"/>
            </a:pPr>
            <a:r>
              <a:rPr lang="en-US" dirty="0"/>
              <a:t>Send uncertain cases to the RSU scheduler</a:t>
            </a:r>
          </a:p>
          <a:p>
            <a:pPr marL="342900" indent="-342900">
              <a:spcAft>
                <a:spcPts val="1800"/>
              </a:spcAft>
              <a:buFont typeface="+mj-lt"/>
              <a:buAutoNum type="arabicPeriod"/>
            </a:pPr>
            <a:r>
              <a:rPr lang="en-US" dirty="0"/>
              <a:t>Allocate radio and computation resources by priority</a:t>
            </a:r>
          </a:p>
        </p:txBody>
      </p:sp>
      <p:sp>
        <p:nvSpPr>
          <p:cNvPr id="3" name="TextBox 2">
            <a:extLst>
              <a:ext uri="{FF2B5EF4-FFF2-40B4-BE49-F238E27FC236}">
                <a16:creationId xmlns:a16="http://schemas.microsoft.com/office/drawing/2014/main" id="{6B20EAC3-12E5-DD3F-31E3-E377484BC4BC}"/>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1706417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2815-BCB2-B55A-9485-5F671DCA0086}"/>
              </a:ext>
            </a:extLst>
          </p:cNvPr>
          <p:cNvSpPr>
            <a:spLocks noGrp="1"/>
          </p:cNvSpPr>
          <p:nvPr>
            <p:ph type="title"/>
          </p:nvPr>
        </p:nvSpPr>
        <p:spPr/>
        <p:txBody>
          <a:bodyPr/>
          <a:lstStyle/>
          <a:p>
            <a:r>
              <a:rPr lang="en-US" sz="2200" b="1" dirty="0">
                <a:solidFill>
                  <a:srgbClr val="C01F21"/>
                </a:solidFill>
              </a:rPr>
              <a:t>TODORA: Key Ideas</a:t>
            </a:r>
          </a:p>
        </p:txBody>
      </p:sp>
      <p:sp>
        <p:nvSpPr>
          <p:cNvPr id="3" name="Text Placeholder 2">
            <a:extLst>
              <a:ext uri="{FF2B5EF4-FFF2-40B4-BE49-F238E27FC236}">
                <a16:creationId xmlns:a16="http://schemas.microsoft.com/office/drawing/2014/main" id="{6A1C1ADA-C27A-7A78-279C-AFD015BE9129}"/>
              </a:ext>
            </a:extLst>
          </p:cNvPr>
          <p:cNvSpPr>
            <a:spLocks noGrp="1"/>
          </p:cNvSpPr>
          <p:nvPr>
            <p:ph type="body" idx="1"/>
          </p:nvPr>
        </p:nvSpPr>
        <p:spPr>
          <a:xfrm>
            <a:off x="774339" y="2634925"/>
            <a:ext cx="7565571" cy="1756550"/>
          </a:xfrm>
          <a:ln>
            <a:noFill/>
          </a:ln>
        </p:spPr>
        <p:txBody>
          <a:bodyPr/>
          <a:lstStyle/>
          <a:p>
            <a:pPr marL="596900" lvl="1" indent="0">
              <a:buNone/>
            </a:pPr>
            <a:endParaRPr lang="en-US" sz="1200" dirty="0"/>
          </a:p>
          <a:p>
            <a:r>
              <a:rPr lang="en-US" sz="1400" dirty="0"/>
              <a:t>A two-layer decision system for low-overhead offloading</a:t>
            </a:r>
          </a:p>
          <a:p>
            <a:pPr lvl="1">
              <a:buFont typeface="Times New Roman" panose="02020603050405020304" pitchFamily="18" charset="0"/>
              <a:buChar char="→"/>
            </a:pPr>
            <a:r>
              <a:rPr lang="en-US" sz="1200" dirty="0">
                <a:solidFill>
                  <a:srgbClr val="0070C0"/>
                </a:solidFill>
              </a:rPr>
              <a:t>Local-first feasibility screening with piggybacked RSU state at the local vehicle.</a:t>
            </a:r>
          </a:p>
          <a:p>
            <a:pPr lvl="2">
              <a:buFont typeface="Wingdings" pitchFamily="2" charset="2"/>
              <a:buChar char="§"/>
            </a:pPr>
            <a:endParaRPr lang="en-US" sz="300" dirty="0"/>
          </a:p>
          <a:p>
            <a:pPr lvl="2">
              <a:buFont typeface="Wingdings" pitchFamily="2" charset="2"/>
              <a:buChar char="§"/>
            </a:pPr>
            <a:r>
              <a:rPr lang="en-US" sz="1000" dirty="0"/>
              <a:t>The RSU information is piggybacked in the latest offloading result received from the RSU.</a:t>
            </a:r>
          </a:p>
          <a:p>
            <a:pPr lvl="2">
              <a:buFont typeface="Wingdings" pitchFamily="2" charset="2"/>
              <a:buChar char="§"/>
            </a:pPr>
            <a:r>
              <a:rPr lang="en-US" sz="1000" dirty="0"/>
              <a:t>Executes locally when local completion is feasible and offloading cannot satisfy the same deadline.</a:t>
            </a:r>
          </a:p>
          <a:p>
            <a:pPr lvl="2">
              <a:buFont typeface="Wingdings" pitchFamily="2" charset="2"/>
              <a:buChar char="§"/>
            </a:pPr>
            <a:endParaRPr lang="en-US" sz="500" dirty="0"/>
          </a:p>
          <a:p>
            <a:pPr lvl="1">
              <a:buFont typeface="Times New Roman" panose="02020603050405020304" pitchFamily="18" charset="0"/>
              <a:buChar char="→"/>
            </a:pPr>
            <a:r>
              <a:rPr lang="en-US" sz="1200" dirty="0">
                <a:solidFill>
                  <a:srgbClr val="0070C0"/>
                </a:solidFill>
              </a:rPr>
              <a:t>Distributed delay-estimation-based scheduling at each RSU</a:t>
            </a:r>
          </a:p>
          <a:p>
            <a:pPr lvl="2"/>
            <a:endParaRPr lang="en-US" sz="1200" dirty="0"/>
          </a:p>
          <a:p>
            <a:endParaRPr lang="en-US" sz="1600" dirty="0"/>
          </a:p>
          <a:p>
            <a:pPr marL="596900" lvl="1" indent="0">
              <a:buNone/>
            </a:pPr>
            <a:endParaRPr lang="en-US" sz="12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B56337-7C16-AC41-DC95-A777BC0C5A73}"/>
                  </a:ext>
                </a:extLst>
              </p:cNvPr>
              <p:cNvSpPr txBox="1"/>
              <p:nvPr/>
            </p:nvSpPr>
            <p:spPr>
              <a:xfrm>
                <a:off x="1391565" y="1415844"/>
                <a:ext cx="2677168" cy="4460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𝑃𝑟𝑖𝑜𝑟𝑖𝑡𝑦</m:t>
                      </m:r>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m:t>
                          </m:r>
                        </m:num>
                        <m:den>
                          <m:rad>
                            <m:radPr>
                              <m:degHide m:val="on"/>
                              <m:ctrlPr>
                                <a:rPr lang="en-US" sz="1000" b="0" i="1" smtClean="0">
                                  <a:latin typeface="Cambria Math" panose="02040503050406030204" pitchFamily="18" charset="0"/>
                                </a:rPr>
                              </m:ctrlPr>
                            </m:radPr>
                            <m:deg/>
                            <m:e>
                              <m:r>
                                <a:rPr lang="en-US" sz="1000" i="1">
                                  <a:solidFill>
                                    <a:srgbClr val="0070C0"/>
                                  </a:solidFill>
                                  <a:latin typeface="Cambria Math" panose="02040503050406030204" pitchFamily="18" charset="0"/>
                                </a:rPr>
                                <m:t>𝑑𝑒𝑎𝑑𝑙𝑖𝑛𝑒</m:t>
                              </m:r>
                              <m:r>
                                <a:rPr lang="en-US" sz="1000" i="1">
                                  <a:latin typeface="Cambria Math" panose="02040503050406030204" pitchFamily="18" charset="0"/>
                                </a:rPr>
                                <m:t> </m:t>
                              </m:r>
                              <m:r>
                                <a:rPr lang="en-US" sz="1000" i="1">
                                  <a:latin typeface="Cambria Math" panose="02040503050406030204" pitchFamily="18" charset="0"/>
                                  <a:ea typeface="Cambria Math" panose="02040503050406030204" pitchFamily="18" charset="0"/>
                                </a:rPr>
                                <m:t>× </m:t>
                              </m:r>
                              <m:r>
                                <a:rPr lang="en-US" sz="1000" i="1">
                                  <a:latin typeface="Cambria Math" panose="02040503050406030204" pitchFamily="18" charset="0"/>
                                  <a:ea typeface="Cambria Math" panose="02040503050406030204" pitchFamily="18" charset="0"/>
                                </a:rPr>
                                <m:t>𝑟𝑒𝑞𝑢𝑖𝑟𝑒𝑑</m:t>
                              </m:r>
                              <m:r>
                                <a:rPr lang="en-US" sz="1000" i="1">
                                  <a:latin typeface="Cambria Math" panose="02040503050406030204" pitchFamily="18" charset="0"/>
                                  <a:ea typeface="Cambria Math" panose="02040503050406030204" pitchFamily="18" charset="0"/>
                                </a:rPr>
                                <m:t> </m:t>
                              </m:r>
                              <m:r>
                                <a:rPr lang="en-US" sz="1000" i="1">
                                  <a:latin typeface="Cambria Math" panose="02040503050406030204" pitchFamily="18" charset="0"/>
                                  <a:ea typeface="Cambria Math" panose="02040503050406030204" pitchFamily="18" charset="0"/>
                                </a:rPr>
                                <m:t>𝑐𝑜𝑚𝑝𝑢𝑡𝑒</m:t>
                              </m:r>
                            </m:e>
                          </m:rad>
                        </m:den>
                      </m:f>
                    </m:oMath>
                  </m:oMathPara>
                </a14:m>
                <a:endParaRPr lang="en-US" sz="1000" dirty="0"/>
              </a:p>
            </p:txBody>
          </p:sp>
        </mc:Choice>
        <mc:Fallback xmlns="">
          <p:sp>
            <p:nvSpPr>
              <p:cNvPr id="4" name="TextBox 3">
                <a:extLst>
                  <a:ext uri="{FF2B5EF4-FFF2-40B4-BE49-F238E27FC236}">
                    <a16:creationId xmlns:a16="http://schemas.microsoft.com/office/drawing/2014/main" id="{28B56337-7C16-AC41-DC95-A777BC0C5A73}"/>
                  </a:ext>
                </a:extLst>
              </p:cNvPr>
              <p:cNvSpPr txBox="1">
                <a:spLocks noRot="1" noChangeAspect="1" noMove="1" noResize="1" noEditPoints="1" noAdjustHandles="1" noChangeArrowheads="1" noChangeShapeType="1" noTextEdit="1"/>
              </p:cNvSpPr>
              <p:nvPr/>
            </p:nvSpPr>
            <p:spPr>
              <a:xfrm>
                <a:off x="1391565" y="1415844"/>
                <a:ext cx="2677168" cy="446084"/>
              </a:xfrm>
              <a:prstGeom prst="rect">
                <a:avLst/>
              </a:prstGeom>
              <a:blipFill>
                <a:blip r:embed="rId3"/>
                <a:stretch>
                  <a:fillRect b="-2778"/>
                </a:stretch>
              </a:blipFill>
            </p:spPr>
            <p:txBody>
              <a:bodyPr/>
              <a:lstStyle/>
              <a:p>
                <a:r>
                  <a:rPr lang="en-US">
                    <a:noFill/>
                  </a:rPr>
                  <a:t> </a:t>
                </a:r>
              </a:p>
            </p:txBody>
          </p:sp>
        </mc:Fallback>
      </mc:AlternateContent>
      <p:sp>
        <p:nvSpPr>
          <p:cNvPr id="5" name="Rounded Rectangle 4">
            <a:extLst>
              <a:ext uri="{FF2B5EF4-FFF2-40B4-BE49-F238E27FC236}">
                <a16:creationId xmlns:a16="http://schemas.microsoft.com/office/drawing/2014/main" id="{1C03B027-2C30-5B55-8D43-21298A24C193}"/>
              </a:ext>
            </a:extLst>
          </p:cNvPr>
          <p:cNvSpPr/>
          <p:nvPr/>
        </p:nvSpPr>
        <p:spPr>
          <a:xfrm>
            <a:off x="1423095" y="1381501"/>
            <a:ext cx="2669577" cy="516801"/>
          </a:xfrm>
          <a:prstGeom prst="roundRect">
            <a:avLst/>
          </a:prstGeom>
          <a:noFill/>
          <a:ln w="12700">
            <a:solidFill>
              <a:srgbClr val="C01F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34E00B7-E4DF-2ADA-C1BA-9583603E14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7" name="TextBox 6">
            <a:extLst>
              <a:ext uri="{FF2B5EF4-FFF2-40B4-BE49-F238E27FC236}">
                <a16:creationId xmlns:a16="http://schemas.microsoft.com/office/drawing/2014/main" id="{829E0053-1045-F8F5-C2C3-425EF5512056}"/>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
        <p:nvSpPr>
          <p:cNvPr id="9" name="TextBox 8">
            <a:extLst>
              <a:ext uri="{FF2B5EF4-FFF2-40B4-BE49-F238E27FC236}">
                <a16:creationId xmlns:a16="http://schemas.microsoft.com/office/drawing/2014/main" id="{338B0733-E117-02AC-7427-ACD2274EE00E}"/>
              </a:ext>
            </a:extLst>
          </p:cNvPr>
          <p:cNvSpPr txBox="1"/>
          <p:nvPr/>
        </p:nvSpPr>
        <p:spPr>
          <a:xfrm>
            <a:off x="774339" y="877254"/>
            <a:ext cx="7052489" cy="2042097"/>
          </a:xfrm>
          <a:prstGeom prst="rect">
            <a:avLst/>
          </a:prstGeom>
          <a:noFill/>
        </p:spPr>
        <p:txBody>
          <a:bodyPr wrap="square" rtlCol="0">
            <a:spAutoFit/>
          </a:bodyPr>
          <a:lstStyle/>
          <a:p>
            <a:pPr marL="457200" marR="0" lvl="0" indent="-342900" algn="l" defTabSz="914400" rtl="0" eaLnBrk="1" fontAlgn="auto" latinLnBrk="0" hangingPunct="1">
              <a:lnSpc>
                <a:spcPct val="115000"/>
              </a:lnSpc>
              <a:spcBef>
                <a:spcPts val="0"/>
              </a:spcBef>
              <a:spcAft>
                <a:spcPts val="0"/>
              </a:spcAft>
              <a:buClr>
                <a:srgbClr val="000000"/>
              </a:buClr>
              <a:buSzPts val="18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A unified priority function</a:t>
            </a: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endParaRPr kumimoji="0" lang="en-US" sz="1200" b="0" i="0" u="none" strike="noStrike" kern="0" cap="none" spc="0" normalizeH="0" baseline="0" noProof="0" dirty="0">
              <a:ln>
                <a:noFill/>
              </a:ln>
              <a:solidFill>
                <a:srgbClr val="0070C0"/>
              </a:solidFill>
              <a:effectLst/>
              <a:uLnTx/>
              <a:uFillTx/>
              <a:latin typeface="Arial"/>
              <a:cs typeface="Arial"/>
              <a:sym typeface="Arial"/>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endParaRPr lang="en-US" sz="1200" dirty="0">
              <a:solidFill>
                <a:srgbClr val="0070C0"/>
              </a:solidFill>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endParaRPr kumimoji="0" lang="en-US" sz="1200" b="0" i="0" u="none" strike="noStrike" kern="0" cap="none" spc="0" normalizeH="0" baseline="0" noProof="0" dirty="0">
              <a:ln>
                <a:noFill/>
              </a:ln>
              <a:solidFill>
                <a:srgbClr val="0070C0"/>
              </a:solidFill>
              <a:effectLst/>
              <a:uLnTx/>
              <a:uFillTx/>
              <a:latin typeface="Arial"/>
              <a:cs typeface="Arial"/>
              <a:sym typeface="Arial"/>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endParaRPr lang="en-US" sz="1200" dirty="0">
              <a:solidFill>
                <a:srgbClr val="0070C0"/>
              </a:solidFill>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r>
              <a:rPr kumimoji="0" lang="en-US" sz="1200" b="0" i="0" u="none" strike="noStrike" kern="0" cap="none" spc="0" normalizeH="0" baseline="0" noProof="0" dirty="0">
                <a:ln>
                  <a:noFill/>
                </a:ln>
                <a:solidFill>
                  <a:srgbClr val="0070C0"/>
                </a:solidFill>
                <a:effectLst/>
                <a:uLnTx/>
                <a:uFillTx/>
                <a:latin typeface="Arial"/>
                <a:cs typeface="Arial"/>
                <a:sym typeface="Arial"/>
              </a:rPr>
              <a:t>Prioritizes urgent and small tasks.</a:t>
            </a:r>
            <a:endParaRPr kumimoji="0" lang="en-US" sz="1200" b="0" i="0" u="none" strike="noStrike" kern="0" cap="none" spc="0" normalizeH="0" baseline="0" noProof="0" dirty="0">
              <a:ln>
                <a:noFill/>
              </a:ln>
              <a:solidFill>
                <a:srgbClr val="000000"/>
              </a:solidFill>
              <a:effectLst/>
              <a:uLnTx/>
              <a:uFillTx/>
              <a:latin typeface="Arial"/>
              <a:cs typeface="Arial"/>
              <a:sym typeface="Arial"/>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Inspired by Earliest Deadline First and Shortest Job First scheduling mechanism. </a:t>
            </a:r>
          </a:p>
          <a:p>
            <a:pPr marL="914400" marR="0" lvl="1" indent="-317500" algn="l" defTabSz="914400" rtl="0" eaLnBrk="1" fontAlgn="auto" latinLnBrk="0" hangingPunct="1">
              <a:lnSpc>
                <a:spcPct val="115000"/>
              </a:lnSpc>
              <a:spcBef>
                <a:spcPts val="0"/>
              </a:spcBef>
              <a:spcAft>
                <a:spcPts val="0"/>
              </a:spcAft>
              <a:buClr>
                <a:srgbClr val="000000"/>
              </a:buClr>
              <a:buSzPts val="1400"/>
              <a:buFont typeface="Times New Roman" panose="02020603050405020304" pitchFamily="18" charset="0"/>
              <a:buChar char="→"/>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The square root moderates overly aggressive penalization of large or less urgent tasks.</a:t>
            </a:r>
          </a:p>
          <a:p>
            <a:endParaRPr lang="en-US" dirty="0"/>
          </a:p>
        </p:txBody>
      </p:sp>
    </p:spTree>
    <p:extLst>
      <p:ext uri="{BB962C8B-B14F-4D97-AF65-F5344CB8AC3E}">
        <p14:creationId xmlns:p14="http://schemas.microsoft.com/office/powerpoint/2010/main" val="447590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7E8AA-F744-78A1-C3EB-EB0D99BDD1A5}"/>
              </a:ext>
            </a:extLst>
          </p:cNvPr>
          <p:cNvSpPr>
            <a:spLocks noGrp="1"/>
          </p:cNvSpPr>
          <p:nvPr>
            <p:ph type="title"/>
          </p:nvPr>
        </p:nvSpPr>
        <p:spPr/>
        <p:txBody>
          <a:bodyPr/>
          <a:lstStyle/>
          <a:p>
            <a:r>
              <a:rPr lang="en-US" sz="2200" b="1" dirty="0">
                <a:solidFill>
                  <a:srgbClr val="C01F21"/>
                </a:solidFill>
              </a:rPr>
              <a:t>TODORA Performance under Varying Vehicle Compute</a:t>
            </a:r>
          </a:p>
        </p:txBody>
      </p:sp>
      <p:sp>
        <p:nvSpPr>
          <p:cNvPr id="4" name="Slide Number Placeholder 3">
            <a:extLst>
              <a:ext uri="{FF2B5EF4-FFF2-40B4-BE49-F238E27FC236}">
                <a16:creationId xmlns:a16="http://schemas.microsoft.com/office/drawing/2014/main" id="{1D4E3E54-E501-BFDF-C213-B83CC7AD4C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6" name="TextBox 5">
            <a:extLst>
              <a:ext uri="{FF2B5EF4-FFF2-40B4-BE49-F238E27FC236}">
                <a16:creationId xmlns:a16="http://schemas.microsoft.com/office/drawing/2014/main" id="{75AC1479-CBB9-3499-2DDD-92F021833CA6}"/>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pic>
        <p:nvPicPr>
          <p:cNvPr id="10" name="Picture 9">
            <a:extLst>
              <a:ext uri="{FF2B5EF4-FFF2-40B4-BE49-F238E27FC236}">
                <a16:creationId xmlns:a16="http://schemas.microsoft.com/office/drawing/2014/main" id="{15C98BF4-D1E5-B643-BD2F-755187DF6034}"/>
              </a:ext>
            </a:extLst>
          </p:cNvPr>
          <p:cNvPicPr>
            <a:picLocks noChangeAspect="1"/>
          </p:cNvPicPr>
          <p:nvPr/>
        </p:nvPicPr>
        <p:blipFill>
          <a:blip r:embed="rId3"/>
          <a:stretch>
            <a:fillRect/>
          </a:stretch>
        </p:blipFill>
        <p:spPr>
          <a:xfrm>
            <a:off x="137776" y="1462419"/>
            <a:ext cx="4312768" cy="1742710"/>
          </a:xfrm>
          <a:prstGeom prst="rect">
            <a:avLst/>
          </a:prstGeom>
        </p:spPr>
      </p:pic>
      <p:sp>
        <p:nvSpPr>
          <p:cNvPr id="13" name="TextBox 12">
            <a:extLst>
              <a:ext uri="{FF2B5EF4-FFF2-40B4-BE49-F238E27FC236}">
                <a16:creationId xmlns:a16="http://schemas.microsoft.com/office/drawing/2014/main" id="{A4EE00E0-02C7-C836-587A-1409B6FD7D22}"/>
              </a:ext>
            </a:extLst>
          </p:cNvPr>
          <p:cNvSpPr txBox="1"/>
          <p:nvPr/>
        </p:nvSpPr>
        <p:spPr>
          <a:xfrm>
            <a:off x="675617" y="3504174"/>
            <a:ext cx="8060923" cy="738664"/>
          </a:xfrm>
          <a:prstGeom prst="rect">
            <a:avLst/>
          </a:prstGeom>
          <a:noFill/>
        </p:spPr>
        <p:txBody>
          <a:bodyPr wrap="square" rtlCol="0">
            <a:spAutoFit/>
          </a:bodyPr>
          <a:lstStyle/>
          <a:p>
            <a:r>
              <a:rPr lang="en-US" b="1" dirty="0">
                <a:solidFill>
                  <a:srgbClr val="C01F21"/>
                </a:solidFill>
              </a:rPr>
              <a:t>TODORA achieves the lowest end-to-end task duration and a task distribution similar to the optimal solution.</a:t>
            </a:r>
            <a:endParaRPr lang="en-US" dirty="0">
              <a:solidFill>
                <a:srgbClr val="C01F21"/>
              </a:solidFill>
            </a:endParaRPr>
          </a:p>
          <a:p>
            <a:endParaRPr lang="en-US" dirty="0"/>
          </a:p>
        </p:txBody>
      </p:sp>
      <p:sp>
        <p:nvSpPr>
          <p:cNvPr id="14" name="TextBox 13">
            <a:extLst>
              <a:ext uri="{FF2B5EF4-FFF2-40B4-BE49-F238E27FC236}">
                <a16:creationId xmlns:a16="http://schemas.microsoft.com/office/drawing/2014/main" id="{0548CE61-A710-1B90-7136-A6A2752CB9DE}"/>
              </a:ext>
            </a:extLst>
          </p:cNvPr>
          <p:cNvSpPr txBox="1"/>
          <p:nvPr/>
        </p:nvSpPr>
        <p:spPr>
          <a:xfrm>
            <a:off x="242324" y="832937"/>
            <a:ext cx="4103671" cy="477054"/>
          </a:xfrm>
          <a:prstGeom prst="rect">
            <a:avLst/>
          </a:prstGeom>
          <a:noFill/>
        </p:spPr>
        <p:txBody>
          <a:bodyPr wrap="square">
            <a:spAutoFit/>
          </a:bodyPr>
          <a:lstStyle/>
          <a:p>
            <a:pPr marL="285750" indent="-285750">
              <a:spcAft>
                <a:spcPts val="600"/>
              </a:spcAft>
              <a:buFont typeface="System Font Regular"/>
              <a:buChar char="*"/>
            </a:pPr>
            <a:r>
              <a:rPr lang="en-US" sz="1000" dirty="0"/>
              <a:t>POPT: periodic centralized optimal reference </a:t>
            </a:r>
          </a:p>
          <a:p>
            <a:pPr marL="285750" indent="-285750">
              <a:spcAft>
                <a:spcPts val="600"/>
              </a:spcAft>
              <a:buFont typeface="System Font Regular"/>
              <a:buChar char="*"/>
            </a:pPr>
            <a:r>
              <a:rPr lang="en-US" sz="1000" dirty="0"/>
              <a:t>OTOSA: Online centralized baseline adapted from prior work </a:t>
            </a:r>
          </a:p>
        </p:txBody>
      </p:sp>
      <p:pic>
        <p:nvPicPr>
          <p:cNvPr id="17" name="Picture 16">
            <a:extLst>
              <a:ext uri="{FF2B5EF4-FFF2-40B4-BE49-F238E27FC236}">
                <a16:creationId xmlns:a16="http://schemas.microsoft.com/office/drawing/2014/main" id="{2BD2098A-7A26-64FC-A77B-720D31E1E600}"/>
              </a:ext>
            </a:extLst>
          </p:cNvPr>
          <p:cNvPicPr>
            <a:picLocks noChangeAspect="1"/>
          </p:cNvPicPr>
          <p:nvPr/>
        </p:nvPicPr>
        <p:blipFill>
          <a:blip r:embed="rId4"/>
          <a:stretch>
            <a:fillRect/>
          </a:stretch>
        </p:blipFill>
        <p:spPr>
          <a:xfrm>
            <a:off x="4461430" y="1363292"/>
            <a:ext cx="4457747" cy="1887987"/>
          </a:xfrm>
          <a:prstGeom prst="rect">
            <a:avLst/>
          </a:prstGeom>
        </p:spPr>
      </p:pic>
    </p:spTree>
    <p:extLst>
      <p:ext uri="{BB962C8B-B14F-4D97-AF65-F5344CB8AC3E}">
        <p14:creationId xmlns:p14="http://schemas.microsoft.com/office/powerpoint/2010/main" val="280382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F488-78D6-A567-D6FA-DF0F1CD5C2CE}"/>
              </a:ext>
            </a:extLst>
          </p:cNvPr>
          <p:cNvSpPr>
            <a:spLocks noGrp="1"/>
          </p:cNvSpPr>
          <p:nvPr>
            <p:ph type="title"/>
          </p:nvPr>
        </p:nvSpPr>
        <p:spPr/>
        <p:txBody>
          <a:bodyPr/>
          <a:lstStyle/>
          <a:p>
            <a:r>
              <a:rPr lang="en-US" sz="2200" b="1" dirty="0">
                <a:solidFill>
                  <a:srgbClr val="C00000"/>
                </a:solidFill>
              </a:rPr>
              <a:t>TODORA Performance Under System Stress</a:t>
            </a:r>
            <a:endParaRPr lang="en-US" sz="2200" dirty="0">
              <a:solidFill>
                <a:srgbClr val="C00000"/>
              </a:solidFill>
            </a:endParaRPr>
          </a:p>
        </p:txBody>
      </p:sp>
      <p:sp>
        <p:nvSpPr>
          <p:cNvPr id="10" name="TextBox 9">
            <a:extLst>
              <a:ext uri="{FF2B5EF4-FFF2-40B4-BE49-F238E27FC236}">
                <a16:creationId xmlns:a16="http://schemas.microsoft.com/office/drawing/2014/main" id="{DD00659E-7574-3777-1C99-3B6726045593}"/>
              </a:ext>
            </a:extLst>
          </p:cNvPr>
          <p:cNvSpPr txBox="1"/>
          <p:nvPr/>
        </p:nvSpPr>
        <p:spPr>
          <a:xfrm>
            <a:off x="1122026" y="3635084"/>
            <a:ext cx="8728748" cy="523220"/>
          </a:xfrm>
          <a:prstGeom prst="rect">
            <a:avLst/>
          </a:prstGeom>
          <a:noFill/>
        </p:spPr>
        <p:txBody>
          <a:bodyPr wrap="square" rtlCol="0">
            <a:spAutoFit/>
          </a:bodyPr>
          <a:lstStyle/>
          <a:p>
            <a:r>
              <a:rPr lang="en-US" b="1" dirty="0">
                <a:solidFill>
                  <a:srgbClr val="C01F21"/>
                </a:solidFill>
              </a:rPr>
              <a:t>TODORA maintains the best end-to-end performance under system stress.</a:t>
            </a:r>
            <a:endParaRPr lang="en-US" dirty="0">
              <a:solidFill>
                <a:srgbClr val="C01F21"/>
              </a:solidFill>
            </a:endParaRPr>
          </a:p>
          <a:p>
            <a:endParaRPr lang="en-US" dirty="0"/>
          </a:p>
        </p:txBody>
      </p:sp>
      <p:sp>
        <p:nvSpPr>
          <p:cNvPr id="3" name="Slide Number Placeholder 2">
            <a:extLst>
              <a:ext uri="{FF2B5EF4-FFF2-40B4-BE49-F238E27FC236}">
                <a16:creationId xmlns:a16="http://schemas.microsoft.com/office/drawing/2014/main" id="{9D02162A-EEE4-3109-046D-E2AD0396FB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Picture 4">
            <a:extLst>
              <a:ext uri="{FF2B5EF4-FFF2-40B4-BE49-F238E27FC236}">
                <a16:creationId xmlns:a16="http://schemas.microsoft.com/office/drawing/2014/main" id="{F665958E-6D52-39C8-3BC5-1A01D8DC32BA}"/>
              </a:ext>
            </a:extLst>
          </p:cNvPr>
          <p:cNvPicPr>
            <a:picLocks noChangeAspect="1"/>
          </p:cNvPicPr>
          <p:nvPr/>
        </p:nvPicPr>
        <p:blipFill>
          <a:blip r:embed="rId3"/>
          <a:stretch>
            <a:fillRect/>
          </a:stretch>
        </p:blipFill>
        <p:spPr>
          <a:xfrm>
            <a:off x="249600" y="1322895"/>
            <a:ext cx="4132834" cy="1720642"/>
          </a:xfrm>
          <a:prstGeom prst="rect">
            <a:avLst/>
          </a:prstGeom>
        </p:spPr>
      </p:pic>
      <p:pic>
        <p:nvPicPr>
          <p:cNvPr id="6" name="Picture 5">
            <a:extLst>
              <a:ext uri="{FF2B5EF4-FFF2-40B4-BE49-F238E27FC236}">
                <a16:creationId xmlns:a16="http://schemas.microsoft.com/office/drawing/2014/main" id="{03A97851-1209-77E0-0417-E2EA9CA53664}"/>
              </a:ext>
            </a:extLst>
          </p:cNvPr>
          <p:cNvPicPr>
            <a:picLocks noChangeAspect="1"/>
          </p:cNvPicPr>
          <p:nvPr/>
        </p:nvPicPr>
        <p:blipFill>
          <a:blip r:embed="rId4"/>
          <a:stretch>
            <a:fillRect/>
          </a:stretch>
        </p:blipFill>
        <p:spPr>
          <a:xfrm>
            <a:off x="4632651" y="1227325"/>
            <a:ext cx="4207933" cy="1816212"/>
          </a:xfrm>
          <a:prstGeom prst="rect">
            <a:avLst/>
          </a:prstGeom>
        </p:spPr>
      </p:pic>
      <p:cxnSp>
        <p:nvCxnSpPr>
          <p:cNvPr id="8" name="Straight Connector 7">
            <a:extLst>
              <a:ext uri="{FF2B5EF4-FFF2-40B4-BE49-F238E27FC236}">
                <a16:creationId xmlns:a16="http://schemas.microsoft.com/office/drawing/2014/main" id="{F62998FA-E14E-A9ED-BA5A-01BD04A22BD6}"/>
              </a:ext>
            </a:extLst>
          </p:cNvPr>
          <p:cNvCxnSpPr>
            <a:cxnSpLocks/>
          </p:cNvCxnSpPr>
          <p:nvPr/>
        </p:nvCxnSpPr>
        <p:spPr>
          <a:xfrm>
            <a:off x="4485851" y="856655"/>
            <a:ext cx="0" cy="2559370"/>
          </a:xfrm>
          <a:prstGeom prst="line">
            <a:avLst/>
          </a:prstGeom>
          <a:ln w="19050">
            <a:solidFill>
              <a:srgbClr val="000000"/>
            </a:solidFill>
            <a:prstDash val="sysDot"/>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F433CA2-4805-638A-BE8E-5181130D29E4}"/>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1139506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78F5E71D-845E-AC3C-1A7C-D2E405B68122}"/>
            </a:ext>
          </a:extLst>
        </p:cNvPr>
        <p:cNvGrpSpPr/>
        <p:nvPr/>
      </p:nvGrpSpPr>
      <p:grpSpPr>
        <a:xfrm>
          <a:off x="0" y="0"/>
          <a:ext cx="0" cy="0"/>
          <a:chOff x="0" y="0"/>
          <a:chExt cx="0" cy="0"/>
        </a:xfrm>
      </p:grpSpPr>
      <p:sp>
        <p:nvSpPr>
          <p:cNvPr id="290" name="Google Shape;290;p27">
            <a:extLst>
              <a:ext uri="{FF2B5EF4-FFF2-40B4-BE49-F238E27FC236}">
                <a16:creationId xmlns:a16="http://schemas.microsoft.com/office/drawing/2014/main" id="{0B3567BC-3FA4-3C79-B751-47FB9E60DEA7}"/>
              </a:ext>
            </a:extLst>
          </p:cNvPr>
          <p:cNvSpPr txBox="1">
            <a:spLocks noGrp="1"/>
          </p:cNvSpPr>
          <p:nvPr>
            <p:ph type="title"/>
          </p:nvPr>
        </p:nvSpPr>
        <p:spPr>
          <a:xfrm>
            <a:off x="249600" y="1372775"/>
            <a:ext cx="8582700" cy="1996200"/>
          </a:xfrm>
          <a:prstGeom prst="rect">
            <a:avLst/>
          </a:prstGeom>
          <a:noFill/>
          <a:ln>
            <a:noFill/>
          </a:ln>
        </p:spPr>
        <p:txBody>
          <a:bodyPr spcFirstLastPara="1" wrap="square" lIns="91425" tIns="91425" rIns="91425" bIns="91425" anchor="t" anchorCtr="0">
            <a:noAutofit/>
          </a:bodyPr>
          <a:lstStyle/>
          <a:p>
            <a:pPr lvl="0" algn="ctr"/>
            <a:r>
              <a:rPr lang="en-US" sz="2200" b="1" dirty="0">
                <a:solidFill>
                  <a:srgbClr val="C01F21"/>
                </a:solidFill>
              </a:rPr>
              <a:t>Thrust II: Privacy-Aware Distributed Inference</a:t>
            </a:r>
            <a:br>
              <a:rPr lang="en-US" sz="2200" b="1" dirty="0">
                <a:solidFill>
                  <a:srgbClr val="C01F21"/>
                </a:solidFill>
              </a:rPr>
            </a:br>
            <a:br>
              <a:rPr lang="en-US" dirty="0"/>
            </a:br>
            <a:r>
              <a:rPr lang="en-US" sz="2000" dirty="0"/>
              <a:t>LLPRI: Low-Latency Private ML Inference for Vision Tasks in Distributed Environments</a:t>
            </a:r>
            <a:endParaRPr sz="2000" dirty="0"/>
          </a:p>
        </p:txBody>
      </p:sp>
      <p:sp>
        <p:nvSpPr>
          <p:cNvPr id="3" name="Slide Number Placeholder 2">
            <a:extLst>
              <a:ext uri="{FF2B5EF4-FFF2-40B4-BE49-F238E27FC236}">
                <a16:creationId xmlns:a16="http://schemas.microsoft.com/office/drawing/2014/main" id="{D8A4858B-9429-AA6A-3D8D-357E25FE39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4" name="TextBox 3">
            <a:extLst>
              <a:ext uri="{FF2B5EF4-FFF2-40B4-BE49-F238E27FC236}">
                <a16:creationId xmlns:a16="http://schemas.microsoft.com/office/drawing/2014/main" id="{D3053263-C8A1-E728-C334-9339A5F72379}"/>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2736894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5"/>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Motivation</a:t>
            </a:r>
          </a:p>
        </p:txBody>
      </p:sp>
      <p:sp>
        <p:nvSpPr>
          <p:cNvPr id="3" name="TextBox 2">
            <a:extLst>
              <a:ext uri="{FF2B5EF4-FFF2-40B4-BE49-F238E27FC236}">
                <a16:creationId xmlns:a16="http://schemas.microsoft.com/office/drawing/2014/main" id="{202E48F8-254C-7D4B-E7EE-4DFE9E671858}"/>
              </a:ext>
            </a:extLst>
          </p:cNvPr>
          <p:cNvSpPr txBox="1"/>
          <p:nvPr/>
        </p:nvSpPr>
        <p:spPr>
          <a:xfrm>
            <a:off x="488643" y="864530"/>
            <a:ext cx="8216349" cy="307777"/>
          </a:xfrm>
          <a:prstGeom prst="rect">
            <a:avLst/>
          </a:prstGeom>
          <a:noFill/>
        </p:spPr>
        <p:txBody>
          <a:bodyPr wrap="square" rtlCol="0">
            <a:spAutoFit/>
          </a:bodyPr>
          <a:lstStyle/>
          <a:p>
            <a:pPr marL="114300" indent="0">
              <a:buNone/>
            </a:pPr>
            <a:r>
              <a:rPr lang="en-US" dirty="0"/>
              <a:t>Vision applications often require low-latency inference on resource-constrained devices.</a:t>
            </a:r>
          </a:p>
        </p:txBody>
      </p:sp>
      <p:grpSp>
        <p:nvGrpSpPr>
          <p:cNvPr id="5" name="Group 4">
            <a:extLst>
              <a:ext uri="{FF2B5EF4-FFF2-40B4-BE49-F238E27FC236}">
                <a16:creationId xmlns:a16="http://schemas.microsoft.com/office/drawing/2014/main" id="{319F9000-35EE-B157-E62F-DF09A181F63B}"/>
              </a:ext>
            </a:extLst>
          </p:cNvPr>
          <p:cNvGrpSpPr/>
          <p:nvPr/>
        </p:nvGrpSpPr>
        <p:grpSpPr>
          <a:xfrm>
            <a:off x="4432144" y="1361448"/>
            <a:ext cx="4130431" cy="289267"/>
            <a:chOff x="4048305" y="689245"/>
            <a:chExt cx="4130431" cy="289267"/>
          </a:xfrm>
        </p:grpSpPr>
        <p:sp>
          <p:nvSpPr>
            <p:cNvPr id="6" name="TextBox 5">
              <a:extLst>
                <a:ext uri="{FF2B5EF4-FFF2-40B4-BE49-F238E27FC236}">
                  <a16:creationId xmlns:a16="http://schemas.microsoft.com/office/drawing/2014/main" id="{C68A45FE-398C-23BE-2F61-8552C4C2BDAF}"/>
                </a:ext>
              </a:extLst>
            </p:cNvPr>
            <p:cNvSpPr txBox="1"/>
            <p:nvPr/>
          </p:nvSpPr>
          <p:spPr>
            <a:xfrm>
              <a:off x="4048305" y="701513"/>
              <a:ext cx="1523240" cy="276999"/>
            </a:xfrm>
            <a:prstGeom prst="rect">
              <a:avLst/>
            </a:prstGeom>
            <a:noFill/>
          </p:spPr>
          <p:txBody>
            <a:bodyPr wrap="square">
              <a:spAutoFit/>
            </a:bodyPr>
            <a:lstStyle/>
            <a:p>
              <a:r>
                <a:rPr lang="en-US" altLang="zh-TW" sz="1200" b="1" dirty="0"/>
                <a:t>Utility</a:t>
              </a:r>
              <a:endParaRPr lang="en-US" sz="1200" b="1" dirty="0"/>
            </a:p>
          </p:txBody>
        </p:sp>
        <p:sp>
          <p:nvSpPr>
            <p:cNvPr id="7" name="TextBox 6">
              <a:extLst>
                <a:ext uri="{FF2B5EF4-FFF2-40B4-BE49-F238E27FC236}">
                  <a16:creationId xmlns:a16="http://schemas.microsoft.com/office/drawing/2014/main" id="{EA50E3DA-77A3-0B7D-34A0-507AFA467457}"/>
                </a:ext>
              </a:extLst>
            </p:cNvPr>
            <p:cNvSpPr txBox="1"/>
            <p:nvPr/>
          </p:nvSpPr>
          <p:spPr>
            <a:xfrm>
              <a:off x="5602037" y="694035"/>
              <a:ext cx="865026" cy="276999"/>
            </a:xfrm>
            <a:prstGeom prst="rect">
              <a:avLst/>
            </a:prstGeom>
            <a:noFill/>
          </p:spPr>
          <p:txBody>
            <a:bodyPr wrap="square">
              <a:spAutoFit/>
            </a:bodyPr>
            <a:lstStyle/>
            <a:p>
              <a:r>
                <a:rPr lang="en-US" sz="1200" b="1" dirty="0"/>
                <a:t>Latency</a:t>
              </a:r>
            </a:p>
          </p:txBody>
        </p:sp>
        <p:sp>
          <p:nvSpPr>
            <p:cNvPr id="8" name="TextBox 7">
              <a:extLst>
                <a:ext uri="{FF2B5EF4-FFF2-40B4-BE49-F238E27FC236}">
                  <a16:creationId xmlns:a16="http://schemas.microsoft.com/office/drawing/2014/main" id="{B2BFF1F2-0BC8-4388-EDE3-B586696ABCD2}"/>
                </a:ext>
              </a:extLst>
            </p:cNvPr>
            <p:cNvSpPr txBox="1"/>
            <p:nvPr/>
          </p:nvSpPr>
          <p:spPr>
            <a:xfrm>
              <a:off x="7081104" y="689245"/>
              <a:ext cx="1097632" cy="276999"/>
            </a:xfrm>
            <a:prstGeom prst="rect">
              <a:avLst/>
            </a:prstGeom>
            <a:noFill/>
          </p:spPr>
          <p:txBody>
            <a:bodyPr wrap="square">
              <a:spAutoFit/>
            </a:bodyPr>
            <a:lstStyle/>
            <a:p>
              <a:r>
                <a:rPr lang="en-US" sz="1200" b="1" dirty="0"/>
                <a:t>Privacy</a:t>
              </a:r>
            </a:p>
          </p:txBody>
        </p:sp>
      </p:grpSp>
      <p:sp>
        <p:nvSpPr>
          <p:cNvPr id="9" name="TextBox 8">
            <a:extLst>
              <a:ext uri="{FF2B5EF4-FFF2-40B4-BE49-F238E27FC236}">
                <a16:creationId xmlns:a16="http://schemas.microsoft.com/office/drawing/2014/main" id="{3590AE51-8C09-BD41-B3B2-4E7EAC12D647}"/>
              </a:ext>
            </a:extLst>
          </p:cNvPr>
          <p:cNvSpPr txBox="1"/>
          <p:nvPr/>
        </p:nvSpPr>
        <p:spPr>
          <a:xfrm>
            <a:off x="636314" y="1787510"/>
            <a:ext cx="3705585" cy="1523494"/>
          </a:xfrm>
          <a:prstGeom prst="rect">
            <a:avLst/>
          </a:prstGeom>
          <a:noFill/>
        </p:spPr>
        <p:txBody>
          <a:bodyPr wrap="square" rtlCol="0">
            <a:spAutoFit/>
          </a:bodyPr>
          <a:lstStyle/>
          <a:p>
            <a:pPr>
              <a:spcAft>
                <a:spcPts val="1800"/>
              </a:spcAft>
            </a:pPr>
            <a:r>
              <a:rPr lang="en-US" sz="1200" dirty="0"/>
              <a:t>On-device high-performance model</a:t>
            </a:r>
          </a:p>
          <a:p>
            <a:pPr>
              <a:spcAft>
                <a:spcPts val="1800"/>
              </a:spcAft>
            </a:pPr>
            <a:r>
              <a:rPr lang="en-US" sz="1200" dirty="0"/>
              <a:t>Compact on-device model</a:t>
            </a:r>
          </a:p>
          <a:p>
            <a:pPr>
              <a:spcAft>
                <a:spcPts val="1800"/>
              </a:spcAft>
            </a:pPr>
            <a:r>
              <a:rPr lang="en-US" sz="1200" dirty="0"/>
              <a:t>Remote inference</a:t>
            </a:r>
          </a:p>
          <a:p>
            <a:pPr>
              <a:spcAft>
                <a:spcPts val="1800"/>
              </a:spcAft>
            </a:pPr>
            <a:r>
              <a:rPr lang="en-US" sz="1200" dirty="0"/>
              <a:t>Remote inference with traditional privacy protection</a:t>
            </a:r>
          </a:p>
        </p:txBody>
      </p:sp>
      <p:sp>
        <p:nvSpPr>
          <p:cNvPr id="10" name="TextBox 9">
            <a:extLst>
              <a:ext uri="{FF2B5EF4-FFF2-40B4-BE49-F238E27FC236}">
                <a16:creationId xmlns:a16="http://schemas.microsoft.com/office/drawing/2014/main" id="{1184894A-534B-8A8E-9533-B62D8C7BE823}"/>
              </a:ext>
            </a:extLst>
          </p:cNvPr>
          <p:cNvSpPr txBox="1"/>
          <p:nvPr/>
        </p:nvSpPr>
        <p:spPr>
          <a:xfrm>
            <a:off x="4541691" y="1787510"/>
            <a:ext cx="367768" cy="276999"/>
          </a:xfrm>
          <a:prstGeom prst="rect">
            <a:avLst/>
          </a:prstGeom>
          <a:noFill/>
        </p:spPr>
        <p:txBody>
          <a:bodyPr wrap="square">
            <a:spAutoFit/>
          </a:bodyPr>
          <a:lstStyle/>
          <a:p>
            <a:r>
              <a:rPr lang="en-US" sz="1200" dirty="0"/>
              <a:t>✅ </a:t>
            </a:r>
          </a:p>
        </p:txBody>
      </p:sp>
      <p:sp>
        <p:nvSpPr>
          <p:cNvPr id="12" name="TextBox 11">
            <a:extLst>
              <a:ext uri="{FF2B5EF4-FFF2-40B4-BE49-F238E27FC236}">
                <a16:creationId xmlns:a16="http://schemas.microsoft.com/office/drawing/2014/main" id="{01A34C15-28F1-C413-5FA1-DEDAFBE6B31E}"/>
              </a:ext>
            </a:extLst>
          </p:cNvPr>
          <p:cNvSpPr txBox="1"/>
          <p:nvPr/>
        </p:nvSpPr>
        <p:spPr>
          <a:xfrm>
            <a:off x="7678646" y="1787510"/>
            <a:ext cx="367768" cy="276999"/>
          </a:xfrm>
          <a:prstGeom prst="rect">
            <a:avLst/>
          </a:prstGeom>
          <a:noFill/>
        </p:spPr>
        <p:txBody>
          <a:bodyPr wrap="square">
            <a:spAutoFit/>
          </a:bodyPr>
          <a:lstStyle/>
          <a:p>
            <a:r>
              <a:rPr lang="en-US" sz="1200" dirty="0"/>
              <a:t>✅ </a:t>
            </a:r>
          </a:p>
        </p:txBody>
      </p:sp>
      <p:sp>
        <p:nvSpPr>
          <p:cNvPr id="13" name="TextBox 12">
            <a:extLst>
              <a:ext uri="{FF2B5EF4-FFF2-40B4-BE49-F238E27FC236}">
                <a16:creationId xmlns:a16="http://schemas.microsoft.com/office/drawing/2014/main" id="{4A8C912B-6CA7-DE25-AA07-2018A8AC98B1}"/>
              </a:ext>
            </a:extLst>
          </p:cNvPr>
          <p:cNvSpPr txBox="1"/>
          <p:nvPr/>
        </p:nvSpPr>
        <p:spPr>
          <a:xfrm>
            <a:off x="7678646" y="2265918"/>
            <a:ext cx="367768" cy="276999"/>
          </a:xfrm>
          <a:prstGeom prst="rect">
            <a:avLst/>
          </a:prstGeom>
          <a:noFill/>
        </p:spPr>
        <p:txBody>
          <a:bodyPr wrap="square">
            <a:spAutoFit/>
          </a:bodyPr>
          <a:lstStyle/>
          <a:p>
            <a:r>
              <a:rPr lang="en-US" sz="1200" dirty="0"/>
              <a:t>✅ </a:t>
            </a:r>
          </a:p>
        </p:txBody>
      </p:sp>
      <p:sp>
        <p:nvSpPr>
          <p:cNvPr id="14" name="TextBox 13">
            <a:extLst>
              <a:ext uri="{FF2B5EF4-FFF2-40B4-BE49-F238E27FC236}">
                <a16:creationId xmlns:a16="http://schemas.microsoft.com/office/drawing/2014/main" id="{F3B0085C-5E98-C9E4-8B05-D74187B409C4}"/>
              </a:ext>
            </a:extLst>
          </p:cNvPr>
          <p:cNvSpPr txBox="1"/>
          <p:nvPr/>
        </p:nvSpPr>
        <p:spPr>
          <a:xfrm>
            <a:off x="6183811" y="2265918"/>
            <a:ext cx="367768" cy="276999"/>
          </a:xfrm>
          <a:prstGeom prst="rect">
            <a:avLst/>
          </a:prstGeom>
          <a:noFill/>
        </p:spPr>
        <p:txBody>
          <a:bodyPr wrap="square">
            <a:spAutoFit/>
          </a:bodyPr>
          <a:lstStyle/>
          <a:p>
            <a:r>
              <a:rPr lang="en-US" sz="1200" dirty="0"/>
              <a:t>✅ </a:t>
            </a:r>
          </a:p>
        </p:txBody>
      </p:sp>
      <p:sp>
        <p:nvSpPr>
          <p:cNvPr id="15" name="TextBox 14">
            <a:extLst>
              <a:ext uri="{FF2B5EF4-FFF2-40B4-BE49-F238E27FC236}">
                <a16:creationId xmlns:a16="http://schemas.microsoft.com/office/drawing/2014/main" id="{94C39883-80DF-FE4E-8B83-168201FFB803}"/>
              </a:ext>
            </a:extLst>
          </p:cNvPr>
          <p:cNvSpPr txBox="1"/>
          <p:nvPr/>
        </p:nvSpPr>
        <p:spPr>
          <a:xfrm>
            <a:off x="6183811" y="2724028"/>
            <a:ext cx="367768" cy="276999"/>
          </a:xfrm>
          <a:prstGeom prst="rect">
            <a:avLst/>
          </a:prstGeom>
          <a:noFill/>
        </p:spPr>
        <p:txBody>
          <a:bodyPr wrap="square">
            <a:spAutoFit/>
          </a:bodyPr>
          <a:lstStyle/>
          <a:p>
            <a:r>
              <a:rPr lang="en-US" sz="1200" dirty="0"/>
              <a:t>✅ </a:t>
            </a:r>
          </a:p>
        </p:txBody>
      </p:sp>
      <p:sp>
        <p:nvSpPr>
          <p:cNvPr id="16" name="TextBox 15">
            <a:extLst>
              <a:ext uri="{FF2B5EF4-FFF2-40B4-BE49-F238E27FC236}">
                <a16:creationId xmlns:a16="http://schemas.microsoft.com/office/drawing/2014/main" id="{DB52377F-C080-BB07-3CA4-E0A00D272C93}"/>
              </a:ext>
            </a:extLst>
          </p:cNvPr>
          <p:cNvSpPr txBox="1"/>
          <p:nvPr/>
        </p:nvSpPr>
        <p:spPr>
          <a:xfrm>
            <a:off x="4541691" y="2724028"/>
            <a:ext cx="367768" cy="276999"/>
          </a:xfrm>
          <a:prstGeom prst="rect">
            <a:avLst/>
          </a:prstGeom>
          <a:noFill/>
        </p:spPr>
        <p:txBody>
          <a:bodyPr wrap="square">
            <a:spAutoFit/>
          </a:bodyPr>
          <a:lstStyle/>
          <a:p>
            <a:r>
              <a:rPr lang="en-US" sz="1200" dirty="0"/>
              <a:t>✅ </a:t>
            </a:r>
          </a:p>
        </p:txBody>
      </p:sp>
      <p:sp>
        <p:nvSpPr>
          <p:cNvPr id="17" name="TextBox 16">
            <a:extLst>
              <a:ext uri="{FF2B5EF4-FFF2-40B4-BE49-F238E27FC236}">
                <a16:creationId xmlns:a16="http://schemas.microsoft.com/office/drawing/2014/main" id="{1AA66654-422A-1C56-BAE4-7060B4552861}"/>
              </a:ext>
            </a:extLst>
          </p:cNvPr>
          <p:cNvSpPr txBox="1"/>
          <p:nvPr/>
        </p:nvSpPr>
        <p:spPr>
          <a:xfrm>
            <a:off x="7678646" y="3068125"/>
            <a:ext cx="367768" cy="276999"/>
          </a:xfrm>
          <a:prstGeom prst="rect">
            <a:avLst/>
          </a:prstGeom>
          <a:noFill/>
        </p:spPr>
        <p:txBody>
          <a:bodyPr wrap="square">
            <a:spAutoFit/>
          </a:bodyPr>
          <a:lstStyle/>
          <a:p>
            <a:r>
              <a:rPr lang="en-US" sz="1200" dirty="0"/>
              <a:t>✅ </a:t>
            </a:r>
          </a:p>
        </p:txBody>
      </p:sp>
      <p:sp>
        <p:nvSpPr>
          <p:cNvPr id="18" name="TextBox 17">
            <a:extLst>
              <a:ext uri="{FF2B5EF4-FFF2-40B4-BE49-F238E27FC236}">
                <a16:creationId xmlns:a16="http://schemas.microsoft.com/office/drawing/2014/main" id="{C26BE5AE-4AAA-2A48-6220-48D80448A167}"/>
              </a:ext>
            </a:extLst>
          </p:cNvPr>
          <p:cNvSpPr txBox="1"/>
          <p:nvPr/>
        </p:nvSpPr>
        <p:spPr>
          <a:xfrm>
            <a:off x="6183811" y="1787510"/>
            <a:ext cx="329161" cy="276999"/>
          </a:xfrm>
          <a:prstGeom prst="rect">
            <a:avLst/>
          </a:prstGeom>
          <a:noFill/>
        </p:spPr>
        <p:txBody>
          <a:bodyPr wrap="square">
            <a:spAutoFit/>
          </a:bodyPr>
          <a:lstStyle/>
          <a:p>
            <a:r>
              <a:rPr lang="en-US" sz="1200" dirty="0"/>
              <a:t>❌</a:t>
            </a:r>
          </a:p>
        </p:txBody>
      </p:sp>
      <p:sp>
        <p:nvSpPr>
          <p:cNvPr id="19" name="TextBox 18">
            <a:extLst>
              <a:ext uri="{FF2B5EF4-FFF2-40B4-BE49-F238E27FC236}">
                <a16:creationId xmlns:a16="http://schemas.microsoft.com/office/drawing/2014/main" id="{CBF8E8DC-FFE2-6847-44C2-B1E03B90147C}"/>
              </a:ext>
            </a:extLst>
          </p:cNvPr>
          <p:cNvSpPr txBox="1"/>
          <p:nvPr/>
        </p:nvSpPr>
        <p:spPr>
          <a:xfrm>
            <a:off x="4541691" y="2265918"/>
            <a:ext cx="329161" cy="276999"/>
          </a:xfrm>
          <a:prstGeom prst="rect">
            <a:avLst/>
          </a:prstGeom>
          <a:noFill/>
        </p:spPr>
        <p:txBody>
          <a:bodyPr wrap="square">
            <a:spAutoFit/>
          </a:bodyPr>
          <a:lstStyle/>
          <a:p>
            <a:r>
              <a:rPr lang="en-US" sz="1200" dirty="0"/>
              <a:t>❌</a:t>
            </a:r>
          </a:p>
        </p:txBody>
      </p:sp>
      <p:sp>
        <p:nvSpPr>
          <p:cNvPr id="20" name="TextBox 19">
            <a:extLst>
              <a:ext uri="{FF2B5EF4-FFF2-40B4-BE49-F238E27FC236}">
                <a16:creationId xmlns:a16="http://schemas.microsoft.com/office/drawing/2014/main" id="{90CEDA3F-DAD7-2366-B44C-AE722AE3A05D}"/>
              </a:ext>
            </a:extLst>
          </p:cNvPr>
          <p:cNvSpPr txBox="1"/>
          <p:nvPr/>
        </p:nvSpPr>
        <p:spPr>
          <a:xfrm>
            <a:off x="7678646" y="2724028"/>
            <a:ext cx="329161" cy="276999"/>
          </a:xfrm>
          <a:prstGeom prst="rect">
            <a:avLst/>
          </a:prstGeom>
          <a:noFill/>
        </p:spPr>
        <p:txBody>
          <a:bodyPr wrap="square">
            <a:spAutoFit/>
          </a:bodyPr>
          <a:lstStyle/>
          <a:p>
            <a:r>
              <a:rPr lang="en-US" sz="1200" dirty="0"/>
              <a:t>❌</a:t>
            </a:r>
          </a:p>
        </p:txBody>
      </p:sp>
      <p:pic>
        <p:nvPicPr>
          <p:cNvPr id="22" name="Graphic 21" descr="Question Mark with solid fill">
            <a:extLst>
              <a:ext uri="{FF2B5EF4-FFF2-40B4-BE49-F238E27FC236}">
                <a16:creationId xmlns:a16="http://schemas.microsoft.com/office/drawing/2014/main" id="{4D88EAB0-6DA9-A975-45F1-998245E7FA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96818" y="3068125"/>
            <a:ext cx="191976" cy="191976"/>
          </a:xfrm>
          <a:prstGeom prst="rect">
            <a:avLst/>
          </a:prstGeom>
        </p:spPr>
      </p:pic>
      <p:pic>
        <p:nvPicPr>
          <p:cNvPr id="23" name="Graphic 22" descr="Question Mark with solid fill">
            <a:extLst>
              <a:ext uri="{FF2B5EF4-FFF2-40B4-BE49-F238E27FC236}">
                <a16:creationId xmlns:a16="http://schemas.microsoft.com/office/drawing/2014/main" id="{4A88ED26-E63C-7E00-85C0-F2D95ACA18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5458" y="3068125"/>
            <a:ext cx="191976" cy="191976"/>
          </a:xfrm>
          <a:prstGeom prst="rect">
            <a:avLst/>
          </a:prstGeom>
        </p:spPr>
      </p:pic>
      <p:sp>
        <p:nvSpPr>
          <p:cNvPr id="24" name="TextBox 23">
            <a:extLst>
              <a:ext uri="{FF2B5EF4-FFF2-40B4-BE49-F238E27FC236}">
                <a16:creationId xmlns:a16="http://schemas.microsoft.com/office/drawing/2014/main" id="{33B95889-75DB-8BC3-E7D7-94DB5C330BB9}"/>
              </a:ext>
            </a:extLst>
          </p:cNvPr>
          <p:cNvSpPr txBox="1"/>
          <p:nvPr/>
        </p:nvSpPr>
        <p:spPr>
          <a:xfrm>
            <a:off x="506478" y="3670301"/>
            <a:ext cx="8728748" cy="523220"/>
          </a:xfrm>
          <a:prstGeom prst="rect">
            <a:avLst/>
          </a:prstGeom>
          <a:noFill/>
        </p:spPr>
        <p:txBody>
          <a:bodyPr wrap="square" rtlCol="0">
            <a:spAutoFit/>
          </a:bodyPr>
          <a:lstStyle/>
          <a:p>
            <a:r>
              <a:rPr lang="en-US" b="1" dirty="0">
                <a:solidFill>
                  <a:srgbClr val="C01F21"/>
                </a:solidFill>
              </a:rPr>
              <a:t>A practical privacy-preserving inference system that balances privacy, utility, and latency.  </a:t>
            </a:r>
          </a:p>
          <a:p>
            <a:endParaRPr lang="en-US" dirty="0"/>
          </a:p>
        </p:txBody>
      </p:sp>
      <p:sp>
        <p:nvSpPr>
          <p:cNvPr id="2" name="Slide Number Placeholder 1">
            <a:extLst>
              <a:ext uri="{FF2B5EF4-FFF2-40B4-BE49-F238E27FC236}">
                <a16:creationId xmlns:a16="http://schemas.microsoft.com/office/drawing/2014/main" id="{926399DE-C1CD-E3FF-B364-6D7D35560E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4" name="TextBox 3">
            <a:extLst>
              <a:ext uri="{FF2B5EF4-FFF2-40B4-BE49-F238E27FC236}">
                <a16:creationId xmlns:a16="http://schemas.microsoft.com/office/drawing/2014/main" id="{6EE9273B-77B4-46C0-57B7-BC8CC6F2EC23}"/>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cxnSp>
        <p:nvCxnSpPr>
          <p:cNvPr id="21" name="Straight Connector 20">
            <a:extLst>
              <a:ext uri="{FF2B5EF4-FFF2-40B4-BE49-F238E27FC236}">
                <a16:creationId xmlns:a16="http://schemas.microsoft.com/office/drawing/2014/main" id="{E1818917-0E78-55DB-E954-6D49DEEBF241}"/>
              </a:ext>
            </a:extLst>
          </p:cNvPr>
          <p:cNvCxnSpPr>
            <a:cxnSpLocks/>
          </p:cNvCxnSpPr>
          <p:nvPr/>
        </p:nvCxnSpPr>
        <p:spPr>
          <a:xfrm>
            <a:off x="594930" y="1684107"/>
            <a:ext cx="7808844" cy="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AD93-5F1E-8D3B-5857-EFE4202D73B1}"/>
              </a:ext>
            </a:extLst>
          </p:cNvPr>
          <p:cNvSpPr>
            <a:spLocks noGrp="1"/>
          </p:cNvSpPr>
          <p:nvPr>
            <p:ph type="title"/>
          </p:nvPr>
        </p:nvSpPr>
        <p:spPr/>
        <p:txBody>
          <a:bodyPr/>
          <a:lstStyle/>
          <a:p>
            <a:r>
              <a:rPr lang="en-US" sz="2200" b="1" dirty="0">
                <a:solidFill>
                  <a:srgbClr val="C01F21"/>
                </a:solidFill>
              </a:rPr>
              <a:t>Challenging Scenario</a:t>
            </a:r>
          </a:p>
        </p:txBody>
      </p:sp>
      <p:pic>
        <p:nvPicPr>
          <p:cNvPr id="7" name="Picture 6">
            <a:extLst>
              <a:ext uri="{FF2B5EF4-FFF2-40B4-BE49-F238E27FC236}">
                <a16:creationId xmlns:a16="http://schemas.microsoft.com/office/drawing/2014/main" id="{06B265A8-9CAC-9743-1195-04802C50F00D}"/>
              </a:ext>
            </a:extLst>
          </p:cNvPr>
          <p:cNvPicPr>
            <a:picLocks noChangeAspect="1"/>
          </p:cNvPicPr>
          <p:nvPr/>
        </p:nvPicPr>
        <p:blipFill>
          <a:blip r:embed="rId3"/>
          <a:stretch>
            <a:fillRect/>
          </a:stretch>
        </p:blipFill>
        <p:spPr>
          <a:xfrm>
            <a:off x="2074893" y="814065"/>
            <a:ext cx="4788362" cy="2283301"/>
          </a:xfrm>
          <a:prstGeom prst="rect">
            <a:avLst/>
          </a:prstGeom>
        </p:spPr>
      </p:pic>
      <p:sp>
        <p:nvSpPr>
          <p:cNvPr id="3" name="Slide Number Placeholder 2">
            <a:extLst>
              <a:ext uri="{FF2B5EF4-FFF2-40B4-BE49-F238E27FC236}">
                <a16:creationId xmlns:a16="http://schemas.microsoft.com/office/drawing/2014/main" id="{896DD70F-3CD6-9BF9-C14D-611F1E14FD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4" name="TextBox 3">
            <a:extLst>
              <a:ext uri="{FF2B5EF4-FFF2-40B4-BE49-F238E27FC236}">
                <a16:creationId xmlns:a16="http://schemas.microsoft.com/office/drawing/2014/main" id="{DE93E721-4119-7121-D39E-25328726BA81}"/>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
        <p:nvSpPr>
          <p:cNvPr id="5" name="TextBox 4">
            <a:extLst>
              <a:ext uri="{FF2B5EF4-FFF2-40B4-BE49-F238E27FC236}">
                <a16:creationId xmlns:a16="http://schemas.microsoft.com/office/drawing/2014/main" id="{1B12A4B1-8B62-C1CB-00DF-B1466FF9B261}"/>
              </a:ext>
            </a:extLst>
          </p:cNvPr>
          <p:cNvSpPr txBox="1"/>
          <p:nvPr/>
        </p:nvSpPr>
        <p:spPr>
          <a:xfrm>
            <a:off x="1140853" y="3295130"/>
            <a:ext cx="7493876" cy="892552"/>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dirty="0"/>
              <a:t>Remote execution is needed to achieve strong </a:t>
            </a:r>
            <a:r>
              <a:rPr lang="en-US" dirty="0">
                <a:solidFill>
                  <a:srgbClr val="0070C0"/>
                </a:solidFill>
              </a:rPr>
              <a:t>utility under low-latency requirements</a:t>
            </a:r>
            <a:r>
              <a:rPr lang="en-US" dirty="0"/>
              <a:t>.</a:t>
            </a:r>
          </a:p>
          <a:p>
            <a:pPr marL="285750" indent="-285750">
              <a:spcAft>
                <a:spcPts val="600"/>
              </a:spcAft>
              <a:buFont typeface="Arial" panose="020B0604020202020204" pitchFamily="34" charset="0"/>
              <a:buChar char="•"/>
            </a:pPr>
            <a:r>
              <a:rPr lang="en-US" dirty="0"/>
              <a:t>Remote execution is supported by </a:t>
            </a:r>
            <a:r>
              <a:rPr lang="en-US" dirty="0">
                <a:solidFill>
                  <a:srgbClr val="0070C0"/>
                </a:solidFill>
              </a:rPr>
              <a:t>a distributed set of moderately powerful servers</a:t>
            </a:r>
            <a:r>
              <a:rPr lang="en-US" dirty="0"/>
              <a:t>.</a:t>
            </a:r>
          </a:p>
          <a:p>
            <a:pPr marL="285750" indent="-285750">
              <a:spcAft>
                <a:spcPts val="600"/>
              </a:spcAft>
              <a:buFont typeface="Arial" panose="020B0604020202020204" pitchFamily="34" charset="0"/>
              <a:buChar char="•"/>
            </a:pPr>
            <a:r>
              <a:rPr lang="en-US" dirty="0"/>
              <a:t>Sensitive objects are also </a:t>
            </a:r>
            <a:r>
              <a:rPr lang="en-US" dirty="0">
                <a:solidFill>
                  <a:srgbClr val="0070C0"/>
                </a:solidFill>
              </a:rPr>
              <a:t>utility-critical</a:t>
            </a:r>
            <a:r>
              <a:rPr lang="en-US" dirty="0"/>
              <a:t>. </a:t>
            </a:r>
          </a:p>
        </p:txBody>
      </p:sp>
    </p:spTree>
    <p:extLst>
      <p:ext uri="{BB962C8B-B14F-4D97-AF65-F5344CB8AC3E}">
        <p14:creationId xmlns:p14="http://schemas.microsoft.com/office/powerpoint/2010/main" val="538387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5B205-C7C0-7622-3205-6C807B5FC84E}"/>
              </a:ext>
            </a:extLst>
          </p:cNvPr>
          <p:cNvSpPr>
            <a:spLocks noGrp="1"/>
          </p:cNvSpPr>
          <p:nvPr>
            <p:ph type="title"/>
          </p:nvPr>
        </p:nvSpPr>
        <p:spPr>
          <a:xfrm>
            <a:off x="223096" y="93941"/>
            <a:ext cx="8582700" cy="572700"/>
          </a:xfrm>
        </p:spPr>
        <p:txBody>
          <a:bodyPr/>
          <a:lstStyle/>
          <a:p>
            <a:r>
              <a:rPr lang="en-US" sz="2200" b="1" dirty="0">
                <a:solidFill>
                  <a:srgbClr val="C01F21"/>
                </a:solidFill>
              </a:rPr>
              <a:t>What is Missing in Prior Privacy-Preserving Inference</a:t>
            </a:r>
          </a:p>
        </p:txBody>
      </p:sp>
      <p:graphicFrame>
        <p:nvGraphicFramePr>
          <p:cNvPr id="58" name="Table 57">
            <a:extLst>
              <a:ext uri="{FF2B5EF4-FFF2-40B4-BE49-F238E27FC236}">
                <a16:creationId xmlns:a16="http://schemas.microsoft.com/office/drawing/2014/main" id="{1E8E78E6-E7AE-6AB4-07C5-7EF753376C6A}"/>
              </a:ext>
            </a:extLst>
          </p:cNvPr>
          <p:cNvGraphicFramePr>
            <a:graphicFrameLocks noGrp="1"/>
          </p:cNvGraphicFramePr>
          <p:nvPr>
            <p:extLst>
              <p:ext uri="{D42A27DB-BD31-4B8C-83A1-F6EECF244321}">
                <p14:modId xmlns:p14="http://schemas.microsoft.com/office/powerpoint/2010/main" val="1012389937"/>
              </p:ext>
            </p:extLst>
          </p:nvPr>
        </p:nvGraphicFramePr>
        <p:xfrm>
          <a:off x="1012578" y="890272"/>
          <a:ext cx="7003736" cy="2560320"/>
        </p:xfrm>
        <a:graphic>
          <a:graphicData uri="http://schemas.openxmlformats.org/drawingml/2006/table">
            <a:tbl>
              <a:tblPr>
                <a:effectLst/>
              </a:tblPr>
              <a:tblGrid>
                <a:gridCol w="1993886">
                  <a:extLst>
                    <a:ext uri="{9D8B030D-6E8A-4147-A177-3AD203B41FA5}">
                      <a16:colId xmlns:a16="http://schemas.microsoft.com/office/drawing/2014/main" val="477958958"/>
                    </a:ext>
                  </a:extLst>
                </a:gridCol>
                <a:gridCol w="5009850">
                  <a:extLst>
                    <a:ext uri="{9D8B030D-6E8A-4147-A177-3AD203B41FA5}">
                      <a16:colId xmlns:a16="http://schemas.microsoft.com/office/drawing/2014/main" val="2698435119"/>
                    </a:ext>
                  </a:extLst>
                </a:gridCol>
              </a:tblGrid>
              <a:tr h="365760">
                <a:tc>
                  <a:txBody>
                    <a:bodyPr/>
                    <a:lstStyle/>
                    <a:p>
                      <a:pPr>
                        <a:buNone/>
                      </a:pPr>
                      <a:r>
                        <a:rPr lang="en-US" sz="1000" b="1" dirty="0">
                          <a:ln>
                            <a:noFill/>
                          </a:ln>
                          <a:solidFill>
                            <a:srgbClr val="000000"/>
                          </a:solidFill>
                        </a:rPr>
                        <a:t>Prior Approach</a:t>
                      </a:r>
                      <a:endParaRPr lang="en-US" sz="1000" dirty="0">
                        <a:ln>
                          <a:noFill/>
                        </a:ln>
                        <a:solidFill>
                          <a:srgbClr val="000000"/>
                        </a:solidFill>
                      </a:endParaRP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000" b="1" dirty="0">
                          <a:ln>
                            <a:noFill/>
                          </a:ln>
                          <a:solidFill>
                            <a:srgbClr val="000000"/>
                          </a:solidFill>
                        </a:rPr>
                        <a:t>Limitation</a:t>
                      </a:r>
                    </a:p>
                  </a:txBody>
                  <a:tcPr anchor="ctr">
                    <a:lnL>
                      <a:noFill/>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25993"/>
                  </a:ext>
                </a:extLst>
              </a:tr>
              <a:tr h="365760">
                <a:tc>
                  <a:txBody>
                    <a:bodyPr/>
                    <a:lstStyle/>
                    <a:p>
                      <a:pPr>
                        <a:buNone/>
                      </a:pPr>
                      <a:r>
                        <a:rPr lang="en-US" sz="1000" b="0" dirty="0">
                          <a:ln>
                            <a:noFill/>
                          </a:ln>
                          <a:solidFill>
                            <a:srgbClr val="000000"/>
                          </a:solidFill>
                        </a:rPr>
                        <a:t>Cryptography-based methods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000" b="0" dirty="0">
                          <a:solidFill>
                            <a:srgbClr val="000000"/>
                          </a:solidFill>
                        </a:rPr>
                        <a:t>Too slow for delay-sensitive applications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1562630"/>
                  </a:ext>
                </a:extLst>
              </a:tr>
              <a:tr h="365760">
                <a:tc>
                  <a:txBody>
                    <a:bodyPr/>
                    <a:lstStyle/>
                    <a:p>
                      <a:pPr>
                        <a:buNone/>
                      </a:pPr>
                      <a:r>
                        <a:rPr lang="en-US" sz="1000" b="0" dirty="0">
                          <a:ln>
                            <a:noFill/>
                          </a:ln>
                          <a:solidFill>
                            <a:srgbClr val="000000"/>
                          </a:solidFill>
                        </a:rPr>
                        <a:t>Hardware approaches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000" b="0" dirty="0">
                          <a:solidFill>
                            <a:srgbClr val="000000"/>
                          </a:solidFill>
                        </a:rPr>
                        <a:t>Limited flexibility for complex ML models and do not protect transmission privacy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927000"/>
                  </a:ext>
                </a:extLst>
              </a:tr>
              <a:tr h="365760">
                <a:tc>
                  <a:txBody>
                    <a:bodyPr/>
                    <a:lstStyle/>
                    <a:p>
                      <a:pPr>
                        <a:buNone/>
                      </a:pPr>
                      <a:r>
                        <a:rPr lang="en-US" sz="1000" b="0">
                          <a:ln>
                            <a:noFill/>
                          </a:ln>
                          <a:solidFill>
                            <a:srgbClr val="000000"/>
                          </a:solidFill>
                        </a:rPr>
                        <a:t>Noise </a:t>
                      </a:r>
                      <a:r>
                        <a:rPr lang="en-US" sz="1000" b="0" dirty="0">
                          <a:ln>
                            <a:noFill/>
                          </a:ln>
                          <a:solidFill>
                            <a:srgbClr val="000000"/>
                          </a:solidFill>
                        </a:rPr>
                        <a:t>addition approaches</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000" dirty="0">
                          <a:solidFill>
                            <a:srgbClr val="000000"/>
                          </a:solidFill>
                        </a:rPr>
                        <a:t>Utility often drops significantly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978038"/>
                  </a:ext>
                </a:extLst>
              </a:tr>
              <a:tr h="365760">
                <a:tc>
                  <a:txBody>
                    <a:bodyPr/>
                    <a:lstStyle/>
                    <a:p>
                      <a:pPr>
                        <a:buNone/>
                      </a:pPr>
                      <a:r>
                        <a:rPr lang="en-US" sz="1000" b="0" dirty="0">
                          <a:ln>
                            <a:noFill/>
                          </a:ln>
                          <a:solidFill>
                            <a:srgbClr val="000000"/>
                          </a:solidFill>
                        </a:rPr>
                        <a:t>Model splitting</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000" b="0" dirty="0">
                          <a:solidFill>
                            <a:srgbClr val="000000"/>
                          </a:solidFill>
                        </a:rPr>
                        <a:t>Intermediate features may still leak private information</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46556"/>
                  </a:ext>
                </a:extLst>
              </a:tr>
              <a:tr h="365760">
                <a:tc>
                  <a:txBody>
                    <a:bodyPr/>
                    <a:lstStyle/>
                    <a:p>
                      <a:pPr>
                        <a:buNone/>
                      </a:pPr>
                      <a:r>
                        <a:rPr lang="en-US" sz="1000" b="0" dirty="0">
                          <a:ln>
                            <a:noFill/>
                          </a:ln>
                          <a:solidFill>
                            <a:srgbClr val="000000"/>
                          </a:solidFill>
                        </a:rPr>
                        <a:t>Representation learning</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sz="1000" b="0" dirty="0">
                          <a:solidFill>
                            <a:srgbClr val="000000"/>
                          </a:solidFill>
                        </a:rPr>
                        <a:t>Often obfuscate the full input, causing utility degradation and extra latency</a:t>
                      </a: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1003588"/>
                  </a:ext>
                </a:extLst>
              </a:tr>
              <a:tr h="365760">
                <a:tc>
                  <a:txBody>
                    <a:bodyPr/>
                    <a:lstStyle/>
                    <a:p>
                      <a:pPr>
                        <a:buNone/>
                      </a:pPr>
                      <a:r>
                        <a:rPr lang="en-US" sz="1000" b="0" dirty="0">
                          <a:ln>
                            <a:noFill/>
                          </a:ln>
                          <a:solidFill>
                            <a:srgbClr val="000000"/>
                          </a:solidFill>
                        </a:rPr>
                        <a:t>Existing methods in general</a:t>
                      </a:r>
                    </a:p>
                  </a:txBody>
                  <a:tcPr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buNone/>
                      </a:pPr>
                      <a:r>
                        <a:rPr lang="en-US" sz="1000" dirty="0">
                          <a:solidFill>
                            <a:srgbClr val="000000"/>
                          </a:solidFill>
                        </a:rPr>
                        <a:t>Rarely consider distributed multi-server settings</a:t>
                      </a:r>
                    </a:p>
                  </a:txBody>
                  <a:tcPr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05493794"/>
                  </a:ext>
                </a:extLst>
              </a:tr>
            </a:tbl>
          </a:graphicData>
        </a:graphic>
      </p:graphicFrame>
      <p:sp>
        <p:nvSpPr>
          <p:cNvPr id="59" name="TextBox 58">
            <a:extLst>
              <a:ext uri="{FF2B5EF4-FFF2-40B4-BE49-F238E27FC236}">
                <a16:creationId xmlns:a16="http://schemas.microsoft.com/office/drawing/2014/main" id="{1FC9BC23-2C73-C306-8B69-40BF03AC39B6}"/>
              </a:ext>
            </a:extLst>
          </p:cNvPr>
          <p:cNvSpPr txBox="1"/>
          <p:nvPr/>
        </p:nvSpPr>
        <p:spPr>
          <a:xfrm>
            <a:off x="701545" y="3674223"/>
            <a:ext cx="8582700" cy="523220"/>
          </a:xfrm>
          <a:prstGeom prst="rect">
            <a:avLst/>
          </a:prstGeom>
          <a:noFill/>
        </p:spPr>
        <p:txBody>
          <a:bodyPr wrap="square" rtlCol="0">
            <a:spAutoFit/>
          </a:bodyPr>
          <a:lstStyle/>
          <a:p>
            <a:r>
              <a:rPr lang="en-US" b="1" dirty="0">
                <a:solidFill>
                  <a:srgbClr val="C01F21"/>
                </a:solidFill>
              </a:rPr>
              <a:t>Existing methods do not jointly consider privacy, utility, latency, and distributed execution.</a:t>
            </a:r>
            <a:endParaRPr lang="en-US" dirty="0">
              <a:solidFill>
                <a:srgbClr val="C01F21"/>
              </a:solidFill>
            </a:endParaRPr>
          </a:p>
          <a:p>
            <a:endParaRPr lang="en-US" dirty="0"/>
          </a:p>
        </p:txBody>
      </p:sp>
      <p:sp>
        <p:nvSpPr>
          <p:cNvPr id="3" name="Slide Number Placeholder 2">
            <a:extLst>
              <a:ext uri="{FF2B5EF4-FFF2-40B4-BE49-F238E27FC236}">
                <a16:creationId xmlns:a16="http://schemas.microsoft.com/office/drawing/2014/main" id="{AC534E32-4688-EC80-72B2-8604C8CE4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4" name="TextBox 3">
            <a:extLst>
              <a:ext uri="{FF2B5EF4-FFF2-40B4-BE49-F238E27FC236}">
                <a16:creationId xmlns:a16="http://schemas.microsoft.com/office/drawing/2014/main" id="{9CB0AB6D-F352-32F1-D86D-2867D8AADA1E}"/>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800245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22AFB25A-1217-3E31-2995-358890927E09}"/>
            </a:ext>
          </a:extLst>
        </p:cNvPr>
        <p:cNvGrpSpPr/>
        <p:nvPr/>
      </p:nvGrpSpPr>
      <p:grpSpPr>
        <a:xfrm>
          <a:off x="0" y="0"/>
          <a:ext cx="0" cy="0"/>
          <a:chOff x="0" y="0"/>
          <a:chExt cx="0" cy="0"/>
        </a:xfrm>
      </p:grpSpPr>
      <p:sp>
        <p:nvSpPr>
          <p:cNvPr id="61" name="Google Shape;61;p5">
            <a:extLst>
              <a:ext uri="{FF2B5EF4-FFF2-40B4-BE49-F238E27FC236}">
                <a16:creationId xmlns:a16="http://schemas.microsoft.com/office/drawing/2014/main" id="{649E4788-6B6D-4FFD-1442-5BEEC7BABA79}"/>
              </a:ext>
            </a:extLst>
          </p:cNvPr>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LLPRI: System Overview</a:t>
            </a:r>
            <a:br>
              <a:rPr lang="en-US" dirty="0"/>
            </a:br>
            <a:endParaRPr lang="en-US" dirty="0"/>
          </a:p>
        </p:txBody>
      </p:sp>
      <p:sp>
        <p:nvSpPr>
          <p:cNvPr id="62" name="Google Shape;62;p5">
            <a:extLst>
              <a:ext uri="{FF2B5EF4-FFF2-40B4-BE49-F238E27FC236}">
                <a16:creationId xmlns:a16="http://schemas.microsoft.com/office/drawing/2014/main" id="{FE9E72A3-935C-5705-A4A2-E40752984DD4}"/>
              </a:ext>
            </a:extLst>
          </p:cNvPr>
          <p:cNvSpPr txBox="1">
            <a:spLocks noGrp="1"/>
          </p:cNvSpPr>
          <p:nvPr>
            <p:ph type="body" idx="1"/>
          </p:nvPr>
        </p:nvSpPr>
        <p:spPr>
          <a:xfrm>
            <a:off x="4425823" y="973729"/>
            <a:ext cx="4364663" cy="3134603"/>
          </a:xfrm>
          <a:prstGeom prst="rect">
            <a:avLst/>
          </a:prstGeom>
          <a:noFill/>
          <a:ln>
            <a:noFill/>
          </a:ln>
        </p:spPr>
        <p:txBody>
          <a:bodyPr spcFirstLastPara="1" wrap="square" lIns="91425" tIns="91425" rIns="91425" bIns="91425" anchor="t" anchorCtr="0">
            <a:noAutofit/>
          </a:bodyPr>
          <a:lstStyle/>
          <a:p>
            <a:pPr>
              <a:buFont typeface="+mj-lt"/>
              <a:buAutoNum type="arabicPeriod"/>
            </a:pPr>
            <a:r>
              <a:rPr lang="en-US" sz="1400" dirty="0">
                <a:solidFill>
                  <a:srgbClr val="C01F21"/>
                </a:solidFill>
              </a:rPr>
              <a:t>Sensitive Object Detector</a:t>
            </a:r>
          </a:p>
          <a:p>
            <a:pPr lvl="1">
              <a:buFont typeface="Times New Roman" panose="02020603050405020304" pitchFamily="18" charset="0"/>
              <a:buChar char="→"/>
            </a:pPr>
            <a:r>
              <a:rPr lang="en-US" sz="1200" dirty="0"/>
              <a:t>Identifies sensitive regions.</a:t>
            </a:r>
          </a:p>
          <a:p>
            <a:pPr lvl="1">
              <a:buFont typeface="Times New Roman" panose="02020603050405020304" pitchFamily="18" charset="0"/>
              <a:buChar char="→"/>
            </a:pPr>
            <a:r>
              <a:rPr lang="en-US" sz="1200" dirty="0"/>
              <a:t>Enhanced by privacy-aware loss and knowledge distillation.</a:t>
            </a:r>
          </a:p>
          <a:p>
            <a:pPr lvl="1">
              <a:buFont typeface="Times New Roman" panose="02020603050405020304" pitchFamily="18" charset="0"/>
              <a:buChar char="→"/>
            </a:pPr>
            <a:endParaRPr lang="en-US" sz="1200" dirty="0"/>
          </a:p>
          <a:p>
            <a:pPr marL="457200" lvl="0" indent="-342900" algn="l" rtl="0">
              <a:lnSpc>
                <a:spcPct val="115000"/>
              </a:lnSpc>
              <a:spcBef>
                <a:spcPts val="0"/>
              </a:spcBef>
              <a:spcAft>
                <a:spcPts val="0"/>
              </a:spcAft>
              <a:buSzPts val="1800"/>
              <a:buFont typeface="+mj-lt"/>
              <a:buAutoNum type="arabicPeriod"/>
            </a:pPr>
            <a:r>
              <a:rPr lang="en-US" sz="1400" dirty="0">
                <a:solidFill>
                  <a:srgbClr val="C01F21"/>
                </a:solidFill>
              </a:rPr>
              <a:t>Scheduler</a:t>
            </a:r>
          </a:p>
          <a:p>
            <a:pPr lvl="1" indent="-342900">
              <a:buSzPct val="117000"/>
              <a:buFont typeface="Times New Roman" panose="02020603050405020304" pitchFamily="18" charset="0"/>
              <a:buChar char="→"/>
            </a:pPr>
            <a:r>
              <a:rPr lang="en-US" sz="1200" dirty="0"/>
              <a:t>Separates and partitions image regions.</a:t>
            </a:r>
          </a:p>
          <a:p>
            <a:pPr lvl="1" indent="-342900">
              <a:buSzPct val="117000"/>
              <a:buFont typeface="Times New Roman" panose="02020603050405020304" pitchFamily="18" charset="0"/>
              <a:buChar char="→"/>
            </a:pPr>
            <a:r>
              <a:rPr lang="en-US" sz="1200" dirty="0"/>
              <a:t>Assigns chunks based on size, network condition, and server load. </a:t>
            </a:r>
          </a:p>
          <a:p>
            <a:pPr lvl="1" indent="-342900">
              <a:buSzPct val="117000"/>
              <a:buFont typeface="Times New Roman" panose="02020603050405020304" pitchFamily="18" charset="0"/>
              <a:buChar char="→"/>
            </a:pPr>
            <a:endParaRPr sz="1200" dirty="0"/>
          </a:p>
          <a:p>
            <a:pPr marL="457200" lvl="0" indent="-342900" algn="l" rtl="0">
              <a:lnSpc>
                <a:spcPct val="115000"/>
              </a:lnSpc>
              <a:spcBef>
                <a:spcPts val="0"/>
              </a:spcBef>
              <a:spcAft>
                <a:spcPts val="0"/>
              </a:spcAft>
              <a:buSzPts val="1800"/>
              <a:buFont typeface="+mj-lt"/>
              <a:buAutoNum type="arabicPeriod"/>
            </a:pPr>
            <a:r>
              <a:rPr lang="en-US" sz="1400" dirty="0">
                <a:solidFill>
                  <a:srgbClr val="C01F21"/>
                </a:solidFill>
              </a:rPr>
              <a:t>Obfuscator</a:t>
            </a:r>
          </a:p>
          <a:p>
            <a:pPr lvl="1" indent="-342900">
              <a:buSzPct val="117000"/>
              <a:buFont typeface="Times New Roman" panose="02020603050405020304" pitchFamily="18" charset="0"/>
              <a:buChar char="→"/>
            </a:pPr>
            <a:r>
              <a:rPr lang="en-US" sz="1200" dirty="0">
                <a:solidFill>
                  <a:schemeClr val="tx2">
                    <a:lumMod val="10000"/>
                  </a:schemeClr>
                </a:solidFill>
              </a:rPr>
              <a:t>Obfuscates only sensitive regions.</a:t>
            </a:r>
          </a:p>
          <a:p>
            <a:pPr lvl="1" indent="-342900">
              <a:buSzPct val="117000"/>
              <a:buFont typeface="Times New Roman" panose="02020603050405020304" pitchFamily="18" charset="0"/>
              <a:buChar char="→"/>
            </a:pPr>
            <a:r>
              <a:rPr lang="en-US" sz="1200" dirty="0">
                <a:solidFill>
                  <a:schemeClr val="tx2">
                    <a:lumMod val="10000"/>
                  </a:schemeClr>
                </a:solidFill>
              </a:rPr>
              <a:t>Reuses early model layers to reduce latency.</a:t>
            </a:r>
          </a:p>
          <a:p>
            <a:pPr marL="571500" lvl="1" indent="0">
              <a:buSzPts val="1800"/>
              <a:buNone/>
            </a:pPr>
            <a:endParaRPr dirty="0">
              <a:solidFill>
                <a:schemeClr val="tx2">
                  <a:lumMod val="10000"/>
                </a:schemeClr>
              </a:solidFill>
            </a:endParaRPr>
          </a:p>
        </p:txBody>
      </p:sp>
      <p:pic>
        <p:nvPicPr>
          <p:cNvPr id="3" name="Picture 2" descr="A diagram of a remote device&#10;&#10;AI-generated content may be incorrect.">
            <a:extLst>
              <a:ext uri="{FF2B5EF4-FFF2-40B4-BE49-F238E27FC236}">
                <a16:creationId xmlns:a16="http://schemas.microsoft.com/office/drawing/2014/main" id="{CF0DA574-FE94-B7C1-E26E-24FF7F210D06}"/>
              </a:ext>
            </a:extLst>
          </p:cNvPr>
          <p:cNvPicPr>
            <a:picLocks noChangeAspect="1"/>
          </p:cNvPicPr>
          <p:nvPr/>
        </p:nvPicPr>
        <p:blipFill>
          <a:blip r:embed="rId3"/>
          <a:stretch>
            <a:fillRect/>
          </a:stretch>
        </p:blipFill>
        <p:spPr>
          <a:xfrm>
            <a:off x="249600" y="973729"/>
            <a:ext cx="4255922" cy="2999181"/>
          </a:xfrm>
          <a:prstGeom prst="rect">
            <a:avLst/>
          </a:prstGeom>
        </p:spPr>
      </p:pic>
      <p:sp>
        <p:nvSpPr>
          <p:cNvPr id="2" name="Slide Number Placeholder 1">
            <a:extLst>
              <a:ext uri="{FF2B5EF4-FFF2-40B4-BE49-F238E27FC236}">
                <a16:creationId xmlns:a16="http://schemas.microsoft.com/office/drawing/2014/main" id="{EFA5FD2C-41DD-91DB-1C62-49D45ED6A8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4" name="TextBox 3">
            <a:extLst>
              <a:ext uri="{FF2B5EF4-FFF2-40B4-BE49-F238E27FC236}">
                <a16:creationId xmlns:a16="http://schemas.microsoft.com/office/drawing/2014/main" id="{3421FEE0-FED7-FDBB-3DF1-64B9267A6A8A}"/>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1332808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BFFA4-A18B-57AD-7B50-47728E238655}"/>
              </a:ext>
            </a:extLst>
          </p:cNvPr>
          <p:cNvSpPr>
            <a:spLocks noGrp="1"/>
          </p:cNvSpPr>
          <p:nvPr>
            <p:ph type="title"/>
          </p:nvPr>
        </p:nvSpPr>
        <p:spPr/>
        <p:txBody>
          <a:bodyPr/>
          <a:lstStyle/>
          <a:p>
            <a:r>
              <a:rPr lang="en-US" sz="2200" b="1" dirty="0">
                <a:solidFill>
                  <a:srgbClr val="C01F21"/>
                </a:solidFill>
              </a:rPr>
              <a:t>Core Module I: Sensitive Object Detector</a:t>
            </a:r>
          </a:p>
        </p:txBody>
      </p:sp>
      <p:pic>
        <p:nvPicPr>
          <p:cNvPr id="7" name="Picture 6">
            <a:extLst>
              <a:ext uri="{FF2B5EF4-FFF2-40B4-BE49-F238E27FC236}">
                <a16:creationId xmlns:a16="http://schemas.microsoft.com/office/drawing/2014/main" id="{EBE3E222-95D5-6882-3D80-1E751F3926A6}"/>
              </a:ext>
            </a:extLst>
          </p:cNvPr>
          <p:cNvPicPr>
            <a:picLocks noChangeAspect="1"/>
          </p:cNvPicPr>
          <p:nvPr/>
        </p:nvPicPr>
        <p:blipFill>
          <a:blip r:embed="rId3"/>
          <a:stretch>
            <a:fillRect/>
          </a:stretch>
        </p:blipFill>
        <p:spPr>
          <a:xfrm>
            <a:off x="306590" y="1221037"/>
            <a:ext cx="3966896" cy="2272454"/>
          </a:xfrm>
          <a:prstGeom prst="rect">
            <a:avLst/>
          </a:prstGeom>
        </p:spPr>
      </p:pic>
      <p:sp>
        <p:nvSpPr>
          <p:cNvPr id="8" name="Google Shape;62;p5">
            <a:extLst>
              <a:ext uri="{FF2B5EF4-FFF2-40B4-BE49-F238E27FC236}">
                <a16:creationId xmlns:a16="http://schemas.microsoft.com/office/drawing/2014/main" id="{E92C3B59-5277-1513-5351-7FE5235416AB}"/>
              </a:ext>
            </a:extLst>
          </p:cNvPr>
          <p:cNvSpPr txBox="1">
            <a:spLocks noGrp="1"/>
          </p:cNvSpPr>
          <p:nvPr>
            <p:ph type="body" idx="1"/>
          </p:nvPr>
        </p:nvSpPr>
        <p:spPr>
          <a:xfrm>
            <a:off x="4166535" y="1221037"/>
            <a:ext cx="4430932" cy="2426520"/>
          </a:xfrm>
          <a:prstGeom prst="rect">
            <a:avLst/>
          </a:prstGeom>
          <a:noFill/>
          <a:ln>
            <a:noFill/>
          </a:ln>
        </p:spPr>
        <p:txBody>
          <a:bodyPr spcFirstLastPara="1" wrap="square" lIns="91425" tIns="91425" rIns="91425" bIns="91425" anchor="t" anchorCtr="0">
            <a:noAutofit/>
          </a:bodyPr>
          <a:lstStyle/>
          <a:p>
            <a:r>
              <a:rPr lang="en-US" sz="1400" dirty="0"/>
              <a:t>Lightweight detector</a:t>
            </a:r>
          </a:p>
          <a:p>
            <a:pPr lvl="1">
              <a:buFont typeface="Times New Roman" panose="02020603050405020304" pitchFamily="18" charset="0"/>
              <a:buChar char="→"/>
            </a:pPr>
            <a:r>
              <a:rPr lang="en-US" sz="1000" dirty="0"/>
              <a:t>Keep the detector compact and maintain low latency.</a:t>
            </a:r>
            <a:endParaRPr lang="en-US" sz="1200" dirty="0"/>
          </a:p>
          <a:p>
            <a:pPr lvl="1">
              <a:buFont typeface="Times New Roman" panose="02020603050405020304" pitchFamily="18" charset="0"/>
              <a:buChar char="→"/>
            </a:pPr>
            <a:endParaRPr lang="en-US" sz="1200" dirty="0"/>
          </a:p>
          <a:p>
            <a:pPr marL="457200" lvl="0" indent="-342900" algn="l" rtl="0">
              <a:lnSpc>
                <a:spcPct val="115000"/>
              </a:lnSpc>
              <a:spcBef>
                <a:spcPts val="0"/>
              </a:spcBef>
              <a:spcAft>
                <a:spcPts val="0"/>
              </a:spcAft>
              <a:buSzPts val="1800"/>
              <a:buChar char="●"/>
            </a:pPr>
            <a:r>
              <a:rPr lang="en-US" sz="1400" dirty="0"/>
              <a:t>Privacy-aware training improves reliability</a:t>
            </a:r>
          </a:p>
          <a:p>
            <a:pPr lvl="1" indent="-342900">
              <a:buSzPct val="117000"/>
              <a:buFont typeface="Times New Roman" panose="02020603050405020304" pitchFamily="18" charset="0"/>
              <a:buChar char="→"/>
            </a:pPr>
            <a:r>
              <a:rPr lang="en-US" sz="1000" dirty="0"/>
              <a:t>Missing detections cause privacy leakage.</a:t>
            </a:r>
          </a:p>
          <a:p>
            <a:pPr lvl="1" indent="-342900">
              <a:buSzPct val="117000"/>
              <a:buFont typeface="Times New Roman" panose="02020603050405020304" pitchFamily="18" charset="0"/>
              <a:buChar char="→"/>
            </a:pPr>
            <a:endParaRPr lang="en-US" sz="400" dirty="0"/>
          </a:p>
          <a:p>
            <a:pPr lvl="1" indent="-342900">
              <a:buSzPct val="117000"/>
              <a:buFont typeface="Times New Roman" panose="02020603050405020304" pitchFamily="18" charset="0"/>
              <a:buChar char="→"/>
            </a:pPr>
            <a:r>
              <a:rPr lang="en-US" sz="1000" dirty="0"/>
              <a:t>Privacy-enhanced loss</a:t>
            </a:r>
          </a:p>
          <a:p>
            <a:pPr lvl="2" indent="-342900">
              <a:buSzPct val="117000"/>
              <a:buFont typeface="Wingdings" pitchFamily="2" charset="2"/>
              <a:buChar char="§"/>
            </a:pPr>
            <a:r>
              <a:rPr lang="en-US" sz="1000" dirty="0"/>
              <a:t>Modified YOLOv8 loss to </a:t>
            </a:r>
            <a:r>
              <a:rPr lang="en-US" sz="1000" dirty="0">
                <a:solidFill>
                  <a:srgbClr val="0070C0"/>
                </a:solidFill>
              </a:rPr>
              <a:t>prioritizes sensitive-object recall over precision.</a:t>
            </a:r>
            <a:endParaRPr lang="en-US" sz="1000" dirty="0"/>
          </a:p>
          <a:p>
            <a:pPr lvl="2" indent="-342900">
              <a:buSzPct val="117000"/>
              <a:buFont typeface="Wingdings" pitchFamily="2" charset="2"/>
              <a:buChar char="§"/>
            </a:pPr>
            <a:endParaRPr lang="en-US" sz="400" dirty="0"/>
          </a:p>
          <a:p>
            <a:pPr lvl="1" indent="-342900">
              <a:buSzPct val="117000"/>
              <a:buFont typeface="Times New Roman" panose="02020603050405020304" pitchFamily="18" charset="0"/>
              <a:buChar char="→"/>
            </a:pPr>
            <a:r>
              <a:rPr lang="en-US" sz="1000" dirty="0"/>
              <a:t>Sensitive-class-aware knowledge distillation</a:t>
            </a:r>
          </a:p>
          <a:p>
            <a:pPr lvl="2" indent="-342900">
              <a:buSzPct val="117000"/>
              <a:buFont typeface="Wingdings" pitchFamily="2" charset="2"/>
              <a:buChar char="§"/>
            </a:pPr>
            <a:r>
              <a:rPr lang="en-US" sz="1000" dirty="0"/>
              <a:t>Transfers both classification and localization cues.</a:t>
            </a:r>
          </a:p>
          <a:p>
            <a:pPr lvl="2" indent="-342900">
              <a:buSzPct val="117000"/>
              <a:buFont typeface="Wingdings" pitchFamily="2" charset="2"/>
              <a:buChar char="§"/>
            </a:pPr>
            <a:r>
              <a:rPr lang="en-US" sz="1000" dirty="0"/>
              <a:t>Put </a:t>
            </a:r>
            <a:r>
              <a:rPr lang="en-US" sz="1000" dirty="0">
                <a:solidFill>
                  <a:srgbClr val="0070C0"/>
                </a:solidFill>
              </a:rPr>
              <a:t>extra emphasis on sensitive categories.</a:t>
            </a:r>
            <a:endParaRPr lang="en-US" sz="1000" dirty="0"/>
          </a:p>
          <a:p>
            <a:pPr lvl="2" indent="-342900">
              <a:buSzPct val="117000"/>
              <a:buFont typeface="Times New Roman" panose="02020603050405020304" pitchFamily="18" charset="0"/>
              <a:buChar char="→"/>
            </a:pPr>
            <a:endParaRPr lang="en-US" sz="1200" dirty="0"/>
          </a:p>
        </p:txBody>
      </p:sp>
      <p:sp>
        <p:nvSpPr>
          <p:cNvPr id="3" name="Slide Number Placeholder 2">
            <a:extLst>
              <a:ext uri="{FF2B5EF4-FFF2-40B4-BE49-F238E27FC236}">
                <a16:creationId xmlns:a16="http://schemas.microsoft.com/office/drawing/2014/main" id="{EF0AE79C-38E8-2C0F-BE25-936966FAC9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4" name="TextBox 3">
            <a:extLst>
              <a:ext uri="{FF2B5EF4-FFF2-40B4-BE49-F238E27FC236}">
                <a16:creationId xmlns:a16="http://schemas.microsoft.com/office/drawing/2014/main" id="{1D1724D6-461F-2CEA-9BEB-23A329B9CCE4}"/>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3978688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7AAE89-02BE-30BA-FD1F-A60C4052A7AA}"/>
              </a:ext>
            </a:extLst>
          </p:cNvPr>
          <p:cNvPicPr>
            <a:picLocks noChangeAspect="1"/>
          </p:cNvPicPr>
          <p:nvPr/>
        </p:nvPicPr>
        <p:blipFill>
          <a:blip r:embed="rId2"/>
          <a:stretch>
            <a:fillRect/>
          </a:stretch>
        </p:blipFill>
        <p:spPr>
          <a:xfrm>
            <a:off x="216943" y="842769"/>
            <a:ext cx="3523244" cy="3108745"/>
          </a:xfrm>
          <a:prstGeom prst="rect">
            <a:avLst/>
          </a:prstGeom>
        </p:spPr>
      </p:pic>
      <p:sp>
        <p:nvSpPr>
          <p:cNvPr id="2" name="Title 1">
            <a:extLst>
              <a:ext uri="{FF2B5EF4-FFF2-40B4-BE49-F238E27FC236}">
                <a16:creationId xmlns:a16="http://schemas.microsoft.com/office/drawing/2014/main" id="{CFEAAF5D-4854-48DB-2F22-9935DE0B3938}"/>
              </a:ext>
            </a:extLst>
          </p:cNvPr>
          <p:cNvSpPr>
            <a:spLocks noGrp="1"/>
          </p:cNvSpPr>
          <p:nvPr>
            <p:ph type="title"/>
          </p:nvPr>
        </p:nvSpPr>
        <p:spPr/>
        <p:txBody>
          <a:bodyPr/>
          <a:lstStyle/>
          <a:p>
            <a:r>
              <a:rPr lang="en-US" sz="2200" b="1" dirty="0">
                <a:solidFill>
                  <a:srgbClr val="C01F21"/>
                </a:solidFill>
              </a:rPr>
              <a:t>Core Module II: Scheduler</a:t>
            </a:r>
          </a:p>
        </p:txBody>
      </p:sp>
      <p:sp>
        <p:nvSpPr>
          <p:cNvPr id="8" name="Google Shape;62;p5">
            <a:extLst>
              <a:ext uri="{FF2B5EF4-FFF2-40B4-BE49-F238E27FC236}">
                <a16:creationId xmlns:a16="http://schemas.microsoft.com/office/drawing/2014/main" id="{9B98D629-48FA-D38E-CE3A-426A373D4F32}"/>
              </a:ext>
            </a:extLst>
          </p:cNvPr>
          <p:cNvSpPr txBox="1">
            <a:spLocks noGrp="1"/>
          </p:cNvSpPr>
          <p:nvPr>
            <p:ph type="body" idx="1"/>
          </p:nvPr>
        </p:nvSpPr>
        <p:spPr>
          <a:xfrm>
            <a:off x="3539841" y="1251382"/>
            <a:ext cx="5565643" cy="1922201"/>
          </a:xfrm>
          <a:prstGeom prst="rect">
            <a:avLst/>
          </a:prstGeom>
          <a:noFill/>
          <a:ln>
            <a:noFill/>
          </a:ln>
        </p:spPr>
        <p:txBody>
          <a:bodyPr spcFirstLastPara="1" wrap="square" lIns="91425" tIns="91425" rIns="91425" bIns="91425" anchor="t" anchorCtr="0">
            <a:noAutofit/>
          </a:bodyPr>
          <a:lstStyle/>
          <a:p>
            <a:r>
              <a:rPr lang="en-US" sz="1400" dirty="0"/>
              <a:t>Separates sensitive and non-sensitive image regions</a:t>
            </a:r>
          </a:p>
          <a:p>
            <a:pPr lvl="1">
              <a:buFont typeface="Times New Roman" panose="02020603050405020304" pitchFamily="18" charset="0"/>
              <a:buChar char="→"/>
            </a:pPr>
            <a:r>
              <a:rPr lang="en-US" sz="1200" dirty="0"/>
              <a:t>Sensitive and non-sensitive regions are scheduled differently.</a:t>
            </a:r>
          </a:p>
          <a:p>
            <a:pPr lvl="1">
              <a:buFont typeface="Times New Roman" panose="02020603050405020304" pitchFamily="18" charset="0"/>
              <a:buChar char="→"/>
            </a:pPr>
            <a:r>
              <a:rPr lang="en-US" sz="1200" dirty="0"/>
              <a:t>Sensitive objects are </a:t>
            </a:r>
            <a:r>
              <a:rPr lang="en-US" sz="1200" dirty="0">
                <a:solidFill>
                  <a:srgbClr val="0070C0"/>
                </a:solidFill>
              </a:rPr>
              <a:t>sent to the obfuscator </a:t>
            </a:r>
            <a:r>
              <a:rPr lang="en-US" sz="1200" dirty="0"/>
              <a:t>before transmission.</a:t>
            </a:r>
          </a:p>
          <a:p>
            <a:pPr lvl="1">
              <a:buFont typeface="Times New Roman" panose="02020603050405020304" pitchFamily="18" charset="0"/>
              <a:buChar char="→"/>
            </a:pPr>
            <a:r>
              <a:rPr lang="en-US" sz="1200" dirty="0"/>
              <a:t>Non-sensitive region </a:t>
            </a:r>
            <a:r>
              <a:rPr lang="en-US" sz="1200" dirty="0">
                <a:solidFill>
                  <a:srgbClr val="0070C0"/>
                </a:solidFill>
              </a:rPr>
              <a:t>are further partitioned into chunks.</a:t>
            </a:r>
          </a:p>
          <a:p>
            <a:pPr marL="596900" lvl="1" indent="0">
              <a:buNone/>
            </a:pPr>
            <a:endParaRPr lang="en-US" sz="1200" dirty="0"/>
          </a:p>
          <a:p>
            <a:r>
              <a:rPr lang="en-US" sz="1400" dirty="0"/>
              <a:t>Adapts to server load and image size</a:t>
            </a:r>
          </a:p>
          <a:p>
            <a:pPr lvl="1">
              <a:buFont typeface="Times New Roman" panose="02020603050405020304" pitchFamily="18" charset="0"/>
              <a:buChar char="→"/>
            </a:pPr>
            <a:r>
              <a:rPr lang="en-US" sz="1200" dirty="0"/>
              <a:t>The scheduler assigns chunks to reduce latency in distributed environments.</a:t>
            </a:r>
          </a:p>
          <a:p>
            <a:pPr marL="571500" lvl="1" indent="0">
              <a:buSzPts val="1800"/>
              <a:buNone/>
            </a:pPr>
            <a:endParaRPr dirty="0">
              <a:solidFill>
                <a:schemeClr val="tx2">
                  <a:lumMod val="10000"/>
                </a:schemeClr>
              </a:solidFill>
            </a:endParaRPr>
          </a:p>
        </p:txBody>
      </p:sp>
      <p:sp>
        <p:nvSpPr>
          <p:cNvPr id="3" name="Slide Number Placeholder 2">
            <a:extLst>
              <a:ext uri="{FF2B5EF4-FFF2-40B4-BE49-F238E27FC236}">
                <a16:creationId xmlns:a16="http://schemas.microsoft.com/office/drawing/2014/main" id="{5702EB26-4DE9-152C-A200-F52C9ED4B2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4" name="TextBox 3">
            <a:extLst>
              <a:ext uri="{FF2B5EF4-FFF2-40B4-BE49-F238E27FC236}">
                <a16:creationId xmlns:a16="http://schemas.microsoft.com/office/drawing/2014/main" id="{00107038-E041-E8D9-A66F-F36DCFFD8F93}"/>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2025473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BD211-15E7-1AD3-2B5D-F1EB730A398D}"/>
              </a:ext>
            </a:extLst>
          </p:cNvPr>
          <p:cNvSpPr>
            <a:spLocks noGrp="1"/>
          </p:cNvSpPr>
          <p:nvPr>
            <p:ph type="title"/>
          </p:nvPr>
        </p:nvSpPr>
        <p:spPr/>
        <p:txBody>
          <a:bodyPr/>
          <a:lstStyle/>
          <a:p>
            <a:r>
              <a:rPr lang="en-US" sz="2200" b="1" dirty="0">
                <a:solidFill>
                  <a:srgbClr val="C01F21"/>
                </a:solidFill>
              </a:rPr>
              <a:t>Core Module III: Obfuscator </a:t>
            </a:r>
          </a:p>
        </p:txBody>
      </p:sp>
      <p:pic>
        <p:nvPicPr>
          <p:cNvPr id="5" name="Picture 4">
            <a:extLst>
              <a:ext uri="{FF2B5EF4-FFF2-40B4-BE49-F238E27FC236}">
                <a16:creationId xmlns:a16="http://schemas.microsoft.com/office/drawing/2014/main" id="{6E5FC288-5EE0-78DA-D1D6-CF4D76A25C9D}"/>
              </a:ext>
            </a:extLst>
          </p:cNvPr>
          <p:cNvPicPr>
            <a:picLocks noChangeAspect="1"/>
          </p:cNvPicPr>
          <p:nvPr/>
        </p:nvPicPr>
        <p:blipFill>
          <a:blip r:embed="rId3"/>
          <a:stretch>
            <a:fillRect/>
          </a:stretch>
        </p:blipFill>
        <p:spPr>
          <a:xfrm>
            <a:off x="249600" y="1367734"/>
            <a:ext cx="4444950" cy="1929431"/>
          </a:xfrm>
          <a:prstGeom prst="rect">
            <a:avLst/>
          </a:prstGeom>
        </p:spPr>
      </p:pic>
      <p:sp>
        <p:nvSpPr>
          <p:cNvPr id="6" name="Google Shape;62;p5">
            <a:extLst>
              <a:ext uri="{FF2B5EF4-FFF2-40B4-BE49-F238E27FC236}">
                <a16:creationId xmlns:a16="http://schemas.microsoft.com/office/drawing/2014/main" id="{D51FF611-7088-79DC-C29A-9E83EF93D927}"/>
              </a:ext>
            </a:extLst>
          </p:cNvPr>
          <p:cNvSpPr txBox="1">
            <a:spLocks noGrp="1"/>
          </p:cNvSpPr>
          <p:nvPr>
            <p:ph type="body" idx="1"/>
          </p:nvPr>
        </p:nvSpPr>
        <p:spPr>
          <a:xfrm>
            <a:off x="4691738" y="993562"/>
            <a:ext cx="3960732" cy="3134603"/>
          </a:xfrm>
          <a:prstGeom prst="rect">
            <a:avLst/>
          </a:prstGeom>
          <a:noFill/>
          <a:ln>
            <a:noFill/>
          </a:ln>
        </p:spPr>
        <p:txBody>
          <a:bodyPr spcFirstLastPara="1" wrap="square" lIns="91425" tIns="91425" rIns="91425" bIns="91425" anchor="t" anchorCtr="0">
            <a:noAutofit/>
          </a:bodyPr>
          <a:lstStyle/>
          <a:p>
            <a:r>
              <a:rPr lang="en-US" sz="1400" dirty="0"/>
              <a:t>Applies obfuscation only where needed</a:t>
            </a:r>
          </a:p>
          <a:p>
            <a:pPr lvl="1">
              <a:buFont typeface="Times New Roman" panose="02020603050405020304" pitchFamily="18" charset="0"/>
              <a:buChar char="→"/>
            </a:pPr>
            <a:r>
              <a:rPr lang="en-US" sz="1000" dirty="0"/>
              <a:t>By protecting only sensitive regions, LLPRI reduces utility loss and obfuscation overhead.</a:t>
            </a:r>
          </a:p>
          <a:p>
            <a:pPr lvl="1"/>
            <a:endParaRPr lang="en-US" sz="1200" dirty="0"/>
          </a:p>
          <a:p>
            <a:r>
              <a:rPr lang="en-US" sz="1400" dirty="0"/>
              <a:t>Reuses early model layers for embedding</a:t>
            </a:r>
          </a:p>
          <a:p>
            <a:pPr lvl="1">
              <a:buFont typeface="Times New Roman" panose="02020603050405020304" pitchFamily="18" charset="0"/>
              <a:buChar char="→"/>
            </a:pPr>
            <a:r>
              <a:rPr lang="en-US" sz="1000" dirty="0"/>
              <a:t>LLPRI avoids adding a separate encoder by using the early backbone layers of the target model.</a:t>
            </a:r>
          </a:p>
          <a:p>
            <a:pPr lvl="1"/>
            <a:endParaRPr lang="en-US" sz="1200" dirty="0"/>
          </a:p>
          <a:p>
            <a:r>
              <a:rPr lang="en-US" sz="1400" dirty="0"/>
              <a:t>Masks privacy-sensitive activations in latent space</a:t>
            </a:r>
          </a:p>
          <a:p>
            <a:pPr lvl="1">
              <a:spcAft>
                <a:spcPts val="600"/>
              </a:spcAft>
              <a:buFont typeface="Times New Roman" panose="02020603050405020304" pitchFamily="18" charset="0"/>
              <a:buChar char="→"/>
            </a:pPr>
            <a:r>
              <a:rPr lang="en-US" sz="1000" dirty="0"/>
              <a:t>A mask generation network is trained to simultaneously </a:t>
            </a:r>
            <a:r>
              <a:rPr lang="en-US" sz="1000" dirty="0">
                <a:solidFill>
                  <a:srgbClr val="0070C0"/>
                </a:solidFill>
              </a:rPr>
              <a:t>minimize the utility loss and maximize adversarial loss.</a:t>
            </a:r>
          </a:p>
        </p:txBody>
      </p:sp>
      <p:sp>
        <p:nvSpPr>
          <p:cNvPr id="3" name="Slide Number Placeholder 2">
            <a:extLst>
              <a:ext uri="{FF2B5EF4-FFF2-40B4-BE49-F238E27FC236}">
                <a16:creationId xmlns:a16="http://schemas.microsoft.com/office/drawing/2014/main" id="{7C8B6D14-8B22-3F17-873E-45B44207BF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4" name="TextBox 3">
            <a:extLst>
              <a:ext uri="{FF2B5EF4-FFF2-40B4-BE49-F238E27FC236}">
                <a16:creationId xmlns:a16="http://schemas.microsoft.com/office/drawing/2014/main" id="{823D2DE4-1561-CC37-3BFE-66F4D5EF57EE}"/>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1923847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02A83FE-609F-FF5F-609A-B81C55744B85}"/>
            </a:ext>
          </a:extLst>
        </p:cNvPr>
        <p:cNvGrpSpPr/>
        <p:nvPr/>
      </p:nvGrpSpPr>
      <p:grpSpPr>
        <a:xfrm>
          <a:off x="0" y="0"/>
          <a:ext cx="0" cy="0"/>
          <a:chOff x="0" y="0"/>
          <a:chExt cx="0" cy="0"/>
        </a:xfrm>
      </p:grpSpPr>
      <p:sp>
        <p:nvSpPr>
          <p:cNvPr id="242" name="Google Shape;242;p21">
            <a:extLst>
              <a:ext uri="{FF2B5EF4-FFF2-40B4-BE49-F238E27FC236}">
                <a16:creationId xmlns:a16="http://schemas.microsoft.com/office/drawing/2014/main" id="{B1DA89FE-8CDA-3E4C-6746-D7B284DBFE12}"/>
              </a:ext>
            </a:extLst>
          </p:cNvPr>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p>
            <a:r>
              <a:rPr lang="en-US" sz="2200" b="1" dirty="0">
                <a:solidFill>
                  <a:srgbClr val="C01F21"/>
                </a:solidFill>
              </a:rPr>
              <a:t>Privacy–Utility Tradeoff</a:t>
            </a:r>
            <a:endParaRPr lang="en-US" sz="2200" dirty="0">
              <a:solidFill>
                <a:srgbClr val="C01F21"/>
              </a:solidFill>
            </a:endParaRPr>
          </a:p>
        </p:txBody>
      </p:sp>
      <p:pic>
        <p:nvPicPr>
          <p:cNvPr id="13" name="Picture 12">
            <a:extLst>
              <a:ext uri="{FF2B5EF4-FFF2-40B4-BE49-F238E27FC236}">
                <a16:creationId xmlns:a16="http://schemas.microsoft.com/office/drawing/2014/main" id="{417B08FF-2A2E-3413-A80B-4E6989765AFB}"/>
              </a:ext>
            </a:extLst>
          </p:cNvPr>
          <p:cNvPicPr>
            <a:picLocks noChangeAspect="1"/>
          </p:cNvPicPr>
          <p:nvPr/>
        </p:nvPicPr>
        <p:blipFill>
          <a:blip r:embed="rId3"/>
          <a:stretch>
            <a:fillRect/>
          </a:stretch>
        </p:blipFill>
        <p:spPr>
          <a:xfrm>
            <a:off x="441100" y="1011573"/>
            <a:ext cx="3975731" cy="1418875"/>
          </a:xfrm>
          <a:prstGeom prst="rect">
            <a:avLst/>
          </a:prstGeom>
        </p:spPr>
      </p:pic>
      <p:pic>
        <p:nvPicPr>
          <p:cNvPr id="15" name="Picture 14">
            <a:extLst>
              <a:ext uri="{FF2B5EF4-FFF2-40B4-BE49-F238E27FC236}">
                <a16:creationId xmlns:a16="http://schemas.microsoft.com/office/drawing/2014/main" id="{08A6E9BD-9BC2-92D4-27CA-58C3B2451E78}"/>
              </a:ext>
            </a:extLst>
          </p:cNvPr>
          <p:cNvPicPr>
            <a:picLocks noChangeAspect="1"/>
          </p:cNvPicPr>
          <p:nvPr/>
        </p:nvPicPr>
        <p:blipFill>
          <a:blip r:embed="rId4"/>
          <a:stretch>
            <a:fillRect/>
          </a:stretch>
        </p:blipFill>
        <p:spPr>
          <a:xfrm>
            <a:off x="4910280" y="990589"/>
            <a:ext cx="3975731" cy="1439859"/>
          </a:xfrm>
          <a:prstGeom prst="rect">
            <a:avLst/>
          </a:prstGeom>
        </p:spPr>
      </p:pic>
      <p:sp>
        <p:nvSpPr>
          <p:cNvPr id="18" name="TextBox 17">
            <a:extLst>
              <a:ext uri="{FF2B5EF4-FFF2-40B4-BE49-F238E27FC236}">
                <a16:creationId xmlns:a16="http://schemas.microsoft.com/office/drawing/2014/main" id="{279AB0F1-D1CD-1784-21D6-48DF785DA0B9}"/>
              </a:ext>
            </a:extLst>
          </p:cNvPr>
          <p:cNvSpPr txBox="1"/>
          <p:nvPr/>
        </p:nvSpPr>
        <p:spPr>
          <a:xfrm>
            <a:off x="5852378" y="66188"/>
            <a:ext cx="2568416" cy="400110"/>
          </a:xfrm>
          <a:prstGeom prst="rect">
            <a:avLst/>
          </a:prstGeom>
          <a:noFill/>
        </p:spPr>
        <p:txBody>
          <a:bodyPr wrap="square" rtlCol="0">
            <a:spAutoFit/>
          </a:bodyPr>
          <a:lstStyle/>
          <a:p>
            <a:pPr marL="171450" indent="-171450">
              <a:buFont typeface="System Font Regular"/>
              <a:buChar char="*"/>
            </a:pPr>
            <a:r>
              <a:rPr lang="en-US" sz="1000" dirty="0"/>
              <a:t>SSIM: Structure Similarity</a:t>
            </a:r>
          </a:p>
          <a:p>
            <a:pPr marL="171450" indent="-171450">
              <a:buFont typeface="System Font Regular"/>
              <a:buChar char="*"/>
            </a:pPr>
            <a:r>
              <a:rPr lang="en-US" sz="1000" dirty="0"/>
              <a:t>NMI: Normalized Mutual Information</a:t>
            </a:r>
          </a:p>
        </p:txBody>
      </p:sp>
      <p:sp>
        <p:nvSpPr>
          <p:cNvPr id="2" name="Slide Number Placeholder 1">
            <a:extLst>
              <a:ext uri="{FF2B5EF4-FFF2-40B4-BE49-F238E27FC236}">
                <a16:creationId xmlns:a16="http://schemas.microsoft.com/office/drawing/2014/main" id="{37D90C6D-EA53-88AD-FB45-95C6487EAE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3" name="TextBox 2">
            <a:extLst>
              <a:ext uri="{FF2B5EF4-FFF2-40B4-BE49-F238E27FC236}">
                <a16:creationId xmlns:a16="http://schemas.microsoft.com/office/drawing/2014/main" id="{11B58EA1-C39D-A717-B80F-1901F4E4E512}"/>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pic>
        <p:nvPicPr>
          <p:cNvPr id="4" name="Picture 3">
            <a:extLst>
              <a:ext uri="{FF2B5EF4-FFF2-40B4-BE49-F238E27FC236}">
                <a16:creationId xmlns:a16="http://schemas.microsoft.com/office/drawing/2014/main" id="{121826F6-7F55-6D60-A044-7CA5F6CF9BA3}"/>
              </a:ext>
            </a:extLst>
          </p:cNvPr>
          <p:cNvPicPr>
            <a:picLocks noChangeAspect="1"/>
          </p:cNvPicPr>
          <p:nvPr/>
        </p:nvPicPr>
        <p:blipFill>
          <a:blip r:embed="rId5"/>
          <a:stretch>
            <a:fillRect/>
          </a:stretch>
        </p:blipFill>
        <p:spPr>
          <a:xfrm>
            <a:off x="5745174" y="3045678"/>
            <a:ext cx="2811610" cy="1220442"/>
          </a:xfrm>
          <a:prstGeom prst="rect">
            <a:avLst/>
          </a:prstGeom>
        </p:spPr>
      </p:pic>
      <p:sp>
        <p:nvSpPr>
          <p:cNvPr id="6" name="TextBox 5">
            <a:extLst>
              <a:ext uri="{FF2B5EF4-FFF2-40B4-BE49-F238E27FC236}">
                <a16:creationId xmlns:a16="http://schemas.microsoft.com/office/drawing/2014/main" id="{D216A18E-3E27-D702-0827-439DA0678596}"/>
              </a:ext>
            </a:extLst>
          </p:cNvPr>
          <p:cNvSpPr txBox="1"/>
          <p:nvPr/>
        </p:nvSpPr>
        <p:spPr>
          <a:xfrm>
            <a:off x="125023" y="3189674"/>
            <a:ext cx="5577721" cy="1231106"/>
          </a:xfrm>
          <a:prstGeom prst="rect">
            <a:avLst/>
          </a:prstGeom>
          <a:noFill/>
        </p:spPr>
        <p:txBody>
          <a:bodyPr wrap="square" rtlCol="0">
            <a:spAutoFit/>
          </a:bodyPr>
          <a:lstStyle/>
          <a:p>
            <a:pPr marL="171450" indent="-171450">
              <a:spcAft>
                <a:spcPts val="600"/>
              </a:spcAft>
              <a:buFont typeface="System Font Regular"/>
              <a:buChar char="*"/>
            </a:pPr>
            <a:r>
              <a:rPr lang="en-US" sz="1000" b="1" dirty="0"/>
              <a:t>Unaltered Feature:</a:t>
            </a:r>
            <a:r>
              <a:rPr lang="en-US" sz="1000" dirty="0"/>
              <a:t> Split-inference baseline without masking</a:t>
            </a:r>
          </a:p>
          <a:p>
            <a:pPr marL="171450" indent="-171450">
              <a:spcAft>
                <a:spcPts val="600"/>
              </a:spcAft>
              <a:buFont typeface="System Font Regular"/>
              <a:buChar char="*"/>
            </a:pPr>
            <a:r>
              <a:rPr lang="en-US" sz="1000" b="1" dirty="0"/>
              <a:t>Gaussian Noise:</a:t>
            </a:r>
            <a:r>
              <a:rPr lang="en-US" sz="1000" dirty="0"/>
              <a:t> Add Gaussian noise directly to the input image</a:t>
            </a:r>
          </a:p>
          <a:p>
            <a:pPr marL="171450" indent="-171450">
              <a:spcAft>
                <a:spcPts val="600"/>
              </a:spcAft>
              <a:buFont typeface="System Font Regular"/>
              <a:buChar char="*"/>
            </a:pPr>
            <a:r>
              <a:rPr lang="en-US" sz="1000" b="1" dirty="0"/>
              <a:t>Random Mask:</a:t>
            </a:r>
            <a:r>
              <a:rPr lang="en-US" sz="1000" dirty="0"/>
              <a:t> Latent-space masking with a random mask instead of a learned one</a:t>
            </a:r>
          </a:p>
          <a:p>
            <a:pPr marL="171450" indent="-171450">
              <a:spcAft>
                <a:spcPts val="600"/>
              </a:spcAft>
              <a:buFont typeface="System Font Regular"/>
              <a:buChar char="*"/>
            </a:pPr>
            <a:r>
              <a:rPr lang="en-US" sz="1000" b="1" dirty="0"/>
              <a:t>PCA Embedding:</a:t>
            </a:r>
            <a:r>
              <a:rPr lang="en-US" sz="1000" dirty="0"/>
              <a:t> Transmit a PCA-compressed image embedding instead of the raw image</a:t>
            </a:r>
          </a:p>
          <a:p>
            <a:endParaRPr lang="en-US" dirty="0"/>
          </a:p>
        </p:txBody>
      </p:sp>
      <p:cxnSp>
        <p:nvCxnSpPr>
          <p:cNvPr id="7" name="Straight Arrow Connector 6">
            <a:extLst>
              <a:ext uri="{FF2B5EF4-FFF2-40B4-BE49-F238E27FC236}">
                <a16:creationId xmlns:a16="http://schemas.microsoft.com/office/drawing/2014/main" id="{8F6B22BF-8FF2-4C1D-D0E7-7CEFEB104307}"/>
              </a:ext>
            </a:extLst>
          </p:cNvPr>
          <p:cNvCxnSpPr/>
          <p:nvPr/>
        </p:nvCxnSpPr>
        <p:spPr>
          <a:xfrm>
            <a:off x="374292" y="1080648"/>
            <a:ext cx="0" cy="1337559"/>
          </a:xfrm>
          <a:prstGeom prst="straightConnector1">
            <a:avLst/>
          </a:prstGeom>
          <a:ln w="15875">
            <a:solidFill>
              <a:srgbClr val="C01F2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3B1FFD-73FE-0F42-58AF-B54821479E1B}"/>
              </a:ext>
            </a:extLst>
          </p:cNvPr>
          <p:cNvCxnSpPr>
            <a:cxnSpLocks/>
          </p:cNvCxnSpPr>
          <p:nvPr/>
        </p:nvCxnSpPr>
        <p:spPr>
          <a:xfrm>
            <a:off x="4513927" y="623238"/>
            <a:ext cx="0" cy="2111433"/>
          </a:xfrm>
          <a:prstGeom prst="line">
            <a:avLst/>
          </a:prstGeom>
          <a:ln w="19050">
            <a:solidFill>
              <a:srgbClr val="000000"/>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24BC420-D16F-7626-030C-6603E0BC20A8}"/>
              </a:ext>
            </a:extLst>
          </p:cNvPr>
          <p:cNvCxnSpPr/>
          <p:nvPr/>
        </p:nvCxnSpPr>
        <p:spPr>
          <a:xfrm>
            <a:off x="4857404" y="999332"/>
            <a:ext cx="0" cy="1337559"/>
          </a:xfrm>
          <a:prstGeom prst="straightConnector1">
            <a:avLst/>
          </a:prstGeom>
          <a:ln w="15875">
            <a:solidFill>
              <a:srgbClr val="C01F2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4A59F7C-95DA-92ED-169F-1FAE632FF30E}"/>
              </a:ext>
            </a:extLst>
          </p:cNvPr>
          <p:cNvSpPr txBox="1"/>
          <p:nvPr/>
        </p:nvSpPr>
        <p:spPr>
          <a:xfrm>
            <a:off x="4513927" y="2402528"/>
            <a:ext cx="781396" cy="215444"/>
          </a:xfrm>
          <a:prstGeom prst="rect">
            <a:avLst/>
          </a:prstGeom>
          <a:noFill/>
        </p:spPr>
        <p:txBody>
          <a:bodyPr wrap="square" rtlCol="0">
            <a:spAutoFit/>
          </a:bodyPr>
          <a:lstStyle/>
          <a:p>
            <a:r>
              <a:rPr lang="en-US" sz="800" b="1" dirty="0">
                <a:solidFill>
                  <a:srgbClr val="C01F21"/>
                </a:solidFill>
              </a:rPr>
              <a:t>Better utility</a:t>
            </a:r>
          </a:p>
        </p:txBody>
      </p:sp>
      <p:sp>
        <p:nvSpPr>
          <p:cNvPr id="17" name="TextBox 16">
            <a:extLst>
              <a:ext uri="{FF2B5EF4-FFF2-40B4-BE49-F238E27FC236}">
                <a16:creationId xmlns:a16="http://schemas.microsoft.com/office/drawing/2014/main" id="{BB1D9CB8-ED43-B73C-264F-5DAB1216FB08}"/>
              </a:ext>
            </a:extLst>
          </p:cNvPr>
          <p:cNvSpPr txBox="1"/>
          <p:nvPr/>
        </p:nvSpPr>
        <p:spPr>
          <a:xfrm>
            <a:off x="50405" y="2418207"/>
            <a:ext cx="781396" cy="215444"/>
          </a:xfrm>
          <a:prstGeom prst="rect">
            <a:avLst/>
          </a:prstGeom>
          <a:noFill/>
        </p:spPr>
        <p:txBody>
          <a:bodyPr wrap="square" rtlCol="0">
            <a:spAutoFit/>
          </a:bodyPr>
          <a:lstStyle/>
          <a:p>
            <a:r>
              <a:rPr lang="en-US" sz="800" b="1" dirty="0">
                <a:solidFill>
                  <a:srgbClr val="C01F21"/>
                </a:solidFill>
              </a:rPr>
              <a:t>Better utility</a:t>
            </a:r>
          </a:p>
        </p:txBody>
      </p:sp>
      <p:cxnSp>
        <p:nvCxnSpPr>
          <p:cNvPr id="20" name="Straight Arrow Connector 19">
            <a:extLst>
              <a:ext uri="{FF2B5EF4-FFF2-40B4-BE49-F238E27FC236}">
                <a16:creationId xmlns:a16="http://schemas.microsoft.com/office/drawing/2014/main" id="{196EDDE6-8DEF-7F11-BA78-D1DE14E1AD3F}"/>
              </a:ext>
            </a:extLst>
          </p:cNvPr>
          <p:cNvCxnSpPr>
            <a:cxnSpLocks/>
          </p:cNvCxnSpPr>
          <p:nvPr/>
        </p:nvCxnSpPr>
        <p:spPr>
          <a:xfrm flipH="1">
            <a:off x="831801" y="2733194"/>
            <a:ext cx="1476359"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047F418-E046-CD18-D44D-AF9DEC32B341}"/>
              </a:ext>
            </a:extLst>
          </p:cNvPr>
          <p:cNvSpPr txBox="1"/>
          <p:nvPr/>
        </p:nvSpPr>
        <p:spPr>
          <a:xfrm>
            <a:off x="8839" y="2625472"/>
            <a:ext cx="878487" cy="215444"/>
          </a:xfrm>
          <a:prstGeom prst="rect">
            <a:avLst/>
          </a:prstGeom>
          <a:noFill/>
        </p:spPr>
        <p:txBody>
          <a:bodyPr wrap="square" rtlCol="0">
            <a:spAutoFit/>
          </a:bodyPr>
          <a:lstStyle/>
          <a:p>
            <a:r>
              <a:rPr lang="en-US" sz="800" b="1" dirty="0">
                <a:solidFill>
                  <a:srgbClr val="0070C0"/>
                </a:solidFill>
              </a:rPr>
              <a:t>Better privacy</a:t>
            </a:r>
          </a:p>
        </p:txBody>
      </p:sp>
      <p:cxnSp>
        <p:nvCxnSpPr>
          <p:cNvPr id="23" name="Straight Arrow Connector 22">
            <a:extLst>
              <a:ext uri="{FF2B5EF4-FFF2-40B4-BE49-F238E27FC236}">
                <a16:creationId xmlns:a16="http://schemas.microsoft.com/office/drawing/2014/main" id="{15690420-3F68-9F4F-1D9A-FFC7EBA543F6}"/>
              </a:ext>
            </a:extLst>
          </p:cNvPr>
          <p:cNvCxnSpPr>
            <a:cxnSpLocks/>
          </p:cNvCxnSpPr>
          <p:nvPr/>
        </p:nvCxnSpPr>
        <p:spPr>
          <a:xfrm flipH="1">
            <a:off x="5392414" y="2733194"/>
            <a:ext cx="1476359"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22C9543-4390-A3AD-8284-B6B072893026}"/>
              </a:ext>
            </a:extLst>
          </p:cNvPr>
          <p:cNvSpPr txBox="1"/>
          <p:nvPr/>
        </p:nvSpPr>
        <p:spPr>
          <a:xfrm>
            <a:off x="4513927" y="2616518"/>
            <a:ext cx="878487" cy="215444"/>
          </a:xfrm>
          <a:prstGeom prst="rect">
            <a:avLst/>
          </a:prstGeom>
          <a:noFill/>
        </p:spPr>
        <p:txBody>
          <a:bodyPr wrap="square" rtlCol="0">
            <a:spAutoFit/>
          </a:bodyPr>
          <a:lstStyle/>
          <a:p>
            <a:r>
              <a:rPr lang="en-US" sz="800" b="1" dirty="0">
                <a:solidFill>
                  <a:srgbClr val="0070C0"/>
                </a:solidFill>
              </a:rPr>
              <a:t>Better privacy</a:t>
            </a:r>
          </a:p>
        </p:txBody>
      </p:sp>
    </p:spTree>
    <p:extLst>
      <p:ext uri="{BB962C8B-B14F-4D97-AF65-F5344CB8AC3E}">
        <p14:creationId xmlns:p14="http://schemas.microsoft.com/office/powerpoint/2010/main" val="1644737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BA2D1-283A-0837-5411-E8DF18F5C8FA}"/>
              </a:ext>
            </a:extLst>
          </p:cNvPr>
          <p:cNvSpPr>
            <a:spLocks noGrp="1"/>
          </p:cNvSpPr>
          <p:nvPr>
            <p:ph type="title"/>
          </p:nvPr>
        </p:nvSpPr>
        <p:spPr/>
        <p:txBody>
          <a:bodyPr/>
          <a:lstStyle/>
          <a:p>
            <a:r>
              <a:rPr lang="en-US" sz="2200" b="1" dirty="0">
                <a:solidFill>
                  <a:srgbClr val="C01F21"/>
                </a:solidFill>
              </a:rPr>
              <a:t>Latency on Detection and Segmentation</a:t>
            </a:r>
            <a:endParaRPr lang="en-US" sz="2200" dirty="0">
              <a:solidFill>
                <a:srgbClr val="C01F21"/>
              </a:solidFill>
            </a:endParaRPr>
          </a:p>
        </p:txBody>
      </p:sp>
      <p:sp>
        <p:nvSpPr>
          <p:cNvPr id="6" name="TextBox 5">
            <a:extLst>
              <a:ext uri="{FF2B5EF4-FFF2-40B4-BE49-F238E27FC236}">
                <a16:creationId xmlns:a16="http://schemas.microsoft.com/office/drawing/2014/main" id="{A8C01323-585B-EDF2-E8DF-869ECEAF1D2F}"/>
              </a:ext>
            </a:extLst>
          </p:cNvPr>
          <p:cNvSpPr txBox="1"/>
          <p:nvPr/>
        </p:nvSpPr>
        <p:spPr>
          <a:xfrm>
            <a:off x="438786" y="3412613"/>
            <a:ext cx="8582700" cy="523220"/>
          </a:xfrm>
          <a:prstGeom prst="rect">
            <a:avLst/>
          </a:prstGeom>
          <a:noFill/>
        </p:spPr>
        <p:txBody>
          <a:bodyPr wrap="square" rtlCol="0">
            <a:spAutoFit/>
          </a:bodyPr>
          <a:lstStyle/>
          <a:p>
            <a:r>
              <a:rPr lang="en-US" b="1" dirty="0">
                <a:solidFill>
                  <a:srgbClr val="C01F21"/>
                </a:solidFill>
              </a:rPr>
              <a:t>LLPRI remains practical for real-time vision tasks, and distributed scheduling further reduces latency in multi-server settings.</a:t>
            </a:r>
            <a:endParaRPr lang="en-US" dirty="0">
              <a:solidFill>
                <a:srgbClr val="C01F21"/>
              </a:solidFill>
            </a:endParaRPr>
          </a:p>
        </p:txBody>
      </p:sp>
      <p:sp>
        <p:nvSpPr>
          <p:cNvPr id="3" name="Slide Number Placeholder 2">
            <a:extLst>
              <a:ext uri="{FF2B5EF4-FFF2-40B4-BE49-F238E27FC236}">
                <a16:creationId xmlns:a16="http://schemas.microsoft.com/office/drawing/2014/main" id="{CD449176-C31B-C497-5625-2C6A998C0B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4" name="TextBox 3">
            <a:extLst>
              <a:ext uri="{FF2B5EF4-FFF2-40B4-BE49-F238E27FC236}">
                <a16:creationId xmlns:a16="http://schemas.microsoft.com/office/drawing/2014/main" id="{A13F7807-4807-E95C-F5A0-F2945DECFB7B}"/>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pic>
        <p:nvPicPr>
          <p:cNvPr id="8" name="Picture 7">
            <a:extLst>
              <a:ext uri="{FF2B5EF4-FFF2-40B4-BE49-F238E27FC236}">
                <a16:creationId xmlns:a16="http://schemas.microsoft.com/office/drawing/2014/main" id="{BBC5E407-CD3A-2C27-C4D9-0A6DB6AD77D9}"/>
              </a:ext>
            </a:extLst>
          </p:cNvPr>
          <p:cNvPicPr>
            <a:picLocks noChangeAspect="1"/>
          </p:cNvPicPr>
          <p:nvPr/>
        </p:nvPicPr>
        <p:blipFill>
          <a:blip r:embed="rId2"/>
          <a:stretch>
            <a:fillRect/>
          </a:stretch>
        </p:blipFill>
        <p:spPr>
          <a:xfrm>
            <a:off x="1924750" y="1127099"/>
            <a:ext cx="5232400" cy="2146300"/>
          </a:xfrm>
          <a:prstGeom prst="rect">
            <a:avLst/>
          </a:prstGeom>
        </p:spPr>
      </p:pic>
    </p:spTree>
    <p:extLst>
      <p:ext uri="{BB962C8B-B14F-4D97-AF65-F5344CB8AC3E}">
        <p14:creationId xmlns:p14="http://schemas.microsoft.com/office/powerpoint/2010/main" val="1097875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0218F43B-D965-9477-816F-75CF84B8AE73}"/>
            </a:ext>
          </a:extLst>
        </p:cNvPr>
        <p:cNvGrpSpPr/>
        <p:nvPr/>
      </p:nvGrpSpPr>
      <p:grpSpPr>
        <a:xfrm>
          <a:off x="0" y="0"/>
          <a:ext cx="0" cy="0"/>
          <a:chOff x="0" y="0"/>
          <a:chExt cx="0" cy="0"/>
        </a:xfrm>
      </p:grpSpPr>
      <p:sp>
        <p:nvSpPr>
          <p:cNvPr id="290" name="Google Shape;290;p27">
            <a:extLst>
              <a:ext uri="{FF2B5EF4-FFF2-40B4-BE49-F238E27FC236}">
                <a16:creationId xmlns:a16="http://schemas.microsoft.com/office/drawing/2014/main" id="{1906B530-6884-59B4-79F5-616C1DC2D6C8}"/>
              </a:ext>
            </a:extLst>
          </p:cNvPr>
          <p:cNvSpPr txBox="1">
            <a:spLocks noGrp="1"/>
          </p:cNvSpPr>
          <p:nvPr>
            <p:ph type="title"/>
          </p:nvPr>
        </p:nvSpPr>
        <p:spPr>
          <a:xfrm>
            <a:off x="249600" y="1372775"/>
            <a:ext cx="8582700" cy="1996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200" b="1" dirty="0">
                <a:solidFill>
                  <a:srgbClr val="C01F21"/>
                </a:solidFill>
              </a:rPr>
              <a:t>Thrust III: Deployment-Faithful Model Adaptation</a:t>
            </a:r>
            <a:br>
              <a:rPr lang="en-US" sz="2200" dirty="0">
                <a:solidFill>
                  <a:srgbClr val="C01F21"/>
                </a:solidFill>
              </a:rPr>
            </a:br>
            <a:br>
              <a:rPr lang="en-US" dirty="0"/>
            </a:br>
            <a:r>
              <a:rPr lang="en-US" sz="2000" dirty="0"/>
              <a:t>Neural Architecture Search for Edge Devices via Cloud-Edge Collaboration</a:t>
            </a:r>
            <a:endParaRPr sz="2000" dirty="0"/>
          </a:p>
        </p:txBody>
      </p:sp>
      <p:sp>
        <p:nvSpPr>
          <p:cNvPr id="3" name="Slide Number Placeholder 2">
            <a:extLst>
              <a:ext uri="{FF2B5EF4-FFF2-40B4-BE49-F238E27FC236}">
                <a16:creationId xmlns:a16="http://schemas.microsoft.com/office/drawing/2014/main" id="{9A8FACD0-0581-BD4C-D842-F5675305A3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4" name="TextBox 3">
            <a:extLst>
              <a:ext uri="{FF2B5EF4-FFF2-40B4-BE49-F238E27FC236}">
                <a16:creationId xmlns:a16="http://schemas.microsoft.com/office/drawing/2014/main" id="{68FE97D5-646E-9CF7-C8F7-24ED550A3DC8}"/>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2329898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D2395C46-4BFE-9A2B-CAB5-484BE0CE64F0}"/>
            </a:ext>
          </a:extLst>
        </p:cNvPr>
        <p:cNvGrpSpPr/>
        <p:nvPr/>
      </p:nvGrpSpPr>
      <p:grpSpPr>
        <a:xfrm>
          <a:off x="0" y="0"/>
          <a:ext cx="0" cy="0"/>
          <a:chOff x="0" y="0"/>
          <a:chExt cx="0" cy="0"/>
        </a:xfrm>
      </p:grpSpPr>
      <p:sp>
        <p:nvSpPr>
          <p:cNvPr id="61" name="Google Shape;61;p5">
            <a:extLst>
              <a:ext uri="{FF2B5EF4-FFF2-40B4-BE49-F238E27FC236}">
                <a16:creationId xmlns:a16="http://schemas.microsoft.com/office/drawing/2014/main" id="{9158B590-D773-F061-0909-B2EF62C9BEB4}"/>
              </a:ext>
            </a:extLst>
          </p:cNvPr>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Motivation</a:t>
            </a:r>
            <a:br>
              <a:rPr lang="en-US" dirty="0"/>
            </a:br>
            <a:endParaRPr lang="en-US" dirty="0"/>
          </a:p>
        </p:txBody>
      </p:sp>
      <p:sp>
        <p:nvSpPr>
          <p:cNvPr id="62" name="Google Shape;62;p5">
            <a:extLst>
              <a:ext uri="{FF2B5EF4-FFF2-40B4-BE49-F238E27FC236}">
                <a16:creationId xmlns:a16="http://schemas.microsoft.com/office/drawing/2014/main" id="{55E6C999-9A67-4A00-C39E-B2D8430756AF}"/>
              </a:ext>
            </a:extLst>
          </p:cNvPr>
          <p:cNvSpPr txBox="1">
            <a:spLocks noGrp="1"/>
          </p:cNvSpPr>
          <p:nvPr>
            <p:ph type="body" idx="1"/>
          </p:nvPr>
        </p:nvSpPr>
        <p:spPr>
          <a:xfrm>
            <a:off x="249600" y="1712857"/>
            <a:ext cx="8582700" cy="1961323"/>
          </a:xfrm>
          <a:prstGeom prst="rect">
            <a:avLst/>
          </a:prstGeom>
          <a:noFill/>
          <a:ln>
            <a:noFill/>
          </a:ln>
        </p:spPr>
        <p:txBody>
          <a:bodyPr spcFirstLastPara="1" wrap="square" lIns="91425" tIns="91425" rIns="91425" bIns="91425" anchor="t" anchorCtr="0">
            <a:noAutofit/>
          </a:bodyPr>
          <a:lstStyle/>
          <a:p>
            <a:r>
              <a:rPr lang="en-US" sz="1400" dirty="0"/>
              <a:t>Device resources </a:t>
            </a:r>
            <a:r>
              <a:rPr lang="en-US" sz="1400" dirty="0">
                <a:solidFill>
                  <a:srgbClr val="0070C0"/>
                </a:solidFill>
              </a:rPr>
              <a:t>vary across devices and over time</a:t>
            </a:r>
          </a:p>
          <a:p>
            <a:pPr lvl="1">
              <a:buFont typeface="Times New Roman" panose="02020603050405020304" pitchFamily="18" charset="0"/>
              <a:buChar char="→"/>
            </a:pPr>
            <a:r>
              <a:rPr lang="en-US" sz="1200" dirty="0"/>
              <a:t>Latency and memory depend on the current hardware and workload conditions.</a:t>
            </a:r>
          </a:p>
          <a:p>
            <a:pPr lvl="1">
              <a:buFont typeface="Times New Roman" panose="02020603050405020304" pitchFamily="18" charset="0"/>
              <a:buChar char="→"/>
            </a:pPr>
            <a:r>
              <a:rPr lang="en-US" sz="1200" dirty="0"/>
              <a:t>A model that is feasible in one setting may later become suboptimal or even violate device constraints.</a:t>
            </a:r>
          </a:p>
          <a:p>
            <a:pPr lvl="1">
              <a:buFont typeface="Times New Roman" panose="02020603050405020304" pitchFamily="18" charset="0"/>
              <a:buChar char="→"/>
            </a:pPr>
            <a:endParaRPr lang="en-US" sz="800" dirty="0"/>
          </a:p>
          <a:p>
            <a:r>
              <a:rPr lang="en-US" sz="1400" dirty="0"/>
              <a:t>Local data distributions may </a:t>
            </a:r>
            <a:r>
              <a:rPr lang="en-US" sz="1400" dirty="0">
                <a:solidFill>
                  <a:srgbClr val="0070C0"/>
                </a:solidFill>
              </a:rPr>
              <a:t>differ from public data</a:t>
            </a:r>
          </a:p>
          <a:p>
            <a:pPr lvl="1">
              <a:buFont typeface="Times New Roman" panose="02020603050405020304" pitchFamily="18" charset="0"/>
              <a:buChar char="→"/>
            </a:pPr>
            <a:r>
              <a:rPr lang="en-US" sz="1200" dirty="0"/>
              <a:t>Models selected using only public datasets may not perform well on local on-device data.</a:t>
            </a:r>
          </a:p>
        </p:txBody>
      </p:sp>
      <p:sp>
        <p:nvSpPr>
          <p:cNvPr id="3" name="TextBox 2">
            <a:extLst>
              <a:ext uri="{FF2B5EF4-FFF2-40B4-BE49-F238E27FC236}">
                <a16:creationId xmlns:a16="http://schemas.microsoft.com/office/drawing/2014/main" id="{9396D3E8-3518-8174-A1F8-169611862C73}"/>
              </a:ext>
            </a:extLst>
          </p:cNvPr>
          <p:cNvSpPr txBox="1"/>
          <p:nvPr/>
        </p:nvSpPr>
        <p:spPr>
          <a:xfrm>
            <a:off x="311700" y="975535"/>
            <a:ext cx="8103704" cy="738664"/>
          </a:xfrm>
          <a:prstGeom prst="rect">
            <a:avLst/>
          </a:prstGeom>
          <a:noFill/>
        </p:spPr>
        <p:txBody>
          <a:bodyPr wrap="square" rtlCol="0">
            <a:spAutoFit/>
          </a:bodyPr>
          <a:lstStyle/>
          <a:p>
            <a:r>
              <a:rPr lang="en-US" dirty="0"/>
              <a:t>If privacy is emphasized, executing models directly on edge devices is the most natural solution, but reliable on-device deployment remains challenging.</a:t>
            </a:r>
          </a:p>
          <a:p>
            <a:endParaRPr lang="en-US" dirty="0"/>
          </a:p>
        </p:txBody>
      </p:sp>
      <p:sp>
        <p:nvSpPr>
          <p:cNvPr id="4" name="TextBox 3">
            <a:extLst>
              <a:ext uri="{FF2B5EF4-FFF2-40B4-BE49-F238E27FC236}">
                <a16:creationId xmlns:a16="http://schemas.microsoft.com/office/drawing/2014/main" id="{3588867E-FB0D-331D-7A79-2A33A27F5D39}"/>
              </a:ext>
            </a:extLst>
          </p:cNvPr>
          <p:cNvSpPr txBox="1"/>
          <p:nvPr/>
        </p:nvSpPr>
        <p:spPr>
          <a:xfrm>
            <a:off x="311700" y="2936858"/>
            <a:ext cx="8728748" cy="1231106"/>
          </a:xfrm>
          <a:prstGeom prst="rect">
            <a:avLst/>
          </a:prstGeom>
          <a:noFill/>
        </p:spPr>
        <p:txBody>
          <a:bodyPr wrap="square" rtlCol="0">
            <a:spAutoFit/>
          </a:bodyPr>
          <a:lstStyle/>
          <a:p>
            <a:br>
              <a:rPr lang="en-US" sz="1600" b="1" dirty="0">
                <a:solidFill>
                  <a:srgbClr val="C01F21"/>
                </a:solidFill>
              </a:rPr>
            </a:br>
            <a:endParaRPr lang="en-US" sz="1600" b="1" dirty="0">
              <a:solidFill>
                <a:srgbClr val="C01F21"/>
              </a:solidFill>
            </a:endParaRPr>
          </a:p>
          <a:p>
            <a:r>
              <a:rPr lang="en-US" b="1" dirty="0">
                <a:solidFill>
                  <a:srgbClr val="C01F21"/>
                </a:solidFill>
              </a:rPr>
              <a:t>We need a model adaptation mechanism that is faithful to actual dynamic device conditions instead of finding a compact model once.</a:t>
            </a:r>
          </a:p>
          <a:p>
            <a:endParaRPr lang="en-US" dirty="0"/>
          </a:p>
        </p:txBody>
      </p:sp>
      <p:sp>
        <p:nvSpPr>
          <p:cNvPr id="2" name="Slide Number Placeholder 1">
            <a:extLst>
              <a:ext uri="{FF2B5EF4-FFF2-40B4-BE49-F238E27FC236}">
                <a16:creationId xmlns:a16="http://schemas.microsoft.com/office/drawing/2014/main" id="{695C8124-2FFD-A52D-BCB0-5B80D51F41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5" name="TextBox 4">
            <a:extLst>
              <a:ext uri="{FF2B5EF4-FFF2-40B4-BE49-F238E27FC236}">
                <a16:creationId xmlns:a16="http://schemas.microsoft.com/office/drawing/2014/main" id="{DFBB8F60-75E1-FAF7-0972-78BFCFDE59C0}"/>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3461282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191DA-2DA9-EFE3-E7B4-BF27BA167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761DA-D6BE-33EB-BC72-018F6B2F7903}"/>
              </a:ext>
            </a:extLst>
          </p:cNvPr>
          <p:cNvSpPr>
            <a:spLocks noGrp="1"/>
          </p:cNvSpPr>
          <p:nvPr>
            <p:ph type="title"/>
          </p:nvPr>
        </p:nvSpPr>
        <p:spPr/>
        <p:txBody>
          <a:bodyPr/>
          <a:lstStyle/>
          <a:p>
            <a:r>
              <a:rPr lang="en-US" sz="2200" b="1" dirty="0">
                <a:solidFill>
                  <a:srgbClr val="C00000"/>
                </a:solidFill>
              </a:rPr>
              <a:t>Deployment-Faithful Model Adaptation Problem</a:t>
            </a:r>
          </a:p>
        </p:txBody>
      </p:sp>
      <p:grpSp>
        <p:nvGrpSpPr>
          <p:cNvPr id="6" name="群組 53">
            <a:extLst>
              <a:ext uri="{FF2B5EF4-FFF2-40B4-BE49-F238E27FC236}">
                <a16:creationId xmlns:a16="http://schemas.microsoft.com/office/drawing/2014/main" id="{65A87665-A15F-61E3-3AD7-7B8B28126516}"/>
              </a:ext>
            </a:extLst>
          </p:cNvPr>
          <p:cNvGrpSpPr/>
          <p:nvPr/>
        </p:nvGrpSpPr>
        <p:grpSpPr>
          <a:xfrm>
            <a:off x="2264231" y="765477"/>
            <a:ext cx="4605199" cy="954646"/>
            <a:chOff x="806967" y="2235078"/>
            <a:chExt cx="6285313" cy="849565"/>
          </a:xfrm>
        </p:grpSpPr>
        <p:grpSp>
          <p:nvGrpSpPr>
            <p:cNvPr id="7" name="群組 36">
              <a:extLst>
                <a:ext uri="{FF2B5EF4-FFF2-40B4-BE49-F238E27FC236}">
                  <a16:creationId xmlns:a16="http://schemas.microsoft.com/office/drawing/2014/main" id="{1FBAF400-66EB-BE72-7E56-DBCFAB95485E}"/>
                </a:ext>
              </a:extLst>
            </p:cNvPr>
            <p:cNvGrpSpPr/>
            <p:nvPr/>
          </p:nvGrpSpPr>
          <p:grpSpPr>
            <a:xfrm>
              <a:off x="806967" y="2235078"/>
              <a:ext cx="6285313" cy="849565"/>
              <a:chOff x="3189051" y="1310835"/>
              <a:chExt cx="6876617" cy="849565"/>
            </a:xfrm>
          </p:grpSpPr>
          <p:sp>
            <p:nvSpPr>
              <p:cNvPr id="9" name="矩形: 圓角化同側角落 9">
                <a:extLst>
                  <a:ext uri="{FF2B5EF4-FFF2-40B4-BE49-F238E27FC236}">
                    <a16:creationId xmlns:a16="http://schemas.microsoft.com/office/drawing/2014/main" id="{4BC6AE3C-976E-0994-8ADB-2E7019503B60}"/>
                  </a:ext>
                </a:extLst>
              </p:cNvPr>
              <p:cNvSpPr/>
              <p:nvPr/>
            </p:nvSpPr>
            <p:spPr>
              <a:xfrm flipV="1">
                <a:off x="3189051" y="1708549"/>
                <a:ext cx="6876617" cy="451851"/>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0" name="矩形: 圓角化同側角落 14">
                <a:extLst>
                  <a:ext uri="{FF2B5EF4-FFF2-40B4-BE49-F238E27FC236}">
                    <a16:creationId xmlns:a16="http://schemas.microsoft.com/office/drawing/2014/main" id="{0E732173-C6E9-D07A-0E22-A56F1E9C9E03}"/>
                  </a:ext>
                </a:extLst>
              </p:cNvPr>
              <p:cNvSpPr/>
              <p:nvPr/>
            </p:nvSpPr>
            <p:spPr>
              <a:xfrm>
                <a:off x="3189052" y="1310835"/>
                <a:ext cx="6876616"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1" name="文字方塊 15">
                <a:extLst>
                  <a:ext uri="{FF2B5EF4-FFF2-40B4-BE49-F238E27FC236}">
                    <a16:creationId xmlns:a16="http://schemas.microsoft.com/office/drawing/2014/main" id="{CC542C3A-9AEA-0CFD-4E82-5DF201F077D9}"/>
                  </a:ext>
                </a:extLst>
              </p:cNvPr>
              <p:cNvSpPr txBox="1"/>
              <p:nvPr/>
            </p:nvSpPr>
            <p:spPr>
              <a:xfrm>
                <a:off x="5402279" y="1369436"/>
                <a:ext cx="2632623" cy="273899"/>
              </a:xfrm>
              <a:prstGeom prst="rect">
                <a:avLst/>
              </a:prstGeom>
              <a:noFill/>
              <a:ln>
                <a:noFill/>
              </a:ln>
            </p:spPr>
            <p:txBody>
              <a:bodyPr wrap="square">
                <a:spAutoFit/>
              </a:bodyPr>
              <a:lstStyle/>
              <a:p>
                <a:pPr algn="ctr"/>
                <a:r>
                  <a:rPr lang="en-US" altLang="zh-TW" b="1" dirty="0"/>
                  <a:t>Objective</a:t>
                </a:r>
              </a:p>
            </p:txBody>
          </p:sp>
        </p:grpSp>
        <p:sp>
          <p:nvSpPr>
            <p:cNvPr id="8" name="文字方塊 48">
              <a:extLst>
                <a:ext uri="{FF2B5EF4-FFF2-40B4-BE49-F238E27FC236}">
                  <a16:creationId xmlns:a16="http://schemas.microsoft.com/office/drawing/2014/main" id="{306E20B9-E398-AC09-966C-6C5F6BE71A4D}"/>
                </a:ext>
              </a:extLst>
            </p:cNvPr>
            <p:cNvSpPr txBox="1"/>
            <p:nvPr/>
          </p:nvSpPr>
          <p:spPr>
            <a:xfrm>
              <a:off x="973739" y="2714982"/>
              <a:ext cx="6118540" cy="273899"/>
            </a:xfrm>
            <a:prstGeom prst="rect">
              <a:avLst/>
            </a:prstGeom>
            <a:noFill/>
            <a:ln>
              <a:noFill/>
            </a:ln>
          </p:spPr>
          <p:txBody>
            <a:bodyPr wrap="square">
              <a:spAutoFit/>
            </a:bodyPr>
            <a:lstStyle/>
            <a:p>
              <a:r>
                <a:rPr lang="en-US" altLang="zh-TW" dirty="0"/>
                <a:t>Select an on-device model for the target deployment</a:t>
              </a:r>
            </a:p>
          </p:txBody>
        </p:sp>
      </p:grpSp>
      <p:grpSp>
        <p:nvGrpSpPr>
          <p:cNvPr id="12" name="群組 53">
            <a:extLst>
              <a:ext uri="{FF2B5EF4-FFF2-40B4-BE49-F238E27FC236}">
                <a16:creationId xmlns:a16="http://schemas.microsoft.com/office/drawing/2014/main" id="{B0DBC170-2267-0774-2285-497975BE17AB}"/>
              </a:ext>
            </a:extLst>
          </p:cNvPr>
          <p:cNvGrpSpPr/>
          <p:nvPr/>
        </p:nvGrpSpPr>
        <p:grpSpPr>
          <a:xfrm>
            <a:off x="1054697" y="1982281"/>
            <a:ext cx="2594980" cy="1489453"/>
            <a:chOff x="1308902" y="2235078"/>
            <a:chExt cx="3908964" cy="1325503"/>
          </a:xfrm>
        </p:grpSpPr>
        <p:grpSp>
          <p:nvGrpSpPr>
            <p:cNvPr id="13" name="群組 36">
              <a:extLst>
                <a:ext uri="{FF2B5EF4-FFF2-40B4-BE49-F238E27FC236}">
                  <a16:creationId xmlns:a16="http://schemas.microsoft.com/office/drawing/2014/main" id="{87CC99A0-5F01-5D73-B91E-57AFD81C2881}"/>
                </a:ext>
              </a:extLst>
            </p:cNvPr>
            <p:cNvGrpSpPr/>
            <p:nvPr/>
          </p:nvGrpSpPr>
          <p:grpSpPr>
            <a:xfrm>
              <a:off x="1308902" y="2235078"/>
              <a:ext cx="3908964" cy="1325503"/>
              <a:chOff x="3738207" y="1310835"/>
              <a:chExt cx="4276709" cy="1325503"/>
            </a:xfrm>
          </p:grpSpPr>
          <p:sp>
            <p:nvSpPr>
              <p:cNvPr id="15" name="矩形: 圓角化同側角落 9">
                <a:extLst>
                  <a:ext uri="{FF2B5EF4-FFF2-40B4-BE49-F238E27FC236}">
                    <a16:creationId xmlns:a16="http://schemas.microsoft.com/office/drawing/2014/main" id="{7B18C6C9-A6E2-25D4-A033-D644E4B7B4D9}"/>
                  </a:ext>
                </a:extLst>
              </p:cNvPr>
              <p:cNvSpPr/>
              <p:nvPr/>
            </p:nvSpPr>
            <p:spPr>
              <a:xfrm flipV="1">
                <a:off x="3738207" y="1708546"/>
                <a:ext cx="4276707" cy="927792"/>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6" name="矩形: 圓角化同側角落 14">
                <a:extLst>
                  <a:ext uri="{FF2B5EF4-FFF2-40B4-BE49-F238E27FC236}">
                    <a16:creationId xmlns:a16="http://schemas.microsoft.com/office/drawing/2014/main" id="{0F782029-2ADC-18DC-AE88-22E6B36D02DF}"/>
                  </a:ext>
                </a:extLst>
              </p:cNvPr>
              <p:cNvSpPr/>
              <p:nvPr/>
            </p:nvSpPr>
            <p:spPr>
              <a:xfrm>
                <a:off x="3738209" y="1310835"/>
                <a:ext cx="4276707"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7" name="文字方塊 15">
                <a:extLst>
                  <a:ext uri="{FF2B5EF4-FFF2-40B4-BE49-F238E27FC236}">
                    <a16:creationId xmlns:a16="http://schemas.microsoft.com/office/drawing/2014/main" id="{E4448D4C-B929-B765-596B-18932B34FA11}"/>
                  </a:ext>
                </a:extLst>
              </p:cNvPr>
              <p:cNvSpPr txBox="1"/>
              <p:nvPr/>
            </p:nvSpPr>
            <p:spPr>
              <a:xfrm>
                <a:off x="3914811" y="1361034"/>
                <a:ext cx="3923500" cy="273899"/>
              </a:xfrm>
              <a:prstGeom prst="rect">
                <a:avLst/>
              </a:prstGeom>
              <a:noFill/>
              <a:ln>
                <a:noFill/>
              </a:ln>
            </p:spPr>
            <p:txBody>
              <a:bodyPr wrap="square">
                <a:spAutoFit/>
              </a:bodyPr>
              <a:lstStyle/>
              <a:p>
                <a:pPr algn="ctr"/>
                <a:r>
                  <a:rPr lang="en-US" altLang="zh-TW" b="1" dirty="0"/>
                  <a:t>Deployment Constraints</a:t>
                </a:r>
              </a:p>
            </p:txBody>
          </p:sp>
        </p:grpSp>
        <p:sp>
          <p:nvSpPr>
            <p:cNvPr id="14" name="文字方塊 48">
              <a:extLst>
                <a:ext uri="{FF2B5EF4-FFF2-40B4-BE49-F238E27FC236}">
                  <a16:creationId xmlns:a16="http://schemas.microsoft.com/office/drawing/2014/main" id="{4ADAB39C-D1C9-16BE-161C-B37B13FFE73D}"/>
                </a:ext>
              </a:extLst>
            </p:cNvPr>
            <p:cNvSpPr txBox="1"/>
            <p:nvPr/>
          </p:nvSpPr>
          <p:spPr>
            <a:xfrm>
              <a:off x="1787651" y="2796551"/>
              <a:ext cx="3149643" cy="602576"/>
            </a:xfrm>
            <a:prstGeom prst="rect">
              <a:avLst/>
            </a:prstGeom>
            <a:noFill/>
            <a:ln>
              <a:noFill/>
            </a:ln>
          </p:spPr>
          <p:txBody>
            <a:bodyPr wrap="square">
              <a:spAutoFit/>
            </a:bodyPr>
            <a:lstStyle/>
            <a:p>
              <a:pPr marL="285750" indent="-285750">
                <a:spcAft>
                  <a:spcPts val="1200"/>
                </a:spcAft>
                <a:buFont typeface="Wingdings" pitchFamily="2" charset="2"/>
                <a:buChar char="§"/>
              </a:pPr>
              <a:r>
                <a:rPr lang="en-US" altLang="zh-TW" dirty="0"/>
                <a:t>Latency constraints</a:t>
              </a:r>
            </a:p>
            <a:p>
              <a:pPr marL="285750" indent="-285750">
                <a:spcAft>
                  <a:spcPts val="1200"/>
                </a:spcAft>
                <a:buFont typeface="Wingdings" pitchFamily="2" charset="2"/>
                <a:buChar char="§"/>
              </a:pPr>
              <a:r>
                <a:rPr lang="en-US" altLang="zh-TW" dirty="0"/>
                <a:t>Memory constraints</a:t>
              </a:r>
            </a:p>
          </p:txBody>
        </p:sp>
      </p:grpSp>
      <p:grpSp>
        <p:nvGrpSpPr>
          <p:cNvPr id="19" name="群組 53">
            <a:extLst>
              <a:ext uri="{FF2B5EF4-FFF2-40B4-BE49-F238E27FC236}">
                <a16:creationId xmlns:a16="http://schemas.microsoft.com/office/drawing/2014/main" id="{BFD59F85-CB24-BDD2-70B9-B1A2BFEAD371}"/>
              </a:ext>
            </a:extLst>
          </p:cNvPr>
          <p:cNvGrpSpPr/>
          <p:nvPr/>
        </p:nvGrpSpPr>
        <p:grpSpPr>
          <a:xfrm>
            <a:off x="3973288" y="1959103"/>
            <a:ext cx="4331123" cy="1586354"/>
            <a:chOff x="804348" y="2259765"/>
            <a:chExt cx="6524215" cy="1377397"/>
          </a:xfrm>
        </p:grpSpPr>
        <p:grpSp>
          <p:nvGrpSpPr>
            <p:cNvPr id="20" name="群組 36">
              <a:extLst>
                <a:ext uri="{FF2B5EF4-FFF2-40B4-BE49-F238E27FC236}">
                  <a16:creationId xmlns:a16="http://schemas.microsoft.com/office/drawing/2014/main" id="{31620842-7585-16FC-9082-C726400D6733}"/>
                </a:ext>
              </a:extLst>
            </p:cNvPr>
            <p:cNvGrpSpPr/>
            <p:nvPr/>
          </p:nvGrpSpPr>
          <p:grpSpPr>
            <a:xfrm>
              <a:off x="804348" y="2259765"/>
              <a:ext cx="6524215" cy="1377397"/>
              <a:chOff x="3186186" y="1335522"/>
              <a:chExt cx="7137994" cy="1377397"/>
            </a:xfrm>
          </p:grpSpPr>
          <p:sp>
            <p:nvSpPr>
              <p:cNvPr id="22" name="矩形: 圓角化同側角落 9">
                <a:extLst>
                  <a:ext uri="{FF2B5EF4-FFF2-40B4-BE49-F238E27FC236}">
                    <a16:creationId xmlns:a16="http://schemas.microsoft.com/office/drawing/2014/main" id="{C23DA0D0-03E7-533F-1B44-5664DFEBE7DB}"/>
                  </a:ext>
                </a:extLst>
              </p:cNvPr>
              <p:cNvSpPr/>
              <p:nvPr/>
            </p:nvSpPr>
            <p:spPr>
              <a:xfrm flipV="1">
                <a:off x="3186186" y="1708543"/>
                <a:ext cx="7137994" cy="1004376"/>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23" name="矩形: 圓角化同側角落 14">
                <a:extLst>
                  <a:ext uri="{FF2B5EF4-FFF2-40B4-BE49-F238E27FC236}">
                    <a16:creationId xmlns:a16="http://schemas.microsoft.com/office/drawing/2014/main" id="{69FB85A0-8B6B-9807-D82B-E76E47151457}"/>
                  </a:ext>
                </a:extLst>
              </p:cNvPr>
              <p:cNvSpPr/>
              <p:nvPr/>
            </p:nvSpPr>
            <p:spPr>
              <a:xfrm>
                <a:off x="3186186" y="1335522"/>
                <a:ext cx="7137994" cy="373029"/>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24" name="文字方塊 15">
                <a:extLst>
                  <a:ext uri="{FF2B5EF4-FFF2-40B4-BE49-F238E27FC236}">
                    <a16:creationId xmlns:a16="http://schemas.microsoft.com/office/drawing/2014/main" id="{18991645-C851-B319-2DC4-21F497F95976}"/>
                  </a:ext>
                </a:extLst>
              </p:cNvPr>
              <p:cNvSpPr txBox="1"/>
              <p:nvPr/>
            </p:nvSpPr>
            <p:spPr>
              <a:xfrm>
                <a:off x="4902667" y="1379441"/>
                <a:ext cx="3705028" cy="267236"/>
              </a:xfrm>
              <a:prstGeom prst="rect">
                <a:avLst/>
              </a:prstGeom>
              <a:noFill/>
              <a:ln>
                <a:noFill/>
              </a:ln>
            </p:spPr>
            <p:txBody>
              <a:bodyPr wrap="square">
                <a:spAutoFit/>
              </a:bodyPr>
              <a:lstStyle/>
              <a:p>
                <a:pPr algn="ctr"/>
                <a:r>
                  <a:rPr lang="en-US" altLang="zh-TW" b="1" dirty="0"/>
                  <a:t>System Constraints</a:t>
                </a:r>
              </a:p>
            </p:txBody>
          </p:sp>
        </p:grpSp>
        <p:sp>
          <p:nvSpPr>
            <p:cNvPr id="21" name="文字方塊 48">
              <a:extLst>
                <a:ext uri="{FF2B5EF4-FFF2-40B4-BE49-F238E27FC236}">
                  <a16:creationId xmlns:a16="http://schemas.microsoft.com/office/drawing/2014/main" id="{FCE60A42-D734-B1C3-AEA9-329EEC1C2E07}"/>
                </a:ext>
              </a:extLst>
            </p:cNvPr>
            <p:cNvSpPr txBox="1"/>
            <p:nvPr/>
          </p:nvSpPr>
          <p:spPr>
            <a:xfrm>
              <a:off x="1107234" y="2671850"/>
              <a:ext cx="6061287" cy="908602"/>
            </a:xfrm>
            <a:prstGeom prst="rect">
              <a:avLst/>
            </a:prstGeom>
            <a:noFill/>
            <a:ln>
              <a:noFill/>
            </a:ln>
          </p:spPr>
          <p:txBody>
            <a:bodyPr wrap="square">
              <a:spAutoFit/>
            </a:bodyPr>
            <a:lstStyle/>
            <a:p>
              <a:pPr marL="285750" indent="-285750">
                <a:spcAft>
                  <a:spcPts val="1200"/>
                </a:spcAft>
                <a:buFont typeface="Wingdings" pitchFamily="2" charset="2"/>
                <a:buChar char="§"/>
              </a:pPr>
              <a:r>
                <a:rPr lang="en-US" altLang="zh-TW" dirty="0"/>
                <a:t>Cloud cannot access private local data</a:t>
              </a:r>
            </a:p>
            <a:p>
              <a:pPr marL="285750" indent="-285750">
                <a:spcAft>
                  <a:spcPts val="1200"/>
                </a:spcAft>
                <a:buFont typeface="Wingdings" pitchFamily="2" charset="2"/>
                <a:buChar char="§"/>
              </a:pPr>
              <a:r>
                <a:rPr lang="en-US" altLang="zh-TW" dirty="0"/>
                <a:t>Cloud cannot directly profile the target device </a:t>
              </a:r>
            </a:p>
            <a:p>
              <a:pPr marL="285750" indent="-285750">
                <a:spcAft>
                  <a:spcPts val="1200"/>
                </a:spcAft>
                <a:buFont typeface="Wingdings" pitchFamily="2" charset="2"/>
                <a:buChar char="§"/>
              </a:pPr>
              <a:r>
                <a:rPr lang="en-US" altLang="zh-TW" dirty="0"/>
                <a:t>Device condition may change over time</a:t>
              </a:r>
            </a:p>
          </p:txBody>
        </p:sp>
      </p:grpSp>
      <p:sp>
        <p:nvSpPr>
          <p:cNvPr id="3" name="Slide Number Placeholder 2">
            <a:extLst>
              <a:ext uri="{FF2B5EF4-FFF2-40B4-BE49-F238E27FC236}">
                <a16:creationId xmlns:a16="http://schemas.microsoft.com/office/drawing/2014/main" id="{DD58AFCE-8A54-23FE-3486-9CE7ED05E3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4" name="TextBox 3">
            <a:extLst>
              <a:ext uri="{FF2B5EF4-FFF2-40B4-BE49-F238E27FC236}">
                <a16:creationId xmlns:a16="http://schemas.microsoft.com/office/drawing/2014/main" id="{A79EE455-C685-21AB-DF13-66F8E9B0ED93}"/>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
        <p:nvSpPr>
          <p:cNvPr id="5" name="TextBox 4">
            <a:extLst>
              <a:ext uri="{FF2B5EF4-FFF2-40B4-BE49-F238E27FC236}">
                <a16:creationId xmlns:a16="http://schemas.microsoft.com/office/drawing/2014/main" id="{B5F62F3D-E8E8-E38D-055E-BEB2CBB9B06D}"/>
              </a:ext>
            </a:extLst>
          </p:cNvPr>
          <p:cNvSpPr txBox="1"/>
          <p:nvPr/>
        </p:nvSpPr>
        <p:spPr>
          <a:xfrm>
            <a:off x="363682" y="3710714"/>
            <a:ext cx="8468618" cy="523220"/>
          </a:xfrm>
          <a:prstGeom prst="rect">
            <a:avLst/>
          </a:prstGeom>
          <a:noFill/>
        </p:spPr>
        <p:txBody>
          <a:bodyPr wrap="square" rtlCol="0">
            <a:spAutoFit/>
          </a:bodyPr>
          <a:lstStyle/>
          <a:p>
            <a:r>
              <a:rPr lang="en-US" b="1" dirty="0">
                <a:solidFill>
                  <a:srgbClr val="C01F21"/>
                </a:solidFill>
              </a:rPr>
              <a:t>The challenge is to make the competitive model that is feasible under real deployment conditions, which cannot be achieved solely in the cloud. </a:t>
            </a:r>
          </a:p>
        </p:txBody>
      </p:sp>
    </p:spTree>
    <p:extLst>
      <p:ext uri="{BB962C8B-B14F-4D97-AF65-F5344CB8AC3E}">
        <p14:creationId xmlns:p14="http://schemas.microsoft.com/office/powerpoint/2010/main" val="2463364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69E4-D174-F32C-E2CD-909C77B9A2E7}"/>
              </a:ext>
            </a:extLst>
          </p:cNvPr>
          <p:cNvSpPr>
            <a:spLocks noGrp="1"/>
          </p:cNvSpPr>
          <p:nvPr>
            <p:ph type="title"/>
          </p:nvPr>
        </p:nvSpPr>
        <p:spPr/>
        <p:txBody>
          <a:bodyPr/>
          <a:lstStyle/>
          <a:p>
            <a:r>
              <a:rPr lang="en-US" sz="2200" b="1" dirty="0">
                <a:solidFill>
                  <a:srgbClr val="C01F21"/>
                </a:solidFill>
              </a:rPr>
              <a:t>What is Missing in On-Device Model Adaptation</a:t>
            </a:r>
          </a:p>
        </p:txBody>
      </p:sp>
      <p:graphicFrame>
        <p:nvGraphicFramePr>
          <p:cNvPr id="4" name="Table 3">
            <a:extLst>
              <a:ext uri="{FF2B5EF4-FFF2-40B4-BE49-F238E27FC236}">
                <a16:creationId xmlns:a16="http://schemas.microsoft.com/office/drawing/2014/main" id="{89B0CCCE-7E5F-84E5-9A0E-CDC144A7FEA2}"/>
              </a:ext>
            </a:extLst>
          </p:cNvPr>
          <p:cNvGraphicFramePr>
            <a:graphicFrameLocks noGrp="1"/>
          </p:cNvGraphicFramePr>
          <p:nvPr>
            <p:extLst>
              <p:ext uri="{D42A27DB-BD31-4B8C-83A1-F6EECF244321}">
                <p14:modId xmlns:p14="http://schemas.microsoft.com/office/powerpoint/2010/main" val="1694298407"/>
              </p:ext>
            </p:extLst>
          </p:nvPr>
        </p:nvGraphicFramePr>
        <p:xfrm>
          <a:off x="564166" y="1437172"/>
          <a:ext cx="8015667" cy="1920240"/>
        </p:xfrm>
        <a:graphic>
          <a:graphicData uri="http://schemas.openxmlformats.org/drawingml/2006/table">
            <a:tbl>
              <a:tblPr/>
              <a:tblGrid>
                <a:gridCol w="2363615">
                  <a:extLst>
                    <a:ext uri="{9D8B030D-6E8A-4147-A177-3AD203B41FA5}">
                      <a16:colId xmlns:a16="http://schemas.microsoft.com/office/drawing/2014/main" val="3985088515"/>
                    </a:ext>
                  </a:extLst>
                </a:gridCol>
                <a:gridCol w="5652052">
                  <a:extLst>
                    <a:ext uri="{9D8B030D-6E8A-4147-A177-3AD203B41FA5}">
                      <a16:colId xmlns:a16="http://schemas.microsoft.com/office/drawing/2014/main" val="3459387625"/>
                    </a:ext>
                  </a:extLst>
                </a:gridCol>
              </a:tblGrid>
              <a:tr h="365760">
                <a:tc>
                  <a:txBody>
                    <a:bodyPr/>
                    <a:lstStyle/>
                    <a:p>
                      <a:pPr>
                        <a:buNone/>
                      </a:pPr>
                      <a:r>
                        <a:rPr lang="en-US" sz="1200" b="1" dirty="0">
                          <a:solidFill>
                            <a:srgbClr val="000000"/>
                          </a:solidFill>
                        </a:rPr>
                        <a:t>Prior Approach</a:t>
                      </a:r>
                      <a:endParaRPr lang="en-US" sz="1200" dirty="0">
                        <a:solidFill>
                          <a:srgbClr val="000000"/>
                        </a:solidFill>
                      </a:endParaRPr>
                    </a:p>
                  </a:txBody>
                  <a:tcPr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buNone/>
                      </a:pPr>
                      <a:r>
                        <a:rPr lang="en-US" sz="1200" b="1" dirty="0">
                          <a:solidFill>
                            <a:srgbClr val="000000"/>
                          </a:solidFill>
                        </a:rPr>
                        <a:t>Limitation</a:t>
                      </a:r>
                      <a:endParaRPr lang="en-US" sz="1200" dirty="0">
                        <a:solidFill>
                          <a:srgbClr val="000000"/>
                        </a:solidFill>
                      </a:endParaRPr>
                    </a:p>
                  </a:txBody>
                  <a:tcPr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2643741"/>
                  </a:ext>
                </a:extLst>
              </a:tr>
              <a:tr h="365760">
                <a:tc>
                  <a:txBody>
                    <a:bodyPr/>
                    <a:lstStyle/>
                    <a:p>
                      <a:pPr>
                        <a:spcAft>
                          <a:spcPts val="600"/>
                        </a:spcAft>
                        <a:buNone/>
                      </a:pPr>
                      <a:r>
                        <a:rPr lang="en-US" sz="1200" dirty="0">
                          <a:solidFill>
                            <a:srgbClr val="000000"/>
                          </a:solidFill>
                        </a:rPr>
                        <a:t>Hand-crafted efficient models</a:t>
                      </a:r>
                    </a:p>
                  </a:txBody>
                  <a:tcPr anchor="ctr">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600"/>
                        </a:spcAft>
                        <a:buClr>
                          <a:srgbClr val="000000"/>
                        </a:buClr>
                        <a:buSzTx/>
                        <a:buFontTx/>
                        <a:buNone/>
                        <a:tabLst/>
                        <a:defRPr/>
                      </a:pPr>
                      <a:r>
                        <a:rPr lang="en-US" sz="1200" dirty="0">
                          <a:solidFill>
                            <a:srgbClr val="000000"/>
                          </a:solidFill>
                        </a:rPr>
                        <a:t>Require expert effort and are usually tuned to static deployment settings</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9511367"/>
                  </a:ext>
                </a:extLst>
              </a:tr>
              <a:tr h="365760">
                <a:tc>
                  <a:txBody>
                    <a:bodyPr/>
                    <a:lstStyle/>
                    <a:p>
                      <a:pPr>
                        <a:spcAft>
                          <a:spcPts val="600"/>
                        </a:spcAft>
                        <a:buNone/>
                      </a:pPr>
                      <a:r>
                        <a:rPr lang="en-US" sz="1200" dirty="0">
                          <a:solidFill>
                            <a:srgbClr val="000000"/>
                          </a:solidFill>
                        </a:rPr>
                        <a:t>Model compression methods</a:t>
                      </a: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spcAft>
                          <a:spcPts val="600"/>
                        </a:spcAft>
                        <a:buFontTx/>
                        <a:buNone/>
                      </a:pPr>
                      <a:r>
                        <a:rPr lang="en-US" sz="1200" dirty="0">
                          <a:solidFill>
                            <a:srgbClr val="000000"/>
                          </a:solidFill>
                        </a:rPr>
                        <a:t>Often optimize proxy metrics that may misalign with real latency and memory</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9475692"/>
                  </a:ext>
                </a:extLst>
              </a:tr>
              <a:tr h="457200">
                <a:tc>
                  <a:txBody>
                    <a:bodyPr/>
                    <a:lstStyle/>
                    <a:p>
                      <a:pPr>
                        <a:spcAft>
                          <a:spcPts val="600"/>
                        </a:spcAft>
                        <a:buNone/>
                      </a:pPr>
                      <a:r>
                        <a:rPr lang="en-US" sz="1200" dirty="0">
                          <a:solidFill>
                            <a:srgbClr val="000000"/>
                          </a:solidFill>
                        </a:rPr>
                        <a:t>Cloud-centric HW-NAS</a:t>
                      </a: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spcAft>
                          <a:spcPts val="600"/>
                        </a:spcAft>
                        <a:buFontTx/>
                        <a:buNone/>
                      </a:pPr>
                      <a:r>
                        <a:rPr lang="en-US" sz="1200" dirty="0">
                          <a:solidFill>
                            <a:srgbClr val="000000"/>
                          </a:solidFill>
                        </a:rPr>
                        <a:t>Relies on public data and hardware surrogate, which may </a:t>
                      </a:r>
                      <a:r>
                        <a:rPr lang="en-US" sz="1200" dirty="0" err="1">
                          <a:solidFill>
                            <a:srgbClr val="000000"/>
                          </a:solidFill>
                        </a:rPr>
                        <a:t>mispredict</a:t>
                      </a:r>
                      <a:r>
                        <a:rPr lang="en-US" sz="1200" dirty="0">
                          <a:solidFill>
                            <a:srgbClr val="000000"/>
                          </a:solidFill>
                        </a:rPr>
                        <a:t> on-device behavior and cannot fully capture dynamic operating conditions</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268327"/>
                  </a:ext>
                </a:extLst>
              </a:tr>
              <a:tr h="365760">
                <a:tc>
                  <a:txBody>
                    <a:bodyPr/>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lang="en-US" sz="1200" dirty="0">
                          <a:solidFill>
                            <a:srgbClr val="000000"/>
                          </a:solidFill>
                        </a:rPr>
                        <a:t>Fully on-device HW-NAS</a:t>
                      </a: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buNone/>
                      </a:pPr>
                      <a:r>
                        <a:rPr lang="en-US" sz="1200" dirty="0">
                          <a:solidFill>
                            <a:srgbClr val="000000"/>
                          </a:solidFill>
                        </a:rPr>
                        <a:t>Too expensive for resource-constrained edge devices</a:t>
                      </a: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31919958"/>
                  </a:ext>
                </a:extLst>
              </a:tr>
            </a:tbl>
          </a:graphicData>
        </a:graphic>
      </p:graphicFrame>
      <p:sp>
        <p:nvSpPr>
          <p:cNvPr id="3" name="Slide Number Placeholder 2">
            <a:extLst>
              <a:ext uri="{FF2B5EF4-FFF2-40B4-BE49-F238E27FC236}">
                <a16:creationId xmlns:a16="http://schemas.microsoft.com/office/drawing/2014/main" id="{FBFE1007-F7A8-9292-D7F6-48888CAA58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5" name="TextBox 4">
            <a:extLst>
              <a:ext uri="{FF2B5EF4-FFF2-40B4-BE49-F238E27FC236}">
                <a16:creationId xmlns:a16="http://schemas.microsoft.com/office/drawing/2014/main" id="{B0C6D66D-A442-2011-B44A-D1149E2EFB4D}"/>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
        <p:nvSpPr>
          <p:cNvPr id="6" name="TextBox 5">
            <a:extLst>
              <a:ext uri="{FF2B5EF4-FFF2-40B4-BE49-F238E27FC236}">
                <a16:creationId xmlns:a16="http://schemas.microsoft.com/office/drawing/2014/main" id="{C5251223-4579-A78D-498F-D85A471E1CCA}"/>
              </a:ext>
            </a:extLst>
          </p:cNvPr>
          <p:cNvSpPr txBox="1"/>
          <p:nvPr/>
        </p:nvSpPr>
        <p:spPr>
          <a:xfrm>
            <a:off x="5438773" y="3930521"/>
            <a:ext cx="3392361" cy="246221"/>
          </a:xfrm>
          <a:prstGeom prst="rect">
            <a:avLst/>
          </a:prstGeom>
          <a:noFill/>
        </p:spPr>
        <p:txBody>
          <a:bodyPr wrap="square" rtlCol="0">
            <a:spAutoFit/>
          </a:bodyPr>
          <a:lstStyle/>
          <a:p>
            <a:r>
              <a:rPr lang="en-US" sz="1000" dirty="0"/>
              <a:t>* HW-NAS: Hardware-Aware Neural Architecture Search</a:t>
            </a:r>
          </a:p>
        </p:txBody>
      </p:sp>
    </p:spTree>
    <p:extLst>
      <p:ext uri="{BB962C8B-B14F-4D97-AF65-F5344CB8AC3E}">
        <p14:creationId xmlns:p14="http://schemas.microsoft.com/office/powerpoint/2010/main" val="2570805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F2F83200-185D-78DC-CE12-D57525CDCE90}"/>
            </a:ext>
          </a:extLst>
        </p:cNvPr>
        <p:cNvGrpSpPr/>
        <p:nvPr/>
      </p:nvGrpSpPr>
      <p:grpSpPr>
        <a:xfrm>
          <a:off x="0" y="0"/>
          <a:ext cx="0" cy="0"/>
          <a:chOff x="0" y="0"/>
          <a:chExt cx="0" cy="0"/>
        </a:xfrm>
      </p:grpSpPr>
      <p:sp>
        <p:nvSpPr>
          <p:cNvPr id="61" name="Google Shape;61;p5">
            <a:extLst>
              <a:ext uri="{FF2B5EF4-FFF2-40B4-BE49-F238E27FC236}">
                <a16:creationId xmlns:a16="http://schemas.microsoft.com/office/drawing/2014/main" id="{A72F32C2-20E4-5947-E1CA-E0483E0FC177}"/>
              </a:ext>
            </a:extLst>
          </p:cNvPr>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Two-Stage Cloud-Edge Collaborative HW-NAS</a:t>
            </a:r>
          </a:p>
        </p:txBody>
      </p:sp>
      <p:sp>
        <p:nvSpPr>
          <p:cNvPr id="62" name="Google Shape;62;p5">
            <a:extLst>
              <a:ext uri="{FF2B5EF4-FFF2-40B4-BE49-F238E27FC236}">
                <a16:creationId xmlns:a16="http://schemas.microsoft.com/office/drawing/2014/main" id="{BBEC4AFE-635C-00E2-3EEE-080F62B09AD8}"/>
              </a:ext>
            </a:extLst>
          </p:cNvPr>
          <p:cNvSpPr txBox="1">
            <a:spLocks noGrp="1"/>
          </p:cNvSpPr>
          <p:nvPr>
            <p:ph type="body" idx="1"/>
          </p:nvPr>
        </p:nvSpPr>
        <p:spPr>
          <a:xfrm>
            <a:off x="0" y="662611"/>
            <a:ext cx="3991556" cy="2683566"/>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endParaRPr lang="en-US" dirty="0"/>
          </a:p>
          <a:p>
            <a:pPr marL="457200" lvl="0" indent="-342900" algn="l" rtl="0">
              <a:lnSpc>
                <a:spcPct val="115000"/>
              </a:lnSpc>
              <a:spcBef>
                <a:spcPts val="0"/>
              </a:spcBef>
              <a:spcAft>
                <a:spcPts val="0"/>
              </a:spcAft>
              <a:buSzPts val="1800"/>
              <a:buChar char="●"/>
            </a:pPr>
            <a:r>
              <a:rPr lang="en-US" sz="1400" dirty="0"/>
              <a:t>Cloud Stage</a:t>
            </a:r>
            <a:endParaRPr lang="en-US" sz="1200" dirty="0"/>
          </a:p>
          <a:p>
            <a:pPr lvl="1">
              <a:buFont typeface="Times New Roman" panose="02020603050405020304" pitchFamily="18" charset="0"/>
              <a:buChar char="→"/>
            </a:pPr>
            <a:r>
              <a:rPr lang="en-US" sz="1200" dirty="0"/>
              <a:t>Narrow the search space by retaining only promising architectures.</a:t>
            </a:r>
          </a:p>
          <a:p>
            <a:pPr lvl="1">
              <a:buFont typeface="Times New Roman" panose="02020603050405020304" pitchFamily="18" charset="0"/>
              <a:buChar char="→"/>
            </a:pPr>
            <a:r>
              <a:rPr lang="en-US" sz="1200" dirty="0"/>
              <a:t>Rely on </a:t>
            </a:r>
            <a:r>
              <a:rPr lang="en-US" sz="1200" dirty="0">
                <a:solidFill>
                  <a:srgbClr val="0070C0"/>
                </a:solidFill>
              </a:rPr>
              <a:t>public data </a:t>
            </a:r>
            <a:r>
              <a:rPr lang="en-US" sz="1200" dirty="0"/>
              <a:t>and heavy search algorithm.</a:t>
            </a:r>
            <a:endParaRPr lang="en-US" sz="1200" b="1" dirty="0"/>
          </a:p>
          <a:p>
            <a:pPr lvl="1">
              <a:buFont typeface="Times New Roman" panose="02020603050405020304" pitchFamily="18" charset="0"/>
              <a:buChar char="→"/>
            </a:pPr>
            <a:endParaRPr lang="en-US" sz="1200" dirty="0"/>
          </a:p>
          <a:p>
            <a:pPr marL="457200" lvl="0" indent="-342900" algn="l" rtl="0">
              <a:lnSpc>
                <a:spcPct val="115000"/>
              </a:lnSpc>
              <a:spcBef>
                <a:spcPts val="0"/>
              </a:spcBef>
              <a:spcAft>
                <a:spcPts val="0"/>
              </a:spcAft>
              <a:buSzPts val="1800"/>
              <a:buChar char="●"/>
            </a:pPr>
            <a:r>
              <a:rPr lang="en-US" sz="1400" dirty="0">
                <a:solidFill>
                  <a:schemeClr val="tx2">
                    <a:lumMod val="10000"/>
                  </a:schemeClr>
                </a:solidFill>
              </a:rPr>
              <a:t>Edge Stage</a:t>
            </a:r>
          </a:p>
          <a:p>
            <a:pPr lvl="1">
              <a:buFont typeface="Times New Roman" panose="02020603050405020304" pitchFamily="18" charset="0"/>
              <a:buChar char="→"/>
            </a:pPr>
            <a:r>
              <a:rPr lang="en-US" sz="1200" dirty="0"/>
              <a:t>Refine the subnet using </a:t>
            </a:r>
            <a:r>
              <a:rPr lang="en-US" sz="1200" dirty="0">
                <a:solidFill>
                  <a:srgbClr val="0070C0"/>
                </a:solidFill>
              </a:rPr>
              <a:t>local data </a:t>
            </a:r>
            <a:r>
              <a:rPr lang="en-US" sz="1200" dirty="0"/>
              <a:t>and </a:t>
            </a:r>
            <a:r>
              <a:rPr lang="en-US" sz="1200" dirty="0">
                <a:solidFill>
                  <a:srgbClr val="0070C0"/>
                </a:solidFill>
              </a:rPr>
              <a:t>current device conditions</a:t>
            </a:r>
            <a:r>
              <a:rPr lang="en-US" sz="1200" dirty="0"/>
              <a:t>.</a:t>
            </a:r>
          </a:p>
          <a:p>
            <a:pPr lvl="1">
              <a:buFont typeface="Times New Roman" panose="02020603050405020304" pitchFamily="18" charset="0"/>
              <a:buChar char="→"/>
            </a:pPr>
            <a:endParaRPr lang="en-US" sz="500" b="1" dirty="0">
              <a:solidFill>
                <a:srgbClr val="FF0000"/>
              </a:solidFill>
            </a:endParaRPr>
          </a:p>
          <a:p>
            <a:pPr lvl="1">
              <a:buFont typeface="Times New Roman" panose="02020603050405020304" pitchFamily="18" charset="0"/>
              <a:buChar char="→"/>
            </a:pPr>
            <a:r>
              <a:rPr lang="en-US" sz="1200" dirty="0"/>
              <a:t>Lightweight enough to be restarted to handle </a:t>
            </a:r>
            <a:r>
              <a:rPr lang="en-US" sz="1200" dirty="0">
                <a:solidFill>
                  <a:srgbClr val="0070C0"/>
                </a:solidFill>
              </a:rPr>
              <a:t>real-time resource changes </a:t>
            </a:r>
            <a:r>
              <a:rPr lang="en-US" sz="1200" dirty="0"/>
              <a:t>and </a:t>
            </a:r>
            <a:r>
              <a:rPr lang="en-US" sz="1200" dirty="0">
                <a:solidFill>
                  <a:srgbClr val="0070C0"/>
                </a:solidFill>
              </a:rPr>
              <a:t>distribution shifts</a:t>
            </a:r>
            <a:r>
              <a:rPr lang="en-US" sz="1200" dirty="0"/>
              <a:t>.</a:t>
            </a:r>
          </a:p>
        </p:txBody>
      </p:sp>
      <p:sp>
        <p:nvSpPr>
          <p:cNvPr id="6" name="TextBox 5">
            <a:extLst>
              <a:ext uri="{FF2B5EF4-FFF2-40B4-BE49-F238E27FC236}">
                <a16:creationId xmlns:a16="http://schemas.microsoft.com/office/drawing/2014/main" id="{D690183D-C752-1884-D209-A907ED61A61C}"/>
              </a:ext>
            </a:extLst>
          </p:cNvPr>
          <p:cNvSpPr txBox="1"/>
          <p:nvPr/>
        </p:nvSpPr>
        <p:spPr>
          <a:xfrm>
            <a:off x="558923" y="3944842"/>
            <a:ext cx="8437932" cy="523220"/>
          </a:xfrm>
          <a:prstGeom prst="rect">
            <a:avLst/>
          </a:prstGeom>
          <a:noFill/>
        </p:spPr>
        <p:txBody>
          <a:bodyPr wrap="square" rtlCol="0">
            <a:spAutoFit/>
          </a:bodyPr>
          <a:lstStyle/>
          <a:p>
            <a:r>
              <a:rPr lang="en-US" b="1" dirty="0">
                <a:solidFill>
                  <a:srgbClr val="C01F21"/>
                </a:solidFill>
              </a:rPr>
              <a:t>Cloud search provides scalability, while edge refinement ensures deployment-faithful adaptation.</a:t>
            </a:r>
            <a:endParaRPr lang="en-US" dirty="0">
              <a:solidFill>
                <a:srgbClr val="C01F21"/>
              </a:solidFill>
            </a:endParaRPr>
          </a:p>
          <a:p>
            <a:endParaRPr lang="en-US" dirty="0"/>
          </a:p>
        </p:txBody>
      </p:sp>
      <p:sp>
        <p:nvSpPr>
          <p:cNvPr id="2" name="Slide Number Placeholder 1">
            <a:extLst>
              <a:ext uri="{FF2B5EF4-FFF2-40B4-BE49-F238E27FC236}">
                <a16:creationId xmlns:a16="http://schemas.microsoft.com/office/drawing/2014/main" id="{D3753643-2930-7612-F840-AF9BEC1DE8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3" name="TextBox 2">
            <a:extLst>
              <a:ext uri="{FF2B5EF4-FFF2-40B4-BE49-F238E27FC236}">
                <a16:creationId xmlns:a16="http://schemas.microsoft.com/office/drawing/2014/main" id="{5C46FA0E-40AC-1CA3-B84F-D692DE6975CA}"/>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pic>
        <p:nvPicPr>
          <p:cNvPr id="7" name="Picture 6">
            <a:extLst>
              <a:ext uri="{FF2B5EF4-FFF2-40B4-BE49-F238E27FC236}">
                <a16:creationId xmlns:a16="http://schemas.microsoft.com/office/drawing/2014/main" id="{03E274CE-BD06-99B9-3E5E-D50FAD202E57}"/>
              </a:ext>
            </a:extLst>
          </p:cNvPr>
          <p:cNvPicPr>
            <a:picLocks noChangeAspect="1"/>
          </p:cNvPicPr>
          <p:nvPr/>
        </p:nvPicPr>
        <p:blipFill>
          <a:blip r:embed="rId3"/>
          <a:stretch>
            <a:fillRect/>
          </a:stretch>
        </p:blipFill>
        <p:spPr>
          <a:xfrm>
            <a:off x="3875891" y="782225"/>
            <a:ext cx="5120964" cy="2922814"/>
          </a:xfrm>
          <a:prstGeom prst="rect">
            <a:avLst/>
          </a:prstGeom>
        </p:spPr>
      </p:pic>
    </p:spTree>
    <p:extLst>
      <p:ext uri="{BB962C8B-B14F-4D97-AF65-F5344CB8AC3E}">
        <p14:creationId xmlns:p14="http://schemas.microsoft.com/office/powerpoint/2010/main" val="106830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BFE6C3F6-649F-63FF-75DF-5630FD2F94D4}"/>
            </a:ext>
          </a:extLst>
        </p:cNvPr>
        <p:cNvGrpSpPr/>
        <p:nvPr/>
      </p:nvGrpSpPr>
      <p:grpSpPr>
        <a:xfrm>
          <a:off x="0" y="0"/>
          <a:ext cx="0" cy="0"/>
          <a:chOff x="0" y="0"/>
          <a:chExt cx="0" cy="0"/>
        </a:xfrm>
      </p:grpSpPr>
      <p:sp>
        <p:nvSpPr>
          <p:cNvPr id="61" name="Google Shape;61;p5">
            <a:extLst>
              <a:ext uri="{FF2B5EF4-FFF2-40B4-BE49-F238E27FC236}">
                <a16:creationId xmlns:a16="http://schemas.microsoft.com/office/drawing/2014/main" id="{1DAFDB5E-D634-909A-2C09-27F73EFB45A7}"/>
              </a:ext>
            </a:extLst>
          </p:cNvPr>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r>
              <a:rPr lang="en-US" sz="2200" b="1" dirty="0">
                <a:solidFill>
                  <a:srgbClr val="C01F21"/>
                </a:solidFill>
              </a:rPr>
              <a:t>Cloud Stage: </a:t>
            </a:r>
            <a:r>
              <a:rPr lang="en-US" sz="2200" b="1" dirty="0" err="1">
                <a:solidFill>
                  <a:srgbClr val="C01F21"/>
                </a:solidFill>
              </a:rPr>
              <a:t>Supernet</a:t>
            </a:r>
            <a:r>
              <a:rPr lang="en-US" sz="2200" b="1" dirty="0">
                <a:solidFill>
                  <a:srgbClr val="C01F21"/>
                </a:solidFill>
              </a:rPr>
              <a:t> Construction and Search</a:t>
            </a:r>
          </a:p>
        </p:txBody>
      </p:sp>
      <p:sp>
        <p:nvSpPr>
          <p:cNvPr id="2" name="Slide Number Placeholder 1">
            <a:extLst>
              <a:ext uri="{FF2B5EF4-FFF2-40B4-BE49-F238E27FC236}">
                <a16:creationId xmlns:a16="http://schemas.microsoft.com/office/drawing/2014/main" id="{00F24BAF-761A-AA6B-71DB-BB502C842A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3" name="TextBox 2">
            <a:extLst>
              <a:ext uri="{FF2B5EF4-FFF2-40B4-BE49-F238E27FC236}">
                <a16:creationId xmlns:a16="http://schemas.microsoft.com/office/drawing/2014/main" id="{A1B32D15-E0F8-1DCC-E9F9-5DBEE386DC37}"/>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
        <p:nvSpPr>
          <p:cNvPr id="6" name="TextBox 5">
            <a:extLst>
              <a:ext uri="{FF2B5EF4-FFF2-40B4-BE49-F238E27FC236}">
                <a16:creationId xmlns:a16="http://schemas.microsoft.com/office/drawing/2014/main" id="{0F30929D-21AA-B832-F1AD-B01294A1274B}"/>
              </a:ext>
            </a:extLst>
          </p:cNvPr>
          <p:cNvSpPr txBox="1"/>
          <p:nvPr/>
        </p:nvSpPr>
        <p:spPr>
          <a:xfrm>
            <a:off x="4846320" y="1607383"/>
            <a:ext cx="4355871" cy="1928733"/>
          </a:xfrm>
          <a:prstGeom prst="rect">
            <a:avLst/>
          </a:prstGeom>
          <a:noFill/>
        </p:spPr>
        <p:txBody>
          <a:bodyPr wrap="square" rtlCol="0">
            <a:spAutoFit/>
          </a:bodyPr>
          <a:lstStyle/>
          <a:p>
            <a:pPr marL="285750" indent="-285750">
              <a:spcAft>
                <a:spcPts val="1000"/>
              </a:spcAft>
              <a:buFont typeface="Arial" panose="020B0604020202020204" pitchFamily="34" charset="0"/>
              <a:buChar char="•"/>
            </a:pPr>
            <a:r>
              <a:rPr lang="en-US" sz="1200" dirty="0"/>
              <a:t>Replace each mutable block with a super-block containing multiple candidate choices.</a:t>
            </a:r>
          </a:p>
          <a:p>
            <a:pPr marL="285750" indent="-285750">
              <a:spcAft>
                <a:spcPts val="1000"/>
              </a:spcAft>
              <a:buFont typeface="Arial" panose="020B0604020202020204" pitchFamily="34" charset="0"/>
              <a:buChar char="•"/>
            </a:pPr>
            <a:r>
              <a:rPr lang="en-US" sz="1200" dirty="0"/>
              <a:t>The </a:t>
            </a:r>
            <a:r>
              <a:rPr lang="en-US" sz="1200" dirty="0" err="1"/>
              <a:t>supernet</a:t>
            </a:r>
            <a:r>
              <a:rPr lang="en-US" sz="1200" dirty="0"/>
              <a:t> induces a search space.</a:t>
            </a:r>
          </a:p>
          <a:p>
            <a:pPr marL="285750" indent="-285750">
              <a:spcAft>
                <a:spcPts val="1000"/>
              </a:spcAft>
              <a:buFont typeface="Arial" panose="020B0604020202020204" pitchFamily="34" charset="0"/>
              <a:buChar char="•"/>
            </a:pPr>
            <a:r>
              <a:rPr lang="en-US" sz="1200" dirty="0"/>
              <a:t>Shared weights can be reused for evaluation.</a:t>
            </a:r>
          </a:p>
          <a:p>
            <a:pPr marL="285750" indent="-285750">
              <a:spcAft>
                <a:spcPts val="1000"/>
              </a:spcAft>
              <a:buFont typeface="Arial" panose="020B0604020202020204" pitchFamily="34" charset="0"/>
              <a:buChar char="•"/>
            </a:pPr>
            <a:r>
              <a:rPr lang="en-US" sz="1200" dirty="0"/>
              <a:t>Subnet is compact while still retaining promising candidates.</a:t>
            </a:r>
          </a:p>
          <a:p>
            <a:endParaRPr lang="en-US" dirty="0"/>
          </a:p>
        </p:txBody>
      </p:sp>
      <p:pic>
        <p:nvPicPr>
          <p:cNvPr id="7" name="Picture 6">
            <a:extLst>
              <a:ext uri="{FF2B5EF4-FFF2-40B4-BE49-F238E27FC236}">
                <a16:creationId xmlns:a16="http://schemas.microsoft.com/office/drawing/2014/main" id="{F8B51C91-7238-9E85-557E-E7A72A1B9CC4}"/>
              </a:ext>
            </a:extLst>
          </p:cNvPr>
          <p:cNvPicPr>
            <a:picLocks noChangeAspect="1"/>
          </p:cNvPicPr>
          <p:nvPr/>
        </p:nvPicPr>
        <p:blipFill>
          <a:blip r:embed="rId3"/>
          <a:stretch>
            <a:fillRect/>
          </a:stretch>
        </p:blipFill>
        <p:spPr>
          <a:xfrm>
            <a:off x="143691" y="1180193"/>
            <a:ext cx="4702629" cy="2715725"/>
          </a:xfrm>
          <a:prstGeom prst="rect">
            <a:avLst/>
          </a:prstGeom>
        </p:spPr>
      </p:pic>
    </p:spTree>
    <p:extLst>
      <p:ext uri="{BB962C8B-B14F-4D97-AF65-F5344CB8AC3E}">
        <p14:creationId xmlns:p14="http://schemas.microsoft.com/office/powerpoint/2010/main" val="4181902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FE30-B42A-4550-2A29-D30BA726E1FD}"/>
              </a:ext>
            </a:extLst>
          </p:cNvPr>
          <p:cNvSpPr>
            <a:spLocks noGrp="1"/>
          </p:cNvSpPr>
          <p:nvPr>
            <p:ph type="title"/>
          </p:nvPr>
        </p:nvSpPr>
        <p:spPr/>
        <p:txBody>
          <a:bodyPr/>
          <a:lstStyle/>
          <a:p>
            <a:r>
              <a:rPr lang="en-US" sz="2200" b="1" dirty="0">
                <a:solidFill>
                  <a:srgbClr val="C01F21"/>
                </a:solidFill>
              </a:rPr>
              <a:t>Edge Stage: Lightweight On-Device Refinement</a:t>
            </a:r>
          </a:p>
        </p:txBody>
      </p:sp>
      <p:sp>
        <p:nvSpPr>
          <p:cNvPr id="14" name="TextBox 13">
            <a:extLst>
              <a:ext uri="{FF2B5EF4-FFF2-40B4-BE49-F238E27FC236}">
                <a16:creationId xmlns:a16="http://schemas.microsoft.com/office/drawing/2014/main" id="{154A36E7-4046-B488-40D2-02B9AEED1014}"/>
              </a:ext>
            </a:extLst>
          </p:cNvPr>
          <p:cNvSpPr txBox="1"/>
          <p:nvPr/>
        </p:nvSpPr>
        <p:spPr>
          <a:xfrm>
            <a:off x="205683" y="2719335"/>
            <a:ext cx="4446104" cy="677108"/>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rgbClr val="C01F21"/>
                </a:solidFill>
              </a:rPr>
              <a:t>Edge Stage: </a:t>
            </a:r>
            <a:r>
              <a:rPr lang="en-US" sz="1200" dirty="0"/>
              <a:t>Refine the cloud-proposed subnet on the target device using local data and direct profiling.</a:t>
            </a:r>
          </a:p>
          <a:p>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C1BC8A7-0A11-2826-20F9-43179E23A04D}"/>
                  </a:ext>
                </a:extLst>
              </p:cNvPr>
              <p:cNvSpPr txBox="1"/>
              <p:nvPr/>
            </p:nvSpPr>
            <p:spPr>
              <a:xfrm>
                <a:off x="4993226" y="2923574"/>
                <a:ext cx="4013026" cy="1600438"/>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rgbClr val="C01F21"/>
                    </a:solidFill>
                  </a:rPr>
                  <a:t>Sequential beam search: </a:t>
                </a:r>
                <a:r>
                  <a:rPr lang="en-US" sz="1200" dirty="0"/>
                  <a:t>Expand partial architectures </a:t>
                </a:r>
                <a:r>
                  <a:rPr lang="en-US" sz="1200" dirty="0">
                    <a:solidFill>
                      <a:srgbClr val="0070C0"/>
                    </a:solidFill>
                  </a:rPr>
                  <a:t>block by block </a:t>
                </a:r>
                <a:r>
                  <a:rPr lang="en-US" sz="1200" dirty="0"/>
                  <a:t>while retaining the top-</a:t>
                </a:r>
                <a14:m>
                  <m:oMath xmlns:m="http://schemas.openxmlformats.org/officeDocument/2006/math">
                    <m:r>
                      <a:rPr lang="en-US" sz="1200" i="1">
                        <a:latin typeface="Cambria Math" panose="02040503050406030204" pitchFamily="18" charset="0"/>
                      </a:rPr>
                      <m:t>𝑏</m:t>
                    </m:r>
                  </m:oMath>
                </a14:m>
                <a:r>
                  <a:rPr lang="en-US" sz="1200" dirty="0"/>
                  <a:t> partial candidates.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Child architectures expanded from the same parent </a:t>
                </a:r>
                <a:r>
                  <a:rPr lang="en-US" sz="1200" dirty="0">
                    <a:solidFill>
                      <a:srgbClr val="0070C0"/>
                    </a:solidFill>
                  </a:rPr>
                  <a:t>share long prefixes</a:t>
                </a:r>
                <a:r>
                  <a:rPr lang="en-US" sz="1200" dirty="0"/>
                  <a:t>, so only the modified suffix is recomputed during evaluation.</a:t>
                </a:r>
              </a:p>
              <a:p>
                <a:pPr lvl="2"/>
                <a:endParaRPr lang="en-US" dirty="0"/>
              </a:p>
            </p:txBody>
          </p:sp>
        </mc:Choice>
        <mc:Fallback xmlns="">
          <p:sp>
            <p:nvSpPr>
              <p:cNvPr id="15" name="TextBox 14">
                <a:extLst>
                  <a:ext uri="{FF2B5EF4-FFF2-40B4-BE49-F238E27FC236}">
                    <a16:creationId xmlns:a16="http://schemas.microsoft.com/office/drawing/2014/main" id="{8C1BC8A7-0A11-2826-20F9-43179E23A04D}"/>
                  </a:ext>
                </a:extLst>
              </p:cNvPr>
              <p:cNvSpPr txBox="1">
                <a:spLocks noRot="1" noChangeAspect="1" noMove="1" noResize="1" noEditPoints="1" noAdjustHandles="1" noChangeArrowheads="1" noChangeShapeType="1" noTextEdit="1"/>
              </p:cNvSpPr>
              <p:nvPr/>
            </p:nvSpPr>
            <p:spPr>
              <a:xfrm>
                <a:off x="4993226" y="2923574"/>
                <a:ext cx="4013026" cy="1600438"/>
              </a:xfrm>
              <a:prstGeom prst="rect">
                <a:avLst/>
              </a:prstGeom>
              <a:blipFill>
                <a:blip r:embed="rId5"/>
                <a:stretch>
                  <a:fillRect t="-787"/>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BD3F2D56-C490-94EE-23C7-56354D6CF16A}"/>
              </a:ext>
            </a:extLst>
          </p:cNvPr>
          <p:cNvSpPr txBox="1"/>
          <p:nvPr/>
        </p:nvSpPr>
        <p:spPr>
          <a:xfrm>
            <a:off x="205683" y="3260035"/>
            <a:ext cx="4350501" cy="677108"/>
          </a:xfrm>
          <a:prstGeom prst="rect">
            <a:avLst/>
          </a:prstGeom>
          <a:noFill/>
        </p:spPr>
        <p:txBody>
          <a:bodyPr wrap="square" rtlCol="0">
            <a:spAutoFit/>
          </a:bodyPr>
          <a:lstStyle/>
          <a:p>
            <a:pPr marL="171450" indent="-171450">
              <a:buFont typeface="Arial" panose="020B0604020202020204" pitchFamily="34" charset="0"/>
              <a:buChar char="•"/>
            </a:pPr>
            <a:r>
              <a:rPr lang="en-US" sz="1200" dirty="0"/>
              <a:t>Utility evaluation is accelerated through</a:t>
            </a:r>
            <a:r>
              <a:rPr lang="en-US" sz="1200" dirty="0">
                <a:solidFill>
                  <a:srgbClr val="0070C0"/>
                </a:solidFill>
              </a:rPr>
              <a:t> caching</a:t>
            </a:r>
            <a:r>
              <a:rPr lang="en-US" sz="1200" dirty="0"/>
              <a:t>, </a:t>
            </a:r>
            <a:r>
              <a:rPr lang="en-US" sz="1200" dirty="0">
                <a:solidFill>
                  <a:srgbClr val="0070C0"/>
                </a:solidFill>
              </a:rPr>
              <a:t>stage-aware evaluation</a:t>
            </a:r>
            <a:r>
              <a:rPr lang="en-US" sz="1200" dirty="0"/>
              <a:t>, and </a:t>
            </a:r>
            <a:r>
              <a:rPr lang="en-US" sz="1200" dirty="0">
                <a:solidFill>
                  <a:srgbClr val="0070C0"/>
                </a:solidFill>
              </a:rPr>
              <a:t>intermediate feature reuse</a:t>
            </a:r>
          </a:p>
          <a:p>
            <a:endParaRPr lang="en-US" dirty="0"/>
          </a:p>
        </p:txBody>
      </p:sp>
      <p:sp>
        <p:nvSpPr>
          <p:cNvPr id="3" name="Slide Number Placeholder 2">
            <a:extLst>
              <a:ext uri="{FF2B5EF4-FFF2-40B4-BE49-F238E27FC236}">
                <a16:creationId xmlns:a16="http://schemas.microsoft.com/office/drawing/2014/main" id="{D1598F22-1A11-7B6A-0C48-F398E22373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4" name="TextBox 3">
            <a:extLst>
              <a:ext uri="{FF2B5EF4-FFF2-40B4-BE49-F238E27FC236}">
                <a16:creationId xmlns:a16="http://schemas.microsoft.com/office/drawing/2014/main" id="{DB578483-DBEE-9BFF-A9D4-B0754A1445B7}"/>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pic>
        <p:nvPicPr>
          <p:cNvPr id="8" name="Picture 7">
            <a:extLst>
              <a:ext uri="{FF2B5EF4-FFF2-40B4-BE49-F238E27FC236}">
                <a16:creationId xmlns:a16="http://schemas.microsoft.com/office/drawing/2014/main" id="{3B43F942-8A29-EB25-F060-DB008CB0FF43}"/>
              </a:ext>
            </a:extLst>
          </p:cNvPr>
          <p:cNvPicPr>
            <a:picLocks noChangeAspect="1"/>
          </p:cNvPicPr>
          <p:nvPr/>
        </p:nvPicPr>
        <p:blipFill>
          <a:blip r:embed="rId6"/>
          <a:stretch>
            <a:fillRect/>
          </a:stretch>
        </p:blipFill>
        <p:spPr>
          <a:xfrm>
            <a:off x="205683" y="1364386"/>
            <a:ext cx="4584605" cy="1207364"/>
          </a:xfrm>
          <a:prstGeom prst="rect">
            <a:avLst/>
          </a:prstGeom>
        </p:spPr>
      </p:pic>
      <p:pic>
        <p:nvPicPr>
          <p:cNvPr id="10" name="Picture 9">
            <a:extLst>
              <a:ext uri="{FF2B5EF4-FFF2-40B4-BE49-F238E27FC236}">
                <a16:creationId xmlns:a16="http://schemas.microsoft.com/office/drawing/2014/main" id="{160A48CE-097F-EFEE-E885-4319EC38064B}"/>
              </a:ext>
            </a:extLst>
          </p:cNvPr>
          <p:cNvPicPr>
            <a:picLocks noChangeAspect="1"/>
          </p:cNvPicPr>
          <p:nvPr/>
        </p:nvPicPr>
        <p:blipFill>
          <a:blip r:embed="rId7"/>
          <a:stretch>
            <a:fillRect/>
          </a:stretch>
        </p:blipFill>
        <p:spPr>
          <a:xfrm>
            <a:off x="4993226" y="897197"/>
            <a:ext cx="3945091" cy="1855454"/>
          </a:xfrm>
          <a:prstGeom prst="rect">
            <a:avLst/>
          </a:prstGeom>
        </p:spPr>
      </p:pic>
    </p:spTree>
    <p:extLst>
      <p:ext uri="{BB962C8B-B14F-4D97-AF65-F5344CB8AC3E}">
        <p14:creationId xmlns:p14="http://schemas.microsoft.com/office/powerpoint/2010/main" val="423625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597C7-04F9-E07B-6A6A-CF523930F342}"/>
              </a:ext>
            </a:extLst>
          </p:cNvPr>
          <p:cNvSpPr>
            <a:spLocks noGrp="1"/>
          </p:cNvSpPr>
          <p:nvPr>
            <p:ph type="title"/>
          </p:nvPr>
        </p:nvSpPr>
        <p:spPr/>
        <p:txBody>
          <a:bodyPr/>
          <a:lstStyle/>
          <a:p>
            <a:r>
              <a:rPr lang="en-US" sz="2200" b="1" dirty="0">
                <a:solidFill>
                  <a:srgbClr val="C01F21"/>
                </a:solidFill>
              </a:rPr>
              <a:t>Results Across Vision and NLP Tasks</a:t>
            </a:r>
          </a:p>
        </p:txBody>
      </p:sp>
      <p:sp>
        <p:nvSpPr>
          <p:cNvPr id="9" name="TextBox 8">
            <a:extLst>
              <a:ext uri="{FF2B5EF4-FFF2-40B4-BE49-F238E27FC236}">
                <a16:creationId xmlns:a16="http://schemas.microsoft.com/office/drawing/2014/main" id="{BD96EFDC-8236-3207-F874-85C1C6B534D8}"/>
              </a:ext>
            </a:extLst>
          </p:cNvPr>
          <p:cNvSpPr txBox="1"/>
          <p:nvPr/>
        </p:nvSpPr>
        <p:spPr>
          <a:xfrm>
            <a:off x="387519" y="3786799"/>
            <a:ext cx="8582700" cy="461665"/>
          </a:xfrm>
          <a:prstGeom prst="rect">
            <a:avLst/>
          </a:prstGeom>
          <a:noFill/>
        </p:spPr>
        <p:txBody>
          <a:bodyPr wrap="square" rtlCol="0">
            <a:spAutoFit/>
          </a:bodyPr>
          <a:lstStyle/>
          <a:p>
            <a:r>
              <a:rPr lang="en-US" sz="1200" b="1" dirty="0">
                <a:solidFill>
                  <a:srgbClr val="C01F21"/>
                </a:solidFill>
              </a:rPr>
              <a:t>Across both vision and NLP tasks, our framework reduces HW-NAS search time by about 3X on average while maintaining competitive utility.</a:t>
            </a:r>
            <a:endParaRPr lang="en-US" sz="1200" dirty="0">
              <a:solidFill>
                <a:srgbClr val="C01F21"/>
              </a:solidFill>
            </a:endParaRPr>
          </a:p>
        </p:txBody>
      </p:sp>
      <p:sp>
        <p:nvSpPr>
          <p:cNvPr id="3" name="Slide Number Placeholder 2">
            <a:extLst>
              <a:ext uri="{FF2B5EF4-FFF2-40B4-BE49-F238E27FC236}">
                <a16:creationId xmlns:a16="http://schemas.microsoft.com/office/drawing/2014/main" id="{C4AA14F4-9877-170A-24F2-DA830C65A4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4" name="TextBox 3">
            <a:extLst>
              <a:ext uri="{FF2B5EF4-FFF2-40B4-BE49-F238E27FC236}">
                <a16:creationId xmlns:a16="http://schemas.microsoft.com/office/drawing/2014/main" id="{F1DC86EA-699F-C1AB-CFC1-97D759C7687E}"/>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
        <p:nvSpPr>
          <p:cNvPr id="5" name="TextBox 4">
            <a:extLst>
              <a:ext uri="{FF2B5EF4-FFF2-40B4-BE49-F238E27FC236}">
                <a16:creationId xmlns:a16="http://schemas.microsoft.com/office/drawing/2014/main" id="{3F943580-0B60-66E5-2FCD-1F19C5D7C970}"/>
              </a:ext>
            </a:extLst>
          </p:cNvPr>
          <p:cNvSpPr txBox="1"/>
          <p:nvPr/>
        </p:nvSpPr>
        <p:spPr>
          <a:xfrm>
            <a:off x="249600" y="709798"/>
            <a:ext cx="4322400" cy="707886"/>
          </a:xfrm>
          <a:prstGeom prst="rect">
            <a:avLst/>
          </a:prstGeom>
          <a:noFill/>
        </p:spPr>
        <p:txBody>
          <a:bodyPr wrap="square">
            <a:spAutoFit/>
          </a:bodyPr>
          <a:lstStyle/>
          <a:p>
            <a:pPr marL="285750" indent="-285750">
              <a:spcAft>
                <a:spcPts val="600"/>
              </a:spcAft>
              <a:buFont typeface="System Font Regular"/>
              <a:buChar char="*"/>
            </a:pPr>
            <a:r>
              <a:rPr lang="en-US" sz="1000" dirty="0"/>
              <a:t>Evo-HW-NAS: Evolutionary cloud-based HW-NAS baseline</a:t>
            </a:r>
          </a:p>
          <a:p>
            <a:pPr marL="285750" indent="-285750">
              <a:spcAft>
                <a:spcPts val="600"/>
              </a:spcAft>
              <a:buFont typeface="System Font Regular"/>
              <a:buChar char="*"/>
            </a:pPr>
            <a:r>
              <a:rPr lang="en-US" sz="1000" dirty="0"/>
              <a:t>RL-HW-NAS: PPO-based cloud-based HW-NAS baseline</a:t>
            </a:r>
          </a:p>
          <a:p>
            <a:pPr marL="285750" indent="-285750">
              <a:spcAft>
                <a:spcPts val="600"/>
              </a:spcAft>
              <a:buFont typeface="System Font Regular"/>
              <a:buChar char="*"/>
            </a:pPr>
            <a:r>
              <a:rPr lang="en-US" sz="1000" dirty="0"/>
              <a:t>BO-HW-NAS: Bayesian-optimization cloud-based HW-NAS baseline</a:t>
            </a:r>
          </a:p>
        </p:txBody>
      </p:sp>
      <p:pic>
        <p:nvPicPr>
          <p:cNvPr id="7" name="Picture 6">
            <a:extLst>
              <a:ext uri="{FF2B5EF4-FFF2-40B4-BE49-F238E27FC236}">
                <a16:creationId xmlns:a16="http://schemas.microsoft.com/office/drawing/2014/main" id="{25107F0F-956E-04A2-67F3-01A98AA7B666}"/>
              </a:ext>
            </a:extLst>
          </p:cNvPr>
          <p:cNvPicPr>
            <a:picLocks noChangeAspect="1"/>
          </p:cNvPicPr>
          <p:nvPr/>
        </p:nvPicPr>
        <p:blipFill>
          <a:blip r:embed="rId3"/>
          <a:stretch>
            <a:fillRect/>
          </a:stretch>
        </p:blipFill>
        <p:spPr>
          <a:xfrm>
            <a:off x="2131612" y="1510814"/>
            <a:ext cx="5048084" cy="2165416"/>
          </a:xfrm>
          <a:prstGeom prst="rect">
            <a:avLst/>
          </a:prstGeom>
        </p:spPr>
      </p:pic>
    </p:spTree>
    <p:extLst>
      <p:ext uri="{BB962C8B-B14F-4D97-AF65-F5344CB8AC3E}">
        <p14:creationId xmlns:p14="http://schemas.microsoft.com/office/powerpoint/2010/main" val="1101503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9193EE00-3A8C-1282-A10A-CA5160EFC36B}"/>
            </a:ext>
          </a:extLst>
        </p:cNvPr>
        <p:cNvGrpSpPr/>
        <p:nvPr/>
      </p:nvGrpSpPr>
      <p:grpSpPr>
        <a:xfrm>
          <a:off x="0" y="0"/>
          <a:ext cx="0" cy="0"/>
          <a:chOff x="0" y="0"/>
          <a:chExt cx="0" cy="0"/>
        </a:xfrm>
      </p:grpSpPr>
      <p:sp>
        <p:nvSpPr>
          <p:cNvPr id="46" name="Google Shape;46;p3">
            <a:extLst>
              <a:ext uri="{FF2B5EF4-FFF2-40B4-BE49-F238E27FC236}">
                <a16:creationId xmlns:a16="http://schemas.microsoft.com/office/drawing/2014/main" id="{78BD084C-F7FE-685F-506D-BF5104D66048}"/>
              </a:ext>
            </a:extLst>
          </p:cNvPr>
          <p:cNvSpPr txBox="1">
            <a:spLocks noGrp="1"/>
          </p:cNvSpPr>
          <p:nvPr>
            <p:ph type="title"/>
          </p:nvPr>
        </p:nvSpPr>
        <p:spPr>
          <a:xfrm>
            <a:off x="248434" y="1664323"/>
            <a:ext cx="8582700" cy="572700"/>
          </a:xfrm>
          <a:prstGeom prst="rect">
            <a:avLst/>
          </a:prstGeom>
          <a:noFill/>
          <a:ln>
            <a:noFill/>
          </a:ln>
        </p:spPr>
        <p:txBody>
          <a:bodyPr spcFirstLastPara="1" wrap="square" lIns="91425" tIns="91425" rIns="91425" bIns="91425" anchor="t" anchorCtr="0">
            <a:noAutofit/>
          </a:bodyPr>
          <a:lstStyle/>
          <a:p>
            <a:pPr lvl="0" algn="ctr"/>
            <a:r>
              <a:rPr lang="en-US" sz="2200" b="1" dirty="0">
                <a:solidFill>
                  <a:srgbClr val="C01F21"/>
                </a:solidFill>
              </a:rPr>
              <a:t>Future Direction</a:t>
            </a:r>
            <a:br>
              <a:rPr lang="en-US" sz="2200" b="1" dirty="0">
                <a:solidFill>
                  <a:srgbClr val="C01F21"/>
                </a:solidFill>
              </a:rPr>
            </a:br>
            <a:br>
              <a:rPr lang="en-US" sz="2000" dirty="0"/>
            </a:br>
            <a:r>
              <a:rPr lang="en-US" sz="2000" dirty="0"/>
              <a:t>Collaborative Speculative Decoding across Edge and Cloud</a:t>
            </a:r>
            <a:endParaRPr sz="2000" dirty="0"/>
          </a:p>
        </p:txBody>
      </p:sp>
      <p:sp>
        <p:nvSpPr>
          <p:cNvPr id="2" name="Slide Number Placeholder 1">
            <a:extLst>
              <a:ext uri="{FF2B5EF4-FFF2-40B4-BE49-F238E27FC236}">
                <a16:creationId xmlns:a16="http://schemas.microsoft.com/office/drawing/2014/main" id="{EA860A5D-4CB2-C626-199C-7145A823B9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4294616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8B35B43B-C012-4978-74B9-24F95706E1B4}"/>
            </a:ext>
          </a:extLst>
        </p:cNvPr>
        <p:cNvGrpSpPr/>
        <p:nvPr/>
      </p:nvGrpSpPr>
      <p:grpSpPr>
        <a:xfrm>
          <a:off x="0" y="0"/>
          <a:ext cx="0" cy="0"/>
          <a:chOff x="0" y="0"/>
          <a:chExt cx="0" cy="0"/>
        </a:xfrm>
      </p:grpSpPr>
      <p:sp>
        <p:nvSpPr>
          <p:cNvPr id="61" name="Google Shape;61;p5">
            <a:extLst>
              <a:ext uri="{FF2B5EF4-FFF2-40B4-BE49-F238E27FC236}">
                <a16:creationId xmlns:a16="http://schemas.microsoft.com/office/drawing/2014/main" id="{EA2F9E75-B4AF-DB2C-BAB6-B4339028F9AD}"/>
              </a:ext>
            </a:extLst>
          </p:cNvPr>
          <p:cNvSpPr txBox="1">
            <a:spLocks noGrp="1"/>
          </p:cNvSpPr>
          <p:nvPr>
            <p:ph type="title"/>
          </p:nvPr>
        </p:nvSpPr>
        <p:spPr>
          <a:xfrm>
            <a:off x="249600" y="153575"/>
            <a:ext cx="8855884"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Motivation</a:t>
            </a:r>
            <a:br>
              <a:rPr lang="en-US" dirty="0"/>
            </a:br>
            <a:endParaRPr lang="en-US" dirty="0"/>
          </a:p>
        </p:txBody>
      </p:sp>
      <p:sp>
        <p:nvSpPr>
          <p:cNvPr id="4" name="TextBox 3">
            <a:extLst>
              <a:ext uri="{FF2B5EF4-FFF2-40B4-BE49-F238E27FC236}">
                <a16:creationId xmlns:a16="http://schemas.microsoft.com/office/drawing/2014/main" id="{B18EDD1F-FD47-0330-9E42-097308EE408F}"/>
              </a:ext>
            </a:extLst>
          </p:cNvPr>
          <p:cNvSpPr txBox="1"/>
          <p:nvPr/>
        </p:nvSpPr>
        <p:spPr>
          <a:xfrm>
            <a:off x="376736" y="2932787"/>
            <a:ext cx="8728748" cy="954107"/>
          </a:xfrm>
          <a:prstGeom prst="rect">
            <a:avLst/>
          </a:prstGeom>
          <a:noFill/>
        </p:spPr>
        <p:txBody>
          <a:bodyPr wrap="square" rtlCol="0">
            <a:spAutoFit/>
          </a:bodyPr>
          <a:lstStyle/>
          <a:p>
            <a:br>
              <a:rPr lang="en-US" b="1" dirty="0">
                <a:solidFill>
                  <a:srgbClr val="C01F21"/>
                </a:solidFill>
              </a:rPr>
            </a:br>
            <a:endParaRPr lang="en-US" b="1" dirty="0">
              <a:solidFill>
                <a:srgbClr val="C01F21"/>
              </a:solidFill>
            </a:endParaRPr>
          </a:p>
          <a:p>
            <a:r>
              <a:rPr lang="en-US" b="1" dirty="0">
                <a:solidFill>
                  <a:srgbClr val="C01F21"/>
                </a:solidFill>
              </a:rPr>
              <a:t>These tradeoffs motivate finer-grained edge–cloud collaboration during decoding.</a:t>
            </a:r>
          </a:p>
          <a:p>
            <a:endParaRPr lang="en-US" dirty="0"/>
          </a:p>
        </p:txBody>
      </p:sp>
      <p:sp>
        <p:nvSpPr>
          <p:cNvPr id="8" name="Google Shape;62;p5">
            <a:extLst>
              <a:ext uri="{FF2B5EF4-FFF2-40B4-BE49-F238E27FC236}">
                <a16:creationId xmlns:a16="http://schemas.microsoft.com/office/drawing/2014/main" id="{02CD1BFE-0505-C3A3-7BA6-EA52532E0511}"/>
              </a:ext>
            </a:extLst>
          </p:cNvPr>
          <p:cNvSpPr txBox="1">
            <a:spLocks noGrp="1"/>
          </p:cNvSpPr>
          <p:nvPr>
            <p:ph type="body" idx="1"/>
          </p:nvPr>
        </p:nvSpPr>
        <p:spPr>
          <a:xfrm>
            <a:off x="355715" y="1098153"/>
            <a:ext cx="8008885" cy="1943353"/>
          </a:xfrm>
          <a:prstGeom prst="rect">
            <a:avLst/>
          </a:prstGeom>
          <a:noFill/>
          <a:ln>
            <a:noFill/>
          </a:ln>
        </p:spPr>
        <p:txBody>
          <a:bodyPr spcFirstLastPara="1" wrap="square" lIns="91425" tIns="91425" rIns="91425" bIns="91425" anchor="t" anchorCtr="0">
            <a:noAutofit/>
          </a:bodyPr>
          <a:lstStyle/>
          <a:p>
            <a:pPr marL="596900" lvl="1" indent="0">
              <a:buNone/>
            </a:pPr>
            <a:endParaRPr lang="en-US" sz="1200" dirty="0"/>
          </a:p>
          <a:p>
            <a:pPr marL="0" indent="0">
              <a:buNone/>
            </a:pPr>
            <a:r>
              <a:rPr lang="en-US" sz="1400" dirty="0"/>
              <a:t>Generative inference poses a harder systems challenge than conventional discriminative inference.</a:t>
            </a:r>
          </a:p>
          <a:p>
            <a:pPr lvl="1">
              <a:buFont typeface="Times New Roman" panose="02020603050405020304" pitchFamily="18" charset="0"/>
              <a:buChar char="→"/>
            </a:pPr>
            <a:r>
              <a:rPr lang="en-US" sz="1200" dirty="0"/>
              <a:t>Sequential decoding introduces repeated computation, accumulated latency, and substantial memory demand.</a:t>
            </a:r>
          </a:p>
          <a:p>
            <a:pPr lvl="1">
              <a:buFont typeface="Times New Roman" panose="02020603050405020304" pitchFamily="18" charset="0"/>
              <a:buChar char="→"/>
            </a:pPr>
            <a:endParaRPr lang="en-US" sz="500" b="1" dirty="0">
              <a:solidFill>
                <a:srgbClr val="FF0000"/>
              </a:solidFill>
            </a:endParaRPr>
          </a:p>
          <a:p>
            <a:pPr lvl="1">
              <a:buFont typeface="Times New Roman" panose="02020603050405020304" pitchFamily="18" charset="0"/>
              <a:buChar char="→"/>
            </a:pPr>
            <a:r>
              <a:rPr lang="en-US" sz="1200" dirty="0"/>
              <a:t>Purely local generation still faces difficult quality–latency–memory tradeoffs on edge devices.</a:t>
            </a:r>
          </a:p>
          <a:p>
            <a:pPr lvl="1">
              <a:buFont typeface="Times New Roman" panose="02020603050405020304" pitchFamily="18" charset="0"/>
              <a:buChar char="→"/>
            </a:pPr>
            <a:endParaRPr lang="en-US" sz="500" dirty="0"/>
          </a:p>
          <a:p>
            <a:pPr lvl="1">
              <a:buFont typeface="Times New Roman" panose="02020603050405020304" pitchFamily="18" charset="0"/>
              <a:buChar char="→"/>
            </a:pPr>
            <a:r>
              <a:rPr lang="en-US" sz="1200" dirty="0"/>
              <a:t>Fully cloud-based generation reduces local cost but adds communication delay, connectivity dependence, and server-side burden.</a:t>
            </a:r>
          </a:p>
          <a:p>
            <a:pPr marL="596900" lvl="1" indent="0">
              <a:buNone/>
            </a:pPr>
            <a:endParaRPr lang="en-US" sz="1200" dirty="0"/>
          </a:p>
          <a:p>
            <a:pPr lvl="1">
              <a:buFont typeface="Times New Roman" panose="02020603050405020304" pitchFamily="18" charset="0"/>
              <a:buChar char="→"/>
            </a:pPr>
            <a:endParaRPr lang="en-US" sz="1200" dirty="0"/>
          </a:p>
        </p:txBody>
      </p:sp>
      <p:sp>
        <p:nvSpPr>
          <p:cNvPr id="2" name="Slide Number Placeholder 1">
            <a:extLst>
              <a:ext uri="{FF2B5EF4-FFF2-40B4-BE49-F238E27FC236}">
                <a16:creationId xmlns:a16="http://schemas.microsoft.com/office/drawing/2014/main" id="{8FBB6EB0-BC58-115D-4F21-90A59EC290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1060733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5CEE5-D47E-7691-170F-ADDD3A893A5E}"/>
              </a:ext>
            </a:extLst>
          </p:cNvPr>
          <p:cNvSpPr>
            <a:spLocks noGrp="1"/>
          </p:cNvSpPr>
          <p:nvPr>
            <p:ph type="title"/>
          </p:nvPr>
        </p:nvSpPr>
        <p:spPr/>
        <p:txBody>
          <a:bodyPr/>
          <a:lstStyle/>
          <a:p>
            <a:r>
              <a:rPr lang="en-US" sz="2200" b="1" dirty="0">
                <a:solidFill>
                  <a:srgbClr val="C01F21"/>
                </a:solidFill>
              </a:rPr>
              <a:t>Cloud-Edge Collaborative Speculative Decoding Mechanism</a:t>
            </a:r>
          </a:p>
        </p:txBody>
      </p:sp>
      <p:pic>
        <p:nvPicPr>
          <p:cNvPr id="4" name="Picture 3">
            <a:extLst>
              <a:ext uri="{FF2B5EF4-FFF2-40B4-BE49-F238E27FC236}">
                <a16:creationId xmlns:a16="http://schemas.microsoft.com/office/drawing/2014/main" id="{D44A5A2C-2222-BECB-2636-0C721D111237}"/>
              </a:ext>
            </a:extLst>
          </p:cNvPr>
          <p:cNvPicPr>
            <a:picLocks noChangeAspect="1"/>
          </p:cNvPicPr>
          <p:nvPr/>
        </p:nvPicPr>
        <p:blipFill>
          <a:blip r:embed="rId3"/>
          <a:stretch>
            <a:fillRect/>
          </a:stretch>
        </p:blipFill>
        <p:spPr>
          <a:xfrm>
            <a:off x="198203" y="1091563"/>
            <a:ext cx="4462180" cy="1986717"/>
          </a:xfrm>
          <a:prstGeom prst="rect">
            <a:avLst/>
          </a:prstGeom>
        </p:spPr>
      </p:pic>
      <p:sp>
        <p:nvSpPr>
          <p:cNvPr id="6" name="Google Shape;62;p5">
            <a:extLst>
              <a:ext uri="{FF2B5EF4-FFF2-40B4-BE49-F238E27FC236}">
                <a16:creationId xmlns:a16="http://schemas.microsoft.com/office/drawing/2014/main" id="{191F9D0A-9F92-554D-C4AA-2C1BCA9AE41B}"/>
              </a:ext>
            </a:extLst>
          </p:cNvPr>
          <p:cNvSpPr txBox="1">
            <a:spLocks noGrp="1"/>
          </p:cNvSpPr>
          <p:nvPr>
            <p:ph type="body" idx="1"/>
          </p:nvPr>
        </p:nvSpPr>
        <p:spPr>
          <a:xfrm>
            <a:off x="4660383" y="1015126"/>
            <a:ext cx="4384226" cy="3119294"/>
          </a:xfrm>
          <a:prstGeom prst="rect">
            <a:avLst/>
          </a:prstGeom>
          <a:noFill/>
          <a:ln>
            <a:noFill/>
          </a:ln>
        </p:spPr>
        <p:txBody>
          <a:bodyPr spcFirstLastPara="1" wrap="square" lIns="91425" tIns="91425" rIns="91425" bIns="91425" anchor="t" anchorCtr="0">
            <a:noAutofit/>
          </a:bodyPr>
          <a:lstStyle/>
          <a:p>
            <a:r>
              <a:rPr lang="en-US" sz="1400" dirty="0">
                <a:solidFill>
                  <a:srgbClr val="C01F21"/>
                </a:solidFill>
              </a:rPr>
              <a:t>Edge Drafter</a:t>
            </a:r>
          </a:p>
          <a:p>
            <a:pPr lvl="1">
              <a:buFont typeface="Times New Roman" panose="02020603050405020304" pitchFamily="18" charset="0"/>
              <a:buChar char="→"/>
            </a:pPr>
            <a:r>
              <a:rPr lang="en-US" sz="1200" dirty="0"/>
              <a:t>Generate candidate tokens locally with a small language model.</a:t>
            </a:r>
          </a:p>
          <a:p>
            <a:pPr marL="571500" lvl="1" indent="0">
              <a:buSzPct val="117000"/>
              <a:buNone/>
            </a:pPr>
            <a:endParaRPr sz="1200" dirty="0"/>
          </a:p>
          <a:p>
            <a:pPr marL="457200" lvl="0" indent="-342900" algn="l" rtl="0">
              <a:lnSpc>
                <a:spcPct val="115000"/>
              </a:lnSpc>
              <a:spcBef>
                <a:spcPts val="0"/>
              </a:spcBef>
              <a:spcAft>
                <a:spcPts val="0"/>
              </a:spcAft>
              <a:buSzPts val="1800"/>
              <a:buChar char="●"/>
            </a:pPr>
            <a:r>
              <a:rPr lang="en-US" sz="1400" dirty="0">
                <a:solidFill>
                  <a:srgbClr val="C01F21"/>
                </a:solidFill>
              </a:rPr>
              <a:t>Remote Target Model</a:t>
            </a:r>
          </a:p>
          <a:p>
            <a:pPr lvl="1" indent="-342900">
              <a:buSzPct val="117000"/>
              <a:buFont typeface="Times New Roman" panose="02020603050405020304" pitchFamily="18" charset="0"/>
              <a:buChar char="→"/>
            </a:pPr>
            <a:r>
              <a:rPr lang="en-US" sz="1200" dirty="0">
                <a:solidFill>
                  <a:schemeClr val="tx2">
                    <a:lumMod val="10000"/>
                  </a:schemeClr>
                </a:solidFill>
              </a:rPr>
              <a:t>Invoked only when additional verification is needed.</a:t>
            </a:r>
          </a:p>
          <a:p>
            <a:pPr lvl="1" indent="-342900">
              <a:buSzPct val="117000"/>
              <a:buFont typeface="Times New Roman" panose="02020603050405020304" pitchFamily="18" charset="0"/>
              <a:buChar char="→"/>
            </a:pPr>
            <a:endParaRPr lang="en-US" sz="1200" dirty="0">
              <a:solidFill>
                <a:schemeClr val="tx2">
                  <a:lumMod val="10000"/>
                </a:schemeClr>
              </a:solidFill>
            </a:endParaRPr>
          </a:p>
          <a:p>
            <a:pPr lvl="0"/>
            <a:r>
              <a:rPr lang="en-US" sz="1400" dirty="0">
                <a:solidFill>
                  <a:srgbClr val="C01F21"/>
                </a:solidFill>
              </a:rPr>
              <a:t>Confidence-Hardness Gating</a:t>
            </a:r>
          </a:p>
          <a:p>
            <a:pPr lvl="1" indent="-342900">
              <a:buSzPct val="117000"/>
              <a:buFont typeface="Times New Roman" panose="02020603050405020304" pitchFamily="18" charset="0"/>
              <a:buChar char="→"/>
            </a:pPr>
            <a:r>
              <a:rPr lang="en-US" sz="1200" dirty="0"/>
              <a:t>Decide whether to accept locally or escalate for remote verification based on drafter’s confidence and token hardness.</a:t>
            </a:r>
          </a:p>
          <a:p>
            <a:pPr lvl="1" indent="-342900">
              <a:buSzPct val="117000"/>
              <a:buFont typeface="Times New Roman" panose="02020603050405020304" pitchFamily="18" charset="0"/>
              <a:buChar char="→"/>
            </a:pPr>
            <a:endParaRPr lang="en-US" sz="1200" dirty="0"/>
          </a:p>
          <a:p>
            <a:pPr marL="571500" lvl="1" indent="0">
              <a:buSzPct val="117000"/>
              <a:buNone/>
            </a:pPr>
            <a:endParaRPr lang="en-US" sz="1200" dirty="0">
              <a:solidFill>
                <a:schemeClr val="tx2">
                  <a:lumMod val="10000"/>
                </a:schemeClr>
              </a:solidFill>
            </a:endParaRPr>
          </a:p>
          <a:p>
            <a:pPr marL="571500" lvl="1" indent="0">
              <a:buSzPts val="1800"/>
              <a:buNone/>
            </a:pPr>
            <a:endParaRPr dirty="0">
              <a:solidFill>
                <a:schemeClr val="tx2">
                  <a:lumMod val="10000"/>
                </a:schemeClr>
              </a:solidFill>
            </a:endParaRPr>
          </a:p>
        </p:txBody>
      </p:sp>
      <p:sp>
        <p:nvSpPr>
          <p:cNvPr id="3" name="Slide Number Placeholder 2">
            <a:extLst>
              <a:ext uri="{FF2B5EF4-FFF2-40B4-BE49-F238E27FC236}">
                <a16:creationId xmlns:a16="http://schemas.microsoft.com/office/drawing/2014/main" id="{81F187E5-3D32-7DE1-8201-F33FE4552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9" name="TextBox 8">
            <a:extLst>
              <a:ext uri="{FF2B5EF4-FFF2-40B4-BE49-F238E27FC236}">
                <a16:creationId xmlns:a16="http://schemas.microsoft.com/office/drawing/2014/main" id="{B4F556A5-A51D-F934-8A11-FF6738BE152E}"/>
              </a:ext>
            </a:extLst>
          </p:cNvPr>
          <p:cNvSpPr txBox="1"/>
          <p:nvPr/>
        </p:nvSpPr>
        <p:spPr>
          <a:xfrm>
            <a:off x="187774" y="3149350"/>
            <a:ext cx="4103671" cy="707886"/>
          </a:xfrm>
          <a:prstGeom prst="rect">
            <a:avLst/>
          </a:prstGeom>
          <a:noFill/>
        </p:spPr>
        <p:txBody>
          <a:bodyPr wrap="square">
            <a:spAutoFit/>
          </a:bodyPr>
          <a:lstStyle/>
          <a:p>
            <a:pPr marL="285750" indent="-285750">
              <a:spcAft>
                <a:spcPts val="1200"/>
              </a:spcAft>
              <a:buFont typeface="System Font Regular"/>
              <a:buChar char="*"/>
            </a:pPr>
            <a:r>
              <a:rPr lang="en-US" sz="1000" dirty="0"/>
              <a:t>Confidence measures how certain the drafter appears to be.</a:t>
            </a:r>
          </a:p>
          <a:p>
            <a:pPr marL="285750" indent="-285750">
              <a:spcAft>
                <a:spcPts val="1200"/>
              </a:spcAft>
              <a:buFont typeface="System Font Regular"/>
              <a:buChar char="*"/>
            </a:pPr>
            <a:r>
              <a:rPr lang="en-US" sz="1000" dirty="0"/>
              <a:t>Hard tokens are tokens that are more likely to be </a:t>
            </a:r>
            <a:r>
              <a:rPr lang="en-US" sz="1000" dirty="0" err="1"/>
              <a:t>mispredicted</a:t>
            </a:r>
            <a:r>
              <a:rPr lang="en-US" sz="1000" dirty="0"/>
              <a:t> </a:t>
            </a:r>
            <a:r>
              <a:rPr lang="en-US" sz="1000" dirty="0" err="1"/>
              <a:t>w.r.t.</a:t>
            </a:r>
            <a:r>
              <a:rPr lang="en-US" sz="1000" dirty="0"/>
              <a:t> the target model. </a:t>
            </a:r>
          </a:p>
        </p:txBody>
      </p:sp>
    </p:spTree>
    <p:extLst>
      <p:ext uri="{BB962C8B-B14F-4D97-AF65-F5344CB8AC3E}">
        <p14:creationId xmlns:p14="http://schemas.microsoft.com/office/powerpoint/2010/main" val="3873386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0ACAA-9B46-E59C-FACC-9B5DC9DD43CA}"/>
              </a:ext>
            </a:extLst>
          </p:cNvPr>
          <p:cNvSpPr>
            <a:spLocks noGrp="1"/>
          </p:cNvSpPr>
          <p:nvPr>
            <p:ph type="title"/>
          </p:nvPr>
        </p:nvSpPr>
        <p:spPr/>
        <p:txBody>
          <a:bodyPr/>
          <a:lstStyle/>
          <a:p>
            <a:r>
              <a:rPr lang="en-US" sz="2200" b="1" dirty="0">
                <a:solidFill>
                  <a:srgbClr val="C01F21"/>
                </a:solidFill>
              </a:rPr>
              <a:t>Open Questions &amp; Goal</a:t>
            </a:r>
          </a:p>
        </p:txBody>
      </p:sp>
      <p:grpSp>
        <p:nvGrpSpPr>
          <p:cNvPr id="7" name="群組 53">
            <a:extLst>
              <a:ext uri="{FF2B5EF4-FFF2-40B4-BE49-F238E27FC236}">
                <a16:creationId xmlns:a16="http://schemas.microsoft.com/office/drawing/2014/main" id="{2853F97F-8AEE-D499-B3C0-CB2FD010ABEB}"/>
              </a:ext>
            </a:extLst>
          </p:cNvPr>
          <p:cNvGrpSpPr/>
          <p:nvPr/>
        </p:nvGrpSpPr>
        <p:grpSpPr>
          <a:xfrm>
            <a:off x="1023255" y="852753"/>
            <a:ext cx="7468213" cy="2325877"/>
            <a:chOff x="973739" y="2235078"/>
            <a:chExt cx="6194782" cy="2039511"/>
          </a:xfrm>
        </p:grpSpPr>
        <p:grpSp>
          <p:nvGrpSpPr>
            <p:cNvPr id="8" name="群組 36">
              <a:extLst>
                <a:ext uri="{FF2B5EF4-FFF2-40B4-BE49-F238E27FC236}">
                  <a16:creationId xmlns:a16="http://schemas.microsoft.com/office/drawing/2014/main" id="{AB5FCDE3-5B86-1A79-E502-4920CBB10E68}"/>
                </a:ext>
              </a:extLst>
            </p:cNvPr>
            <p:cNvGrpSpPr/>
            <p:nvPr/>
          </p:nvGrpSpPr>
          <p:grpSpPr>
            <a:xfrm>
              <a:off x="973739" y="2235078"/>
              <a:ext cx="6194782" cy="2039511"/>
              <a:chOff x="3371513" y="1310835"/>
              <a:chExt cx="6777569" cy="2039511"/>
            </a:xfrm>
          </p:grpSpPr>
          <p:sp>
            <p:nvSpPr>
              <p:cNvPr id="10" name="矩形: 圓角化同側角落 9">
                <a:extLst>
                  <a:ext uri="{FF2B5EF4-FFF2-40B4-BE49-F238E27FC236}">
                    <a16:creationId xmlns:a16="http://schemas.microsoft.com/office/drawing/2014/main" id="{F033744A-C3FA-86F7-5DEF-7CC4DBEBA654}"/>
                  </a:ext>
                </a:extLst>
              </p:cNvPr>
              <p:cNvSpPr/>
              <p:nvPr/>
            </p:nvSpPr>
            <p:spPr>
              <a:xfrm flipV="1">
                <a:off x="3371513" y="1708545"/>
                <a:ext cx="6777569" cy="1641801"/>
              </a:xfrm>
              <a:prstGeom prst="round2SameRect">
                <a:avLst>
                  <a:gd name="adj1" fmla="val 25130"/>
                  <a:gd name="adj2" fmla="val 0"/>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1" name="矩形: 圓角化同側角落 14">
                <a:extLst>
                  <a:ext uri="{FF2B5EF4-FFF2-40B4-BE49-F238E27FC236}">
                    <a16:creationId xmlns:a16="http://schemas.microsoft.com/office/drawing/2014/main" id="{2A14E700-7D68-75D5-6320-D9F5137FC11F}"/>
                  </a:ext>
                </a:extLst>
              </p:cNvPr>
              <p:cNvSpPr/>
              <p:nvPr/>
            </p:nvSpPr>
            <p:spPr>
              <a:xfrm>
                <a:off x="3371513" y="1310835"/>
                <a:ext cx="6777569" cy="397714"/>
              </a:xfrm>
              <a:prstGeom prst="round2SameRect">
                <a:avLst>
                  <a:gd name="adj1" fmla="val 25130"/>
                  <a:gd name="adj2" fmla="val 0"/>
                </a:avLst>
              </a:prstGeom>
              <a:solidFill>
                <a:schemeClr val="bg1">
                  <a:lumMod val="85000"/>
                </a:schemeClr>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dirty="0">
                  <a:solidFill>
                    <a:schemeClr val="tx1"/>
                  </a:solidFill>
                </a:endParaRPr>
              </a:p>
            </p:txBody>
          </p:sp>
          <p:sp>
            <p:nvSpPr>
              <p:cNvPr id="12" name="文字方塊 15">
                <a:extLst>
                  <a:ext uri="{FF2B5EF4-FFF2-40B4-BE49-F238E27FC236}">
                    <a16:creationId xmlns:a16="http://schemas.microsoft.com/office/drawing/2014/main" id="{0723AC94-EC53-94C4-0D79-0EED2AE1679D}"/>
                  </a:ext>
                </a:extLst>
              </p:cNvPr>
              <p:cNvSpPr txBox="1"/>
              <p:nvPr/>
            </p:nvSpPr>
            <p:spPr>
              <a:xfrm>
                <a:off x="4997754" y="1369995"/>
                <a:ext cx="3298792" cy="232215"/>
              </a:xfrm>
              <a:prstGeom prst="rect">
                <a:avLst/>
              </a:prstGeom>
              <a:noFill/>
              <a:ln>
                <a:noFill/>
              </a:ln>
            </p:spPr>
            <p:txBody>
              <a:bodyPr wrap="square">
                <a:spAutoFit/>
              </a:bodyPr>
              <a:lstStyle/>
              <a:p>
                <a:pPr algn="ctr"/>
                <a:r>
                  <a:rPr lang="en-US" altLang="zh-TW" b="1" dirty="0"/>
                  <a:t>Open Questions</a:t>
                </a:r>
              </a:p>
            </p:txBody>
          </p:sp>
        </p:grpSp>
        <p:sp>
          <p:nvSpPr>
            <p:cNvPr id="9" name="文字方塊 48">
              <a:extLst>
                <a:ext uri="{FF2B5EF4-FFF2-40B4-BE49-F238E27FC236}">
                  <a16:creationId xmlns:a16="http://schemas.microsoft.com/office/drawing/2014/main" id="{BA4FAE50-6805-75B7-78C1-CBBE0E6389A4}"/>
                </a:ext>
              </a:extLst>
            </p:cNvPr>
            <p:cNvSpPr txBox="1"/>
            <p:nvPr/>
          </p:nvSpPr>
          <p:spPr>
            <a:xfrm>
              <a:off x="1107234" y="2862213"/>
              <a:ext cx="6061287" cy="1106519"/>
            </a:xfrm>
            <a:prstGeom prst="rect">
              <a:avLst/>
            </a:prstGeom>
            <a:noFill/>
            <a:ln>
              <a:noFill/>
            </a:ln>
          </p:spPr>
          <p:txBody>
            <a:bodyPr wrap="square">
              <a:spAutoFit/>
            </a:bodyPr>
            <a:lstStyle/>
            <a:p>
              <a:pPr marL="285750" indent="-285750">
                <a:spcAft>
                  <a:spcPts val="1200"/>
                </a:spcAft>
                <a:buFont typeface="Wingdings" pitchFamily="2" charset="2"/>
                <a:buChar char="§"/>
              </a:pPr>
              <a:r>
                <a:rPr lang="en-US" dirty="0"/>
                <a:t>What signals best capture confidence and hardness during decoding?</a:t>
              </a:r>
            </a:p>
            <a:p>
              <a:pPr marL="285750" indent="-285750">
                <a:spcAft>
                  <a:spcPts val="1200"/>
                </a:spcAft>
                <a:buFont typeface="Wingdings" pitchFamily="2" charset="2"/>
                <a:buChar char="§"/>
              </a:pPr>
              <a:r>
                <a:rPr lang="en-US" dirty="0"/>
                <a:t>How should these signals be combined to decide when remote verification is needed?</a:t>
              </a:r>
            </a:p>
            <a:p>
              <a:pPr marL="285750" indent="-285750">
                <a:spcAft>
                  <a:spcPts val="1200"/>
                </a:spcAft>
                <a:buFont typeface="Wingdings" pitchFamily="2" charset="2"/>
                <a:buChar char="§"/>
              </a:pPr>
              <a:r>
                <a:rPr lang="en-US" dirty="0"/>
                <a:t>How much latency, communication overhead, and cloud cost can be reduced without hurting generation quality too much?</a:t>
              </a:r>
            </a:p>
          </p:txBody>
        </p:sp>
      </p:grpSp>
      <p:sp>
        <p:nvSpPr>
          <p:cNvPr id="13" name="TextBox 12">
            <a:extLst>
              <a:ext uri="{FF2B5EF4-FFF2-40B4-BE49-F238E27FC236}">
                <a16:creationId xmlns:a16="http://schemas.microsoft.com/office/drawing/2014/main" id="{69D08B97-494E-79EC-5AD5-3043118D8853}"/>
              </a:ext>
            </a:extLst>
          </p:cNvPr>
          <p:cNvSpPr txBox="1"/>
          <p:nvPr/>
        </p:nvSpPr>
        <p:spPr>
          <a:xfrm>
            <a:off x="268310" y="3440263"/>
            <a:ext cx="8728748" cy="523220"/>
          </a:xfrm>
          <a:prstGeom prst="rect">
            <a:avLst/>
          </a:prstGeom>
          <a:noFill/>
        </p:spPr>
        <p:txBody>
          <a:bodyPr wrap="square" rtlCol="0">
            <a:spAutoFit/>
          </a:bodyPr>
          <a:lstStyle/>
          <a:p>
            <a:r>
              <a:rPr lang="en-US" b="1" dirty="0">
                <a:solidFill>
                  <a:srgbClr val="C01F21"/>
                </a:solidFill>
              </a:rPr>
              <a:t>Goal: </a:t>
            </a:r>
            <a:r>
              <a:rPr lang="en-US" dirty="0">
                <a:solidFill>
                  <a:srgbClr val="C01F21"/>
                </a:solidFill>
              </a:rPr>
              <a:t>Enable finer-grained edge–cloud collaboration that reduces latency and cloud cost while maintaining competitive generation quality.  </a:t>
            </a:r>
          </a:p>
        </p:txBody>
      </p:sp>
      <p:sp>
        <p:nvSpPr>
          <p:cNvPr id="3" name="Slide Number Placeholder 2">
            <a:extLst>
              <a:ext uri="{FF2B5EF4-FFF2-40B4-BE49-F238E27FC236}">
                <a16:creationId xmlns:a16="http://schemas.microsoft.com/office/drawing/2014/main" id="{274465C4-C009-03F5-0F61-629B8EA67F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546841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EFC061C3-718D-DA84-0405-58E18A430411}"/>
            </a:ext>
          </a:extLst>
        </p:cNvPr>
        <p:cNvGrpSpPr/>
        <p:nvPr/>
      </p:nvGrpSpPr>
      <p:grpSpPr>
        <a:xfrm>
          <a:off x="0" y="0"/>
          <a:ext cx="0" cy="0"/>
          <a:chOff x="0" y="0"/>
          <a:chExt cx="0" cy="0"/>
        </a:xfrm>
      </p:grpSpPr>
      <p:sp>
        <p:nvSpPr>
          <p:cNvPr id="46" name="Google Shape;46;p3">
            <a:extLst>
              <a:ext uri="{FF2B5EF4-FFF2-40B4-BE49-F238E27FC236}">
                <a16:creationId xmlns:a16="http://schemas.microsoft.com/office/drawing/2014/main" id="{08ACA6BB-00F1-9484-2C8E-0475665BA891}"/>
              </a:ext>
            </a:extLst>
          </p:cNvPr>
          <p:cNvSpPr txBox="1">
            <a:spLocks noGrp="1"/>
          </p:cNvSpPr>
          <p:nvPr>
            <p:ph type="title"/>
          </p:nvPr>
        </p:nvSpPr>
        <p:spPr>
          <a:xfrm>
            <a:off x="249600" y="1982375"/>
            <a:ext cx="8582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200" b="1" dirty="0">
                <a:solidFill>
                  <a:srgbClr val="C01F21"/>
                </a:solidFill>
              </a:rPr>
              <a:t>Conclusion</a:t>
            </a:r>
            <a:endParaRPr sz="2200" b="1" dirty="0">
              <a:solidFill>
                <a:srgbClr val="C01F21"/>
              </a:solidFill>
            </a:endParaRPr>
          </a:p>
        </p:txBody>
      </p:sp>
      <p:sp>
        <p:nvSpPr>
          <p:cNvPr id="2" name="Slide Number Placeholder 1">
            <a:extLst>
              <a:ext uri="{FF2B5EF4-FFF2-40B4-BE49-F238E27FC236}">
                <a16:creationId xmlns:a16="http://schemas.microsoft.com/office/drawing/2014/main" id="{F209226A-0ECC-4C6A-AC67-7AF96F696D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834590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2A17E-B156-0AA8-EE2A-AB5E87C1F2F1}"/>
              </a:ext>
            </a:extLst>
          </p:cNvPr>
          <p:cNvSpPr>
            <a:spLocks noGrp="1"/>
          </p:cNvSpPr>
          <p:nvPr>
            <p:ph type="title"/>
          </p:nvPr>
        </p:nvSpPr>
        <p:spPr/>
        <p:txBody>
          <a:bodyPr/>
          <a:lstStyle/>
          <a:p>
            <a:r>
              <a:rPr lang="en-US" sz="2200" b="1" dirty="0">
                <a:solidFill>
                  <a:srgbClr val="C01F21"/>
                </a:solidFill>
              </a:rPr>
              <a:t>Dissertation Proposal Contributions</a:t>
            </a:r>
          </a:p>
        </p:txBody>
      </p:sp>
      <p:sp>
        <p:nvSpPr>
          <p:cNvPr id="4" name="TextBox 3">
            <a:extLst>
              <a:ext uri="{FF2B5EF4-FFF2-40B4-BE49-F238E27FC236}">
                <a16:creationId xmlns:a16="http://schemas.microsoft.com/office/drawing/2014/main" id="{43B89437-4092-F956-80B8-CDA3D5E5964C}"/>
              </a:ext>
            </a:extLst>
          </p:cNvPr>
          <p:cNvSpPr txBox="1"/>
          <p:nvPr/>
        </p:nvSpPr>
        <p:spPr>
          <a:xfrm>
            <a:off x="249600" y="1094422"/>
            <a:ext cx="8017328" cy="2954655"/>
          </a:xfrm>
          <a:prstGeom prst="rect">
            <a:avLst/>
          </a:prstGeom>
          <a:noFill/>
        </p:spPr>
        <p:txBody>
          <a:bodyPr wrap="square" rtlCol="0">
            <a:spAutoFit/>
          </a:bodyPr>
          <a:lstStyle/>
          <a:p>
            <a:pPr marL="285750" indent="-285750">
              <a:spcAft>
                <a:spcPts val="1800"/>
              </a:spcAft>
              <a:buFont typeface="Arial" panose="020B0604020202020204" pitchFamily="34" charset="0"/>
              <a:buChar char="•"/>
            </a:pPr>
            <a:r>
              <a:rPr lang="en-US" b="1" dirty="0">
                <a:solidFill>
                  <a:srgbClr val="C01F21"/>
                </a:solidFill>
              </a:rPr>
              <a:t>Overall Contribution:</a:t>
            </a:r>
            <a:r>
              <a:rPr lang="en-US" dirty="0"/>
              <a:t> Advancing practical ML for resource-constrained devices by jointly considering efficiency, privacy, utility, and deployment adaptation.</a:t>
            </a:r>
          </a:p>
          <a:p>
            <a:pPr marL="285750" indent="-285750">
              <a:spcAft>
                <a:spcPts val="1800"/>
              </a:spcAft>
              <a:buFont typeface="Arial" panose="020B0604020202020204" pitchFamily="34" charset="0"/>
              <a:buChar char="•"/>
            </a:pPr>
            <a:r>
              <a:rPr lang="en-US" b="1" dirty="0">
                <a:solidFill>
                  <a:srgbClr val="C01F21"/>
                </a:solidFill>
              </a:rPr>
              <a:t>Thrust I:</a:t>
            </a:r>
            <a:r>
              <a:rPr lang="en-US" dirty="0">
                <a:solidFill>
                  <a:srgbClr val="C01F21"/>
                </a:solidFill>
              </a:rPr>
              <a:t> </a:t>
            </a:r>
            <a:r>
              <a:rPr lang="en-US" dirty="0"/>
              <a:t>TODORA – Distributed execution under strict latency constraints with explicit consideration of coordination overhead.</a:t>
            </a:r>
          </a:p>
          <a:p>
            <a:pPr marL="285750" indent="-285750">
              <a:spcAft>
                <a:spcPts val="1800"/>
              </a:spcAft>
              <a:buFont typeface="Arial" panose="020B0604020202020204" pitchFamily="34" charset="0"/>
              <a:buChar char="•"/>
            </a:pPr>
            <a:r>
              <a:rPr lang="en-US" b="1" dirty="0">
                <a:solidFill>
                  <a:srgbClr val="C01F21"/>
                </a:solidFill>
              </a:rPr>
              <a:t>Thrust II:</a:t>
            </a:r>
            <a:r>
              <a:rPr lang="en-US" dirty="0">
                <a:solidFill>
                  <a:srgbClr val="C01F21"/>
                </a:solidFill>
              </a:rPr>
              <a:t> </a:t>
            </a:r>
            <a:r>
              <a:rPr lang="en-US" dirty="0"/>
              <a:t>LLPRI – Privacy-preserving distributed inference that jointly balances privacy, utility, and latency.</a:t>
            </a:r>
          </a:p>
          <a:p>
            <a:pPr marL="285750" indent="-285750">
              <a:spcAft>
                <a:spcPts val="1800"/>
              </a:spcAft>
              <a:buFont typeface="Arial" panose="020B0604020202020204" pitchFamily="34" charset="0"/>
              <a:buChar char="•"/>
            </a:pPr>
            <a:r>
              <a:rPr lang="en-US" b="1" dirty="0">
                <a:solidFill>
                  <a:srgbClr val="C01F21"/>
                </a:solidFill>
              </a:rPr>
              <a:t>Thrust III:</a:t>
            </a:r>
            <a:r>
              <a:rPr lang="en-US" dirty="0">
                <a:solidFill>
                  <a:srgbClr val="C01F21"/>
                </a:solidFill>
              </a:rPr>
              <a:t> </a:t>
            </a:r>
            <a:r>
              <a:rPr lang="en-US" dirty="0"/>
              <a:t>Cloud–edge collaborative model adaptation for local data shifts and dynamic device conditions.</a:t>
            </a:r>
          </a:p>
          <a:p>
            <a:endParaRPr lang="en-US" dirty="0"/>
          </a:p>
        </p:txBody>
      </p:sp>
      <p:sp>
        <p:nvSpPr>
          <p:cNvPr id="3" name="Slide Number Placeholder 2">
            <a:extLst>
              <a:ext uri="{FF2B5EF4-FFF2-40B4-BE49-F238E27FC236}">
                <a16:creationId xmlns:a16="http://schemas.microsoft.com/office/drawing/2014/main" id="{B2DB3B89-1140-C9AF-3F28-D45372C76F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831780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AC042D4-6A9F-AF72-2B42-2D17B2425BA1}"/>
            </a:ext>
          </a:extLst>
        </p:cNvPr>
        <p:cNvGrpSpPr/>
        <p:nvPr/>
      </p:nvGrpSpPr>
      <p:grpSpPr>
        <a:xfrm>
          <a:off x="0" y="0"/>
          <a:ext cx="0" cy="0"/>
          <a:chOff x="0" y="0"/>
          <a:chExt cx="0" cy="0"/>
        </a:xfrm>
      </p:grpSpPr>
      <p:sp>
        <p:nvSpPr>
          <p:cNvPr id="250" name="Google Shape;250;p22">
            <a:extLst>
              <a:ext uri="{FF2B5EF4-FFF2-40B4-BE49-F238E27FC236}">
                <a16:creationId xmlns:a16="http://schemas.microsoft.com/office/drawing/2014/main" id="{56F8099C-8090-D611-3EAE-0C5845BFEC19}"/>
              </a:ext>
            </a:extLst>
          </p:cNvPr>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200" b="1" dirty="0">
                <a:solidFill>
                  <a:srgbClr val="C01F21"/>
                </a:solidFill>
              </a:rPr>
              <a:t>Conclusion</a:t>
            </a:r>
            <a:endParaRPr sz="2200" b="1" dirty="0">
              <a:solidFill>
                <a:srgbClr val="C01F21"/>
              </a:solidFill>
            </a:endParaRPr>
          </a:p>
        </p:txBody>
      </p:sp>
      <p:sp>
        <p:nvSpPr>
          <p:cNvPr id="5" name="TextBox 4">
            <a:extLst>
              <a:ext uri="{FF2B5EF4-FFF2-40B4-BE49-F238E27FC236}">
                <a16:creationId xmlns:a16="http://schemas.microsoft.com/office/drawing/2014/main" id="{F9E8F406-9697-5130-C899-5EEFE9CE66B6}"/>
              </a:ext>
            </a:extLst>
          </p:cNvPr>
          <p:cNvSpPr txBox="1"/>
          <p:nvPr/>
        </p:nvSpPr>
        <p:spPr>
          <a:xfrm>
            <a:off x="280650" y="3532931"/>
            <a:ext cx="8582700" cy="584775"/>
          </a:xfrm>
          <a:prstGeom prst="rect">
            <a:avLst/>
          </a:prstGeom>
          <a:noFill/>
        </p:spPr>
        <p:txBody>
          <a:bodyPr wrap="square" rtlCol="0">
            <a:spAutoFit/>
          </a:bodyPr>
          <a:lstStyle/>
          <a:p>
            <a:pPr algn="ctr"/>
            <a:r>
              <a:rPr lang="en-US" sz="1600" b="1" dirty="0">
                <a:solidFill>
                  <a:srgbClr val="C01F21"/>
                </a:solidFill>
              </a:rPr>
              <a:t>Practical ML for resource-constrained devices requires jointly balancing utility, latency, and privacy under deployment-specific constraints.</a:t>
            </a:r>
            <a:endParaRPr lang="en-US" sz="1600" dirty="0">
              <a:solidFill>
                <a:srgbClr val="C01F21"/>
              </a:solidFill>
            </a:endParaRPr>
          </a:p>
        </p:txBody>
      </p:sp>
      <p:pic>
        <p:nvPicPr>
          <p:cNvPr id="7" name="Picture 6">
            <a:extLst>
              <a:ext uri="{FF2B5EF4-FFF2-40B4-BE49-F238E27FC236}">
                <a16:creationId xmlns:a16="http://schemas.microsoft.com/office/drawing/2014/main" id="{AD6DE1C3-725A-19AC-94AC-2101F738061A}"/>
              </a:ext>
            </a:extLst>
          </p:cNvPr>
          <p:cNvPicPr>
            <a:picLocks noChangeAspect="1"/>
          </p:cNvPicPr>
          <p:nvPr/>
        </p:nvPicPr>
        <p:blipFill>
          <a:blip r:embed="rId3"/>
          <a:stretch>
            <a:fillRect/>
          </a:stretch>
        </p:blipFill>
        <p:spPr>
          <a:xfrm>
            <a:off x="2990120" y="439925"/>
            <a:ext cx="3163760" cy="2984890"/>
          </a:xfrm>
          <a:prstGeom prst="rect">
            <a:avLst/>
          </a:prstGeom>
        </p:spPr>
      </p:pic>
      <p:sp>
        <p:nvSpPr>
          <p:cNvPr id="2" name="Slide Number Placeholder 1">
            <a:extLst>
              <a:ext uri="{FF2B5EF4-FFF2-40B4-BE49-F238E27FC236}">
                <a16:creationId xmlns:a16="http://schemas.microsoft.com/office/drawing/2014/main" id="{63DCE268-2871-6CCB-87C2-D73932A105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4038023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2" name="Google Shape;452;p47"/>
          <p:cNvSpPr txBox="1">
            <a:spLocks noGrp="1"/>
          </p:cNvSpPr>
          <p:nvPr>
            <p:ph type="title"/>
          </p:nvPr>
        </p:nvSpPr>
        <p:spPr>
          <a:xfrm>
            <a:off x="249600" y="1677575"/>
            <a:ext cx="8582700" cy="1220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2800"/>
              <a:buNone/>
            </a:pPr>
            <a:r>
              <a:rPr lang="en-US" sz="2200" b="1" dirty="0">
                <a:solidFill>
                  <a:srgbClr val="C01F21"/>
                </a:solidFill>
              </a:rPr>
              <a:t>Thank You!</a:t>
            </a:r>
            <a:endParaRPr sz="2200" b="1" dirty="0">
              <a:solidFill>
                <a:srgbClr val="C01F21"/>
              </a:solidFill>
            </a:endParaRPr>
          </a:p>
          <a:p>
            <a:pPr marL="0" lvl="0" indent="0" algn="ctr" rtl="0">
              <a:lnSpc>
                <a:spcPct val="115000"/>
              </a:lnSpc>
              <a:spcBef>
                <a:spcPts val="0"/>
              </a:spcBef>
              <a:spcAft>
                <a:spcPts val="0"/>
              </a:spcAft>
              <a:buSzPts val="2800"/>
              <a:buNone/>
            </a:pPr>
            <a:r>
              <a:rPr lang="en-US" sz="2200" b="1" dirty="0">
                <a:solidFill>
                  <a:srgbClr val="C01F21"/>
                </a:solidFill>
              </a:rPr>
              <a:t>Q&amp;A</a:t>
            </a:r>
            <a:endParaRPr sz="2200" b="1" dirty="0">
              <a:solidFill>
                <a:srgbClr val="C01F21"/>
              </a:solidFill>
            </a:endParaRPr>
          </a:p>
        </p:txBody>
      </p:sp>
      <p:sp>
        <p:nvSpPr>
          <p:cNvPr id="2" name="Slide Number Placeholder 1">
            <a:extLst>
              <a:ext uri="{FF2B5EF4-FFF2-40B4-BE49-F238E27FC236}">
                <a16:creationId xmlns:a16="http://schemas.microsoft.com/office/drawing/2014/main" id="{12D07BCF-C08F-5EB7-DD53-5735EA9F50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4A54F197-B594-0B55-5B5B-731D269E6D75}"/>
            </a:ext>
          </a:extLst>
        </p:cNvPr>
        <p:cNvGrpSpPr/>
        <p:nvPr/>
      </p:nvGrpSpPr>
      <p:grpSpPr>
        <a:xfrm>
          <a:off x="0" y="0"/>
          <a:ext cx="0" cy="0"/>
          <a:chOff x="0" y="0"/>
          <a:chExt cx="0" cy="0"/>
        </a:xfrm>
      </p:grpSpPr>
      <p:sp>
        <p:nvSpPr>
          <p:cNvPr id="452" name="Google Shape;452;p47">
            <a:extLst>
              <a:ext uri="{FF2B5EF4-FFF2-40B4-BE49-F238E27FC236}">
                <a16:creationId xmlns:a16="http://schemas.microsoft.com/office/drawing/2014/main" id="{8F6106E9-40B1-8B67-5180-7A6E7F275F4F}"/>
              </a:ext>
            </a:extLst>
          </p:cNvPr>
          <p:cNvSpPr txBox="1">
            <a:spLocks noGrp="1"/>
          </p:cNvSpPr>
          <p:nvPr>
            <p:ph type="title"/>
          </p:nvPr>
        </p:nvSpPr>
        <p:spPr>
          <a:xfrm>
            <a:off x="249600" y="1677575"/>
            <a:ext cx="8582700" cy="1220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2800"/>
              <a:buNone/>
            </a:pPr>
            <a:r>
              <a:rPr lang="en-US" sz="2200" b="1" dirty="0">
                <a:solidFill>
                  <a:srgbClr val="C01F21"/>
                </a:solidFill>
              </a:rPr>
              <a:t>Appendix</a:t>
            </a:r>
            <a:endParaRPr sz="2200" b="1" dirty="0">
              <a:solidFill>
                <a:srgbClr val="C01F21"/>
              </a:solidFill>
            </a:endParaRPr>
          </a:p>
        </p:txBody>
      </p:sp>
      <p:sp>
        <p:nvSpPr>
          <p:cNvPr id="2" name="Slide Number Placeholder 1">
            <a:extLst>
              <a:ext uri="{FF2B5EF4-FFF2-40B4-BE49-F238E27FC236}">
                <a16:creationId xmlns:a16="http://schemas.microsoft.com/office/drawing/2014/main" id="{8C81E3EE-8A72-4A7B-7705-4B7AF941DA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3795813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6F83A-F718-C18E-80B0-22EA419863C8}"/>
              </a:ext>
            </a:extLst>
          </p:cNvPr>
          <p:cNvSpPr>
            <a:spLocks noGrp="1"/>
          </p:cNvSpPr>
          <p:nvPr>
            <p:ph type="title"/>
          </p:nvPr>
        </p:nvSpPr>
        <p:spPr/>
        <p:txBody>
          <a:bodyPr/>
          <a:lstStyle/>
          <a:p>
            <a:r>
              <a:rPr lang="en-US" sz="2200" b="1" dirty="0">
                <a:solidFill>
                  <a:srgbClr val="C01F21"/>
                </a:solidFill>
              </a:rPr>
              <a:t>TODORA Objective and Delay Formulation</a:t>
            </a:r>
          </a:p>
        </p:txBody>
      </p:sp>
      <p:sp>
        <p:nvSpPr>
          <p:cNvPr id="3" name="Text Placeholder 2">
            <a:extLst>
              <a:ext uri="{FF2B5EF4-FFF2-40B4-BE49-F238E27FC236}">
                <a16:creationId xmlns:a16="http://schemas.microsoft.com/office/drawing/2014/main" id="{5424D623-A88C-7A58-F0F0-029F8DD9A393}"/>
              </a:ext>
            </a:extLst>
          </p:cNvPr>
          <p:cNvSpPr>
            <a:spLocks noGrp="1"/>
          </p:cNvSpPr>
          <p:nvPr>
            <p:ph type="body" idx="1"/>
          </p:nvPr>
        </p:nvSpPr>
        <p:spPr>
          <a:xfrm>
            <a:off x="249600" y="815200"/>
            <a:ext cx="4474800" cy="3502800"/>
          </a:xfrm>
        </p:spPr>
        <p:txBody>
          <a:bodyPr/>
          <a:lstStyle/>
          <a:p>
            <a:r>
              <a:rPr lang="en-US" sz="1600" dirty="0"/>
              <a:t>Optimize objective</a:t>
            </a:r>
          </a:p>
          <a:p>
            <a:endParaRPr lang="en-US" sz="3200" dirty="0"/>
          </a:p>
          <a:p>
            <a:r>
              <a:rPr lang="en-US" sz="1600" dirty="0"/>
              <a:t>Local Processing</a:t>
            </a:r>
          </a:p>
          <a:p>
            <a:endParaRPr lang="en-US" sz="3200" dirty="0"/>
          </a:p>
          <a:p>
            <a:r>
              <a:rPr lang="en-US" sz="1600" dirty="0"/>
              <a:t>Edge Processing</a:t>
            </a:r>
          </a:p>
          <a:p>
            <a:endParaRPr lang="en-US" sz="3200" dirty="0"/>
          </a:p>
          <a:p>
            <a:r>
              <a:rPr lang="en-US" sz="1600" dirty="0"/>
              <a:t>Cloud Processing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7441722-33E4-CFB5-0072-45F102A64FC9}"/>
                  </a:ext>
                </a:extLst>
              </p:cNvPr>
              <p:cNvSpPr txBox="1"/>
              <p:nvPr/>
            </p:nvSpPr>
            <p:spPr>
              <a:xfrm>
                <a:off x="869950" y="1206500"/>
                <a:ext cx="737766" cy="432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1000" i="1">
                              <a:latin typeface="Cambria Math" panose="02040503050406030204" pitchFamily="18" charset="0"/>
                            </a:rPr>
                          </m:ctrlPr>
                        </m:funcPr>
                        <m:fName>
                          <m:r>
                            <m:rPr>
                              <m:sty m:val="p"/>
                            </m:rPr>
                            <a:rPr lang="en-US" sz="1000">
                              <a:latin typeface="Cambria Math" panose="02040503050406030204" pitchFamily="18" charset="0"/>
                            </a:rPr>
                            <m:t>min</m:t>
                          </m:r>
                        </m:fName>
                        <m:e>
                          <m:f>
                            <m:fPr>
                              <m:ctrlPr>
                                <a:rPr lang="en-US" sz="1000" i="1">
                                  <a:latin typeface="Cambria Math" panose="02040503050406030204" pitchFamily="18" charset="0"/>
                                </a:rPr>
                              </m:ctrlPr>
                            </m:fPr>
                            <m:num>
                              <m:r>
                                <a:rPr lang="en-US" sz="1000" i="1">
                                  <a:latin typeface="Cambria Math" panose="02040503050406030204" pitchFamily="18" charset="0"/>
                                </a:rPr>
                                <m:t>1</m:t>
                              </m:r>
                            </m:num>
                            <m:den>
                              <m:r>
                                <a:rPr lang="en-US" sz="1000" i="1">
                                  <a:latin typeface="Cambria Math" panose="02040503050406030204" pitchFamily="18" charset="0"/>
                                </a:rPr>
                                <m:t>𝑁</m:t>
                              </m:r>
                            </m:den>
                          </m:f>
                          <m:nary>
                            <m:naryPr>
                              <m:chr m:val="∑"/>
                              <m:ctrlPr>
                                <a:rPr lang="en-US" sz="1000" i="1">
                                  <a:latin typeface="Cambria Math" panose="02040503050406030204" pitchFamily="18" charset="0"/>
                                </a:rPr>
                              </m:ctrlPr>
                            </m:naryPr>
                            <m:sub>
                              <m:r>
                                <m:rPr>
                                  <m:brk m:alnAt="23"/>
                                </m:rPr>
                                <a:rPr lang="en-US" sz="1000" i="1">
                                  <a:latin typeface="Cambria Math" panose="02040503050406030204" pitchFamily="18" charset="0"/>
                                </a:rPr>
                                <m:t>𝑛</m:t>
                              </m:r>
                              <m:r>
                                <a:rPr lang="en-US" sz="1000" i="1">
                                  <a:latin typeface="Cambria Math" panose="02040503050406030204" pitchFamily="18" charset="0"/>
                                </a:rPr>
                                <m:t>=1</m:t>
                              </m:r>
                            </m:sub>
                            <m:sup>
                              <m:r>
                                <a:rPr lang="en-US" sz="1000" i="1">
                                  <a:latin typeface="Cambria Math" panose="02040503050406030204" pitchFamily="18" charset="0"/>
                                </a:rPr>
                                <m:t>𝑁</m:t>
                              </m:r>
                            </m:sup>
                            <m:e>
                              <m:sSub>
                                <m:sSubPr>
                                  <m:ctrlPr>
                                    <a:rPr lang="en-US" sz="1000" i="1">
                                      <a:latin typeface="Cambria Math" panose="02040503050406030204" pitchFamily="18" charset="0"/>
                                    </a:rPr>
                                  </m:ctrlPr>
                                </m:sSubPr>
                                <m:e>
                                  <m:r>
                                    <a:rPr lang="en-US" sz="1000" i="1">
                                      <a:latin typeface="Cambria Math" panose="02040503050406030204" pitchFamily="18" charset="0"/>
                                    </a:rPr>
                                    <m:t>𝑑</m:t>
                                  </m:r>
                                </m:e>
                                <m:sub>
                                  <m:r>
                                    <a:rPr lang="en-US" sz="1000" i="1">
                                      <a:latin typeface="Cambria Math" panose="02040503050406030204" pitchFamily="18" charset="0"/>
                                    </a:rPr>
                                    <m:t>𝑛</m:t>
                                  </m:r>
                                </m:sub>
                              </m:sSub>
                            </m:e>
                          </m:nary>
                        </m:e>
                      </m:func>
                    </m:oMath>
                  </m:oMathPara>
                </a14:m>
                <a:endParaRPr lang="en-US" sz="1000" dirty="0"/>
              </a:p>
            </p:txBody>
          </p:sp>
        </mc:Choice>
        <mc:Fallback xmlns="">
          <p:sp>
            <p:nvSpPr>
              <p:cNvPr id="4" name="TextBox 3">
                <a:extLst>
                  <a:ext uri="{FF2B5EF4-FFF2-40B4-BE49-F238E27FC236}">
                    <a16:creationId xmlns:a16="http://schemas.microsoft.com/office/drawing/2014/main" id="{67441722-33E4-CFB5-0072-45F102A64FC9}"/>
                  </a:ext>
                </a:extLst>
              </p:cNvPr>
              <p:cNvSpPr txBox="1">
                <a:spLocks noRot="1" noChangeAspect="1" noMove="1" noResize="1" noEditPoints="1" noAdjustHandles="1" noChangeArrowheads="1" noChangeShapeType="1" noTextEdit="1"/>
              </p:cNvSpPr>
              <p:nvPr/>
            </p:nvSpPr>
            <p:spPr>
              <a:xfrm>
                <a:off x="869950" y="1206500"/>
                <a:ext cx="737766" cy="432747"/>
              </a:xfrm>
              <a:prstGeom prst="rect">
                <a:avLst/>
              </a:prstGeom>
              <a:blipFill>
                <a:blip r:embed="rId2"/>
                <a:stretch>
                  <a:fillRect l="-13559" t="-111429" r="-16949" b="-17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153744-3EE8-F68A-B217-0CA05428DD91}"/>
                  </a:ext>
                </a:extLst>
              </p:cNvPr>
              <p:cNvSpPr txBox="1"/>
              <p:nvPr/>
            </p:nvSpPr>
            <p:spPr>
              <a:xfrm>
                <a:off x="730250" y="2180005"/>
                <a:ext cx="1911484" cy="268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00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V</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request</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end</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a:rPr lang="en-US" sz="1000" b="0" i="1" smtClean="0">
                              <a:latin typeface="Cambria Math" panose="02040503050406030204" pitchFamily="18" charset="0"/>
                            </a:rPr>
                            <m:t>𝑠𝑡𝑎𝑟𝑡</m:t>
                          </m:r>
                        </m:sup>
                      </m:sSubSup>
                      <m:r>
                        <a:rPr lang="en-US" sz="1000" b="0" i="1" smtClean="0">
                          <a:latin typeface="Cambria Math" panose="02040503050406030204" pitchFamily="18" charset="0"/>
                        </a:rPr>
                        <m:t>)</m:t>
                      </m:r>
                    </m:oMath>
                  </m:oMathPara>
                </a14:m>
                <a:endParaRPr lang="en-US" sz="1000" dirty="0"/>
              </a:p>
            </p:txBody>
          </p:sp>
        </mc:Choice>
        <mc:Fallback xmlns="">
          <p:sp>
            <p:nvSpPr>
              <p:cNvPr id="5" name="TextBox 4">
                <a:extLst>
                  <a:ext uri="{FF2B5EF4-FFF2-40B4-BE49-F238E27FC236}">
                    <a16:creationId xmlns:a16="http://schemas.microsoft.com/office/drawing/2014/main" id="{4C153744-3EE8-F68A-B217-0CA05428DD91}"/>
                  </a:ext>
                </a:extLst>
              </p:cNvPr>
              <p:cNvSpPr txBox="1">
                <a:spLocks noRot="1" noChangeAspect="1" noMove="1" noResize="1" noEditPoints="1" noAdjustHandles="1" noChangeArrowheads="1" noChangeShapeType="1" noTextEdit="1"/>
              </p:cNvSpPr>
              <p:nvPr/>
            </p:nvSpPr>
            <p:spPr>
              <a:xfrm>
                <a:off x="730250" y="2180005"/>
                <a:ext cx="1911484" cy="26885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D2A756E-ABCE-FE8B-78C9-05FCB09D8B84}"/>
                  </a:ext>
                </a:extLst>
              </p:cNvPr>
              <p:cNvSpPr txBox="1"/>
              <p:nvPr/>
            </p:nvSpPr>
            <p:spPr>
              <a:xfrm>
                <a:off x="666750" y="3004052"/>
                <a:ext cx="3634328" cy="2859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00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R</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request</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w</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up</m:t>
                          </m:r>
                        </m:sup>
                      </m:sSubSup>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m:rPr>
                              <m:sty m:val="p"/>
                            </m:rPr>
                            <a:rPr lang="en-US" sz="1000" b="0" i="0" smtClean="0">
                              <a:latin typeface="Cambria Math" panose="02040503050406030204" pitchFamily="18" charset="0"/>
                            </a:rPr>
                            <m:t>RTT</m:t>
                          </m:r>
                        </m:e>
                        <m:sub>
                          <m:r>
                            <a:rPr lang="en-US" sz="1000" b="0" i="1" smtClean="0">
                              <a:latin typeface="Cambria Math" panose="02040503050406030204" pitchFamily="18" charset="0"/>
                            </a:rPr>
                            <m:t>𝑣</m:t>
                          </m:r>
                        </m:sub>
                      </m:sSub>
                      <m:r>
                        <a:rPr lang="en-US" sz="1000" b="0" i="1" smtClean="0">
                          <a:latin typeface="Cambria Math" panose="02040503050406030204" pitchFamily="18" charset="0"/>
                        </a:rPr>
                        <m:t>+</m:t>
                      </m:r>
                      <m:d>
                        <m:dPr>
                          <m:ctrlPr>
                            <a:rPr lang="en-US" sz="1000" b="0" i="1" smtClean="0">
                              <a:latin typeface="Cambria Math" panose="02040503050406030204" pitchFamily="18" charset="0"/>
                            </a:rPr>
                          </m:ctrlPr>
                        </m:dPr>
                        <m:e>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end</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a:rPr lang="en-US" sz="1000" b="0" i="1" smtClean="0">
                                  <a:latin typeface="Cambria Math" panose="02040503050406030204" pitchFamily="18" charset="0"/>
                                </a:rPr>
                                <m:t>𝑠𝑡𝑎𝑟𝑡</m:t>
                              </m:r>
                            </m:sup>
                          </m:sSubSup>
                        </m:e>
                      </m:d>
                      <m:r>
                        <a:rPr lang="en-US" sz="1000" b="0" i="1" smtClean="0">
                          <a:latin typeface="Cambria Math" panose="02040503050406030204" pitchFamily="18" charset="0"/>
                        </a:rPr>
                        <m:t>+</m:t>
                      </m:r>
                      <m:sSubSup>
                        <m:sSubSupPr>
                          <m:ctrlPr>
                            <a:rPr lang="en-US" sz="1000" i="1">
                              <a:latin typeface="Cambria Math" panose="02040503050406030204" pitchFamily="18" charset="0"/>
                            </a:rPr>
                          </m:ctrlPr>
                        </m:sSubSupPr>
                        <m:e>
                          <m:r>
                            <a:rPr lang="en-US" sz="1000" i="1">
                              <a:latin typeface="Cambria Math" panose="02040503050406030204" pitchFamily="18" charset="0"/>
                            </a:rPr>
                            <m:t>𝑑</m:t>
                          </m:r>
                        </m:e>
                        <m:sub>
                          <m:r>
                            <a:rPr lang="en-US" sz="1000" i="1">
                              <a:latin typeface="Cambria Math" panose="02040503050406030204" pitchFamily="18" charset="0"/>
                            </a:rPr>
                            <m:t>𝑛</m:t>
                          </m:r>
                        </m:sub>
                        <m:sup>
                          <m:r>
                            <m:rPr>
                              <m:sty m:val="p"/>
                            </m:rPr>
                            <a:rPr lang="en-US" sz="1000" b="0" i="0" smtClean="0">
                              <a:latin typeface="Cambria Math" panose="02040503050406030204" pitchFamily="18" charset="0"/>
                            </a:rPr>
                            <m:t>down</m:t>
                          </m:r>
                        </m:sup>
                      </m:sSubSup>
                    </m:oMath>
                  </m:oMathPara>
                </a14:m>
                <a:endParaRPr lang="en-US" sz="1000" dirty="0"/>
              </a:p>
            </p:txBody>
          </p:sp>
        </mc:Choice>
        <mc:Fallback xmlns="">
          <p:sp>
            <p:nvSpPr>
              <p:cNvPr id="6" name="TextBox 5">
                <a:extLst>
                  <a:ext uri="{FF2B5EF4-FFF2-40B4-BE49-F238E27FC236}">
                    <a16:creationId xmlns:a16="http://schemas.microsoft.com/office/drawing/2014/main" id="{6D2A756E-ABCE-FE8B-78C9-05FCB09D8B84}"/>
                  </a:ext>
                </a:extLst>
              </p:cNvPr>
              <p:cNvSpPr txBox="1">
                <a:spLocks noRot="1" noChangeAspect="1" noMove="1" noResize="1" noEditPoints="1" noAdjustHandles="1" noChangeArrowheads="1" noChangeShapeType="1" noTextEdit="1"/>
              </p:cNvSpPr>
              <p:nvPr/>
            </p:nvSpPr>
            <p:spPr>
              <a:xfrm>
                <a:off x="666750" y="3004052"/>
                <a:ext cx="3634328" cy="2859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A666882-3B6F-3ED1-869C-0932B428C17A}"/>
                  </a:ext>
                </a:extLst>
              </p:cNvPr>
              <p:cNvSpPr txBox="1"/>
              <p:nvPr/>
            </p:nvSpPr>
            <p:spPr>
              <a:xfrm>
                <a:off x="666802" y="3845155"/>
                <a:ext cx="4003339" cy="2767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00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C</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request</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w</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𝑑</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up</m:t>
                          </m:r>
                        </m:sup>
                      </m:sSubSup>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m:rPr>
                              <m:sty m:val="p"/>
                            </m:rPr>
                            <a:rPr lang="en-US" sz="1000" b="0" i="0" smtClean="0">
                              <a:latin typeface="Cambria Math" panose="02040503050406030204" pitchFamily="18" charset="0"/>
                            </a:rPr>
                            <m:t>RTT</m:t>
                          </m:r>
                        </m:e>
                        <m:sub>
                          <m:r>
                            <a:rPr lang="en-US" sz="1000" b="0" i="1" smtClean="0">
                              <a:latin typeface="Cambria Math" panose="02040503050406030204" pitchFamily="18" charset="0"/>
                            </a:rPr>
                            <m:t>𝑣</m:t>
                          </m:r>
                        </m:sub>
                      </m:sSub>
                      <m:r>
                        <a:rPr lang="en-US" sz="1000" b="0" i="1" smtClean="0">
                          <a:latin typeface="Cambria Math" panose="02040503050406030204" pitchFamily="18" charset="0"/>
                        </a:rPr>
                        <m:t>+</m:t>
                      </m:r>
                      <m:sSub>
                        <m:sSubPr>
                          <m:ctrlPr>
                            <a:rPr lang="en-US" sz="1000" i="1">
                              <a:latin typeface="Cambria Math" panose="02040503050406030204" pitchFamily="18" charset="0"/>
                            </a:rPr>
                          </m:ctrlPr>
                        </m:sSubPr>
                        <m:e>
                          <m:r>
                            <m:rPr>
                              <m:sty m:val="p"/>
                            </m:rPr>
                            <a:rPr lang="en-US" sz="1000">
                              <a:latin typeface="Cambria Math" panose="02040503050406030204" pitchFamily="18" charset="0"/>
                            </a:rPr>
                            <m:t>RTT</m:t>
                          </m:r>
                        </m:e>
                        <m:sub>
                          <m:r>
                            <a:rPr lang="en-US" sz="1000" b="0" i="1" smtClean="0">
                              <a:latin typeface="Cambria Math" panose="02040503050406030204" pitchFamily="18" charset="0"/>
                            </a:rPr>
                            <m:t>𝑐</m:t>
                          </m:r>
                        </m:sub>
                      </m:sSub>
                      <m:r>
                        <a:rPr lang="en-US" sz="1000" b="0" i="1" smtClean="0">
                          <a:latin typeface="Cambria Math" panose="02040503050406030204" pitchFamily="18" charset="0"/>
                        </a:rPr>
                        <m:t>+</m:t>
                      </m:r>
                      <m:d>
                        <m:dPr>
                          <m:ctrlPr>
                            <a:rPr lang="en-US" sz="1000" b="0" i="1" smtClean="0">
                              <a:latin typeface="Cambria Math" panose="02040503050406030204" pitchFamily="18" charset="0"/>
                            </a:rPr>
                          </m:ctrlPr>
                        </m:dPr>
                        <m:e>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m:rPr>
                                  <m:sty m:val="p"/>
                                </m:rPr>
                                <a:rPr lang="en-US" sz="1000" b="0" i="0" smtClean="0">
                                  <a:latin typeface="Cambria Math" panose="02040503050406030204" pitchFamily="18" charset="0"/>
                                </a:rPr>
                                <m:t>end</m:t>
                              </m:r>
                            </m:sup>
                          </m:sSubSup>
                          <m:r>
                            <a:rPr lang="en-US" sz="1000" b="0" i="1" smtClean="0">
                              <a:latin typeface="Cambria Math" panose="02040503050406030204" pitchFamily="18" charset="0"/>
                            </a:rPr>
                            <m:t>−</m:t>
                          </m:r>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𝑡</m:t>
                              </m:r>
                            </m:e>
                            <m:sub>
                              <m:r>
                                <a:rPr lang="en-US" sz="1000" b="0" i="1" smtClean="0">
                                  <a:latin typeface="Cambria Math" panose="02040503050406030204" pitchFamily="18" charset="0"/>
                                </a:rPr>
                                <m:t>𝑛</m:t>
                              </m:r>
                            </m:sub>
                            <m:sup>
                              <m:r>
                                <a:rPr lang="en-US" sz="1000" b="0" i="1" smtClean="0">
                                  <a:latin typeface="Cambria Math" panose="02040503050406030204" pitchFamily="18" charset="0"/>
                                </a:rPr>
                                <m:t>𝑠𝑡𝑎𝑟𝑡</m:t>
                              </m:r>
                            </m:sup>
                          </m:sSubSup>
                        </m:e>
                      </m:d>
                      <m:r>
                        <a:rPr lang="en-US" sz="1000" b="0" i="1" smtClean="0">
                          <a:latin typeface="Cambria Math" panose="02040503050406030204" pitchFamily="18" charset="0"/>
                        </a:rPr>
                        <m:t>+</m:t>
                      </m:r>
                      <m:sSubSup>
                        <m:sSubSupPr>
                          <m:ctrlPr>
                            <a:rPr lang="en-US" sz="1000" i="1">
                              <a:latin typeface="Cambria Math" panose="02040503050406030204" pitchFamily="18" charset="0"/>
                            </a:rPr>
                          </m:ctrlPr>
                        </m:sSubSupPr>
                        <m:e>
                          <m:r>
                            <a:rPr lang="en-US" sz="1000" i="1">
                              <a:latin typeface="Cambria Math" panose="02040503050406030204" pitchFamily="18" charset="0"/>
                            </a:rPr>
                            <m:t>𝑑</m:t>
                          </m:r>
                        </m:e>
                        <m:sub>
                          <m:r>
                            <a:rPr lang="en-US" sz="1000" i="1">
                              <a:latin typeface="Cambria Math" panose="02040503050406030204" pitchFamily="18" charset="0"/>
                            </a:rPr>
                            <m:t>𝑛</m:t>
                          </m:r>
                        </m:sub>
                        <m:sup>
                          <m:r>
                            <m:rPr>
                              <m:sty m:val="p"/>
                            </m:rPr>
                            <a:rPr lang="en-US" sz="1000" b="0" i="0" smtClean="0">
                              <a:latin typeface="Cambria Math" panose="02040503050406030204" pitchFamily="18" charset="0"/>
                            </a:rPr>
                            <m:t>down</m:t>
                          </m:r>
                        </m:sup>
                      </m:sSubSup>
                    </m:oMath>
                  </m:oMathPara>
                </a14:m>
                <a:endParaRPr lang="en-US" sz="1000" dirty="0"/>
              </a:p>
            </p:txBody>
          </p:sp>
        </mc:Choice>
        <mc:Fallback xmlns="">
          <p:sp>
            <p:nvSpPr>
              <p:cNvPr id="7" name="TextBox 6">
                <a:extLst>
                  <a:ext uri="{FF2B5EF4-FFF2-40B4-BE49-F238E27FC236}">
                    <a16:creationId xmlns:a16="http://schemas.microsoft.com/office/drawing/2014/main" id="{1A666882-3B6F-3ED1-869C-0932B428C17A}"/>
                  </a:ext>
                </a:extLst>
              </p:cNvPr>
              <p:cNvSpPr txBox="1">
                <a:spLocks noRot="1" noChangeAspect="1" noMove="1" noResize="1" noEditPoints="1" noAdjustHandles="1" noChangeArrowheads="1" noChangeShapeType="1" noTextEdit="1"/>
              </p:cNvSpPr>
              <p:nvPr/>
            </p:nvSpPr>
            <p:spPr>
              <a:xfrm>
                <a:off x="666802" y="3845155"/>
                <a:ext cx="4003339" cy="27674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B5D88671-5C02-8970-AF12-9E63C1A30543}"/>
              </a:ext>
            </a:extLst>
          </p:cNvPr>
          <p:cNvPicPr>
            <a:picLocks noChangeAspect="1"/>
          </p:cNvPicPr>
          <p:nvPr/>
        </p:nvPicPr>
        <p:blipFill>
          <a:blip r:embed="rId6"/>
          <a:stretch>
            <a:fillRect/>
          </a:stretch>
        </p:blipFill>
        <p:spPr>
          <a:xfrm>
            <a:off x="6331128" y="2886826"/>
            <a:ext cx="2730322" cy="1431174"/>
          </a:xfrm>
          <a:prstGeom prst="rect">
            <a:avLst/>
          </a:prstGeom>
        </p:spPr>
      </p:pic>
      <p:sp>
        <p:nvSpPr>
          <p:cNvPr id="8" name="Slide Number Placeholder 7">
            <a:extLst>
              <a:ext uri="{FF2B5EF4-FFF2-40B4-BE49-F238E27FC236}">
                <a16:creationId xmlns:a16="http://schemas.microsoft.com/office/drawing/2014/main" id="{063DE147-8C99-E747-DC44-26FDA52CF7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
        <p:nvSpPr>
          <p:cNvPr id="9" name="TextBox 8">
            <a:extLst>
              <a:ext uri="{FF2B5EF4-FFF2-40B4-BE49-F238E27FC236}">
                <a16:creationId xmlns:a16="http://schemas.microsoft.com/office/drawing/2014/main" id="{9F2FB3CD-3DFB-5DAD-6782-1C89DE7C7F98}"/>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35345558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5579-414D-4AE3-1591-EA9E3860F0AA}"/>
              </a:ext>
            </a:extLst>
          </p:cNvPr>
          <p:cNvSpPr>
            <a:spLocks noGrp="1"/>
          </p:cNvSpPr>
          <p:nvPr>
            <p:ph type="title"/>
          </p:nvPr>
        </p:nvSpPr>
        <p:spPr/>
        <p:txBody>
          <a:bodyPr/>
          <a:lstStyle/>
          <a:p>
            <a:r>
              <a:rPr lang="en-US" sz="2200" b="1" dirty="0">
                <a:solidFill>
                  <a:srgbClr val="C01F21"/>
                </a:solidFill>
              </a:rPr>
              <a:t>TODORA Priority Function and Decision Rules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9C98000-A66E-7200-6B4D-9531DAA471D3}"/>
                  </a:ext>
                </a:extLst>
              </p:cNvPr>
              <p:cNvSpPr>
                <a:spLocks noGrp="1"/>
              </p:cNvSpPr>
              <p:nvPr>
                <p:ph type="body" idx="1"/>
              </p:nvPr>
            </p:nvSpPr>
            <p:spPr>
              <a:xfrm>
                <a:off x="84500" y="815200"/>
                <a:ext cx="8582700" cy="3416400"/>
              </a:xfrm>
            </p:spPr>
            <p:txBody>
              <a:bodyPr/>
              <a:lstStyle/>
              <a:p>
                <a:r>
                  <a:rPr lang="en-US" sz="1600" dirty="0"/>
                  <a:t>Priority weight (</a:t>
                </a:r>
                <a14:m>
                  <m:oMath xmlns:m="http://schemas.openxmlformats.org/officeDocument/2006/math">
                    <m:r>
                      <a:rPr lang="en-US" sz="1200" b="0" i="1" smtClean="0">
                        <a:latin typeface="Cambria Math" panose="02040503050406030204" pitchFamily="18" charset="0"/>
                      </a:rPr>
                      <m:t>1/</m:t>
                    </m:r>
                    <m:rad>
                      <m:radPr>
                        <m:degHide m:val="on"/>
                        <m:ctrlPr>
                          <a:rPr lang="en-US" sz="1200" i="1">
                            <a:latin typeface="Cambria Math" panose="02040503050406030204" pitchFamily="18" charset="0"/>
                          </a:rPr>
                        </m:ctrlPr>
                      </m:radPr>
                      <m:deg/>
                      <m:e>
                        <m:sSubSup>
                          <m:sSubSupPr>
                            <m:ctrlPr>
                              <a:rPr lang="en-US" sz="1200" i="1">
                                <a:latin typeface="Cambria Math" panose="02040503050406030204" pitchFamily="18" charset="0"/>
                              </a:rPr>
                            </m:ctrlPr>
                          </m:sSubSupPr>
                          <m:e>
                            <m:r>
                              <a:rPr lang="en-US" sz="1200" i="1">
                                <a:latin typeface="Cambria Math" panose="02040503050406030204" pitchFamily="18" charset="0"/>
                              </a:rPr>
                              <m:t>𝑑</m:t>
                            </m:r>
                          </m:e>
                          <m:sub>
                            <m:r>
                              <a:rPr lang="en-US" sz="1200" i="1">
                                <a:latin typeface="Cambria Math" panose="02040503050406030204" pitchFamily="18" charset="0"/>
                              </a:rPr>
                              <m:t>𝑛</m:t>
                            </m:r>
                          </m:sub>
                          <m:sup>
                            <m:r>
                              <m:rPr>
                                <m:sty m:val="p"/>
                              </m:rPr>
                              <a:rPr lang="en-US" sz="1200">
                                <a:latin typeface="Cambria Math" panose="02040503050406030204" pitchFamily="18" charset="0"/>
                              </a:rPr>
                              <m:t>max</m:t>
                            </m:r>
                          </m:sup>
                        </m:sSubSup>
                        <m:sSub>
                          <m:sSubPr>
                            <m:ctrlPr>
                              <a:rPr lang="en-US" sz="1200" i="1">
                                <a:latin typeface="Cambria Math" panose="02040503050406030204" pitchFamily="18" charset="0"/>
                              </a:rPr>
                            </m:ctrlPr>
                          </m:sSubPr>
                          <m:e>
                            <m:r>
                              <a:rPr lang="en-US" sz="1200" i="1">
                                <a:latin typeface="Cambria Math" panose="02040503050406030204" pitchFamily="18" charset="0"/>
                              </a:rPr>
                              <m:t>𝐹</m:t>
                            </m:r>
                          </m:e>
                          <m:sub>
                            <m:r>
                              <a:rPr lang="en-US" sz="1200" i="1">
                                <a:latin typeface="Cambria Math" panose="02040503050406030204" pitchFamily="18" charset="0"/>
                              </a:rPr>
                              <m:t>𝑛</m:t>
                            </m:r>
                          </m:sub>
                        </m:sSub>
                      </m:e>
                    </m:rad>
                  </m:oMath>
                </a14:m>
                <a:r>
                  <a:rPr lang="en-US" sz="1600" dirty="0"/>
                  <a:t>)</a:t>
                </a:r>
              </a:p>
              <a:p>
                <a:pPr lvl="1">
                  <a:buFont typeface="Times New Roman" panose="02020603050405020304" pitchFamily="18" charset="0"/>
                  <a:buChar char="→"/>
                </a:pPr>
                <a:r>
                  <a:rPr lang="en-US" sz="1200" dirty="0"/>
                  <a:t>EDF–SJF-inspired: combines deadline urgency and task size for airtime prioritization, compute sharing, and delay estimation.</a:t>
                </a:r>
              </a:p>
              <a:p>
                <a:pPr lvl="1">
                  <a:buFont typeface="Times New Roman" panose="02020603050405020304" pitchFamily="18" charset="0"/>
                  <a:buChar char="→"/>
                </a:pPr>
                <a:r>
                  <a:rPr lang="en-US" sz="1200" dirty="0"/>
                  <a:t>Why square root?</a:t>
                </a:r>
              </a:p>
              <a:p>
                <a:pPr lvl="2">
                  <a:buFont typeface="Wingdings" pitchFamily="2" charset="2"/>
                  <a:buChar char="§"/>
                </a:pPr>
                <a:r>
                  <a:rPr lang="en-US" sz="1200" dirty="0"/>
                  <a:t>Pure reciprocal function over-penalizes large or less urgent tasks.</a:t>
                </a:r>
              </a:p>
              <a:p>
                <a:pPr lvl="2">
                  <a:buFont typeface="Wingdings" pitchFamily="2" charset="2"/>
                  <a:buChar char="§"/>
                </a:pPr>
                <a:r>
                  <a:rPr lang="en-US" sz="1200" dirty="0"/>
                  <a:t>Negative exponential function weakens task differentiation.</a:t>
                </a:r>
              </a:p>
              <a:p>
                <a:pPr lvl="2">
                  <a:buFont typeface="Wingdings" pitchFamily="2" charset="2"/>
                  <a:buChar char="§"/>
                </a:pPr>
                <a:r>
                  <a:rPr lang="en-US" sz="1200" dirty="0"/>
                  <a:t>Square root provides a better balance between moderation and discrimination.</a:t>
                </a:r>
              </a:p>
              <a:p>
                <a:pPr lvl="2">
                  <a:buFont typeface="Wingdings" pitchFamily="2" charset="2"/>
                  <a:buChar char="§"/>
                </a:pPr>
                <a:endParaRPr lang="en-US" sz="500" dirty="0"/>
              </a:p>
              <a:p>
                <a:r>
                  <a:rPr lang="en-US" sz="1600" dirty="0"/>
                  <a:t>Local-first rule</a:t>
                </a:r>
              </a:p>
              <a:p>
                <a:pPr lvl="1">
                  <a:buFont typeface="Times New Roman" panose="02020603050405020304" pitchFamily="18" charset="0"/>
                  <a:buChar char="→"/>
                </a:pPr>
                <a:r>
                  <a:rPr lang="en-US" sz="1200" dirty="0"/>
                  <a:t>If </a:t>
                </a:r>
                <a14:m>
                  <m:oMath xmlns:m="http://schemas.openxmlformats.org/officeDocument/2006/math">
                    <m:sSubSup>
                      <m:sSubSupPr>
                        <m:ctrlPr>
                          <a:rPr lang="en-US" sz="1200" i="1" smtClean="0">
                            <a:latin typeface="Cambria Math" panose="02040503050406030204" pitchFamily="18" charset="0"/>
                          </a:rPr>
                        </m:ctrlPr>
                      </m:sSubSupPr>
                      <m:e>
                        <m:r>
                          <a:rPr lang="en-US" sz="1200" b="0" i="1" smtClean="0">
                            <a:latin typeface="Cambria Math" panose="02040503050406030204" pitchFamily="18" charset="0"/>
                          </a:rPr>
                          <m:t>𝑑</m:t>
                        </m:r>
                      </m:e>
                      <m:sub>
                        <m:r>
                          <a:rPr lang="en-US" sz="1200" b="0" i="1" smtClean="0">
                            <a:latin typeface="Cambria Math" panose="02040503050406030204" pitchFamily="18" charset="0"/>
                          </a:rPr>
                          <m:t>𝑛</m:t>
                        </m:r>
                      </m:sub>
                      <m:sup>
                        <m:r>
                          <m:rPr>
                            <m:sty m:val="p"/>
                          </m:rPr>
                          <a:rPr lang="en-US" sz="1200" b="0" i="0" smtClean="0">
                            <a:latin typeface="Cambria Math" panose="02040503050406030204" pitchFamily="18" charset="0"/>
                          </a:rPr>
                          <m:t>V</m:t>
                        </m:r>
                        <m:r>
                          <a:rPr lang="en-US" sz="1200" b="0" i="0" smtClean="0">
                            <a:latin typeface="Cambria Math" panose="02040503050406030204" pitchFamily="18" charset="0"/>
                          </a:rPr>
                          <m:t>,</m:t>
                        </m:r>
                        <m:r>
                          <m:rPr>
                            <m:sty m:val="p"/>
                          </m:rPr>
                          <a:rPr lang="en-US" sz="1200" b="0" i="0" smtClean="0">
                            <a:latin typeface="Cambria Math" panose="02040503050406030204" pitchFamily="18" charset="0"/>
                          </a:rPr>
                          <m:t>est</m:t>
                        </m:r>
                      </m:sup>
                    </m:sSubSup>
                    <m:r>
                      <a:rPr lang="en-US" sz="1200" b="0" i="1" smtClean="0">
                        <a:latin typeface="Cambria Math" panose="02040503050406030204" pitchFamily="18" charset="0"/>
                      </a:rPr>
                      <m:t>&lt;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𝑑</m:t>
                        </m:r>
                      </m:e>
                      <m:sub>
                        <m:r>
                          <a:rPr lang="en-US" sz="1200" b="0" i="1" smtClean="0">
                            <a:latin typeface="Cambria Math" panose="02040503050406030204" pitchFamily="18" charset="0"/>
                          </a:rPr>
                          <m:t>𝑛</m:t>
                        </m:r>
                      </m:sub>
                      <m:sup>
                        <m:r>
                          <m:rPr>
                            <m:sty m:val="p"/>
                          </m:rPr>
                          <a:rPr lang="en-US" sz="1200" b="0" i="0" smtClean="0">
                            <a:latin typeface="Cambria Math" panose="02040503050406030204" pitchFamily="18" charset="0"/>
                          </a:rPr>
                          <m:t>max</m:t>
                        </m:r>
                      </m:sup>
                    </m:sSubSup>
                  </m:oMath>
                </a14:m>
                <a:r>
                  <a:rPr lang="en-US" sz="1200" dirty="0"/>
                  <a:t> and </a:t>
                </a:r>
                <a14:m>
                  <m:oMath xmlns:m="http://schemas.openxmlformats.org/officeDocument/2006/math">
                    <m:sSubSup>
                      <m:sSubSupPr>
                        <m:ctrlPr>
                          <a:rPr lang="en-US" sz="1200" i="1" smtClean="0">
                            <a:latin typeface="Cambria Math" panose="02040503050406030204" pitchFamily="18" charset="0"/>
                          </a:rPr>
                        </m:ctrlPr>
                      </m:sSubSupPr>
                      <m:e>
                        <m:r>
                          <a:rPr lang="en-US" sz="1200" b="0" i="1" smtClean="0">
                            <a:latin typeface="Cambria Math" panose="02040503050406030204" pitchFamily="18" charset="0"/>
                          </a:rPr>
                          <m:t>𝑑</m:t>
                        </m:r>
                      </m:e>
                      <m:sub>
                        <m:r>
                          <a:rPr lang="en-US" sz="1200" b="0" i="1" smtClean="0">
                            <a:latin typeface="Cambria Math" panose="02040503050406030204" pitchFamily="18" charset="0"/>
                          </a:rPr>
                          <m:t>𝑛</m:t>
                        </m:r>
                      </m:sub>
                      <m:sup>
                        <m:r>
                          <m:rPr>
                            <m:sty m:val="p"/>
                          </m:rPr>
                          <a:rPr lang="en-US" sz="1200" b="0" i="0" smtClean="0">
                            <a:latin typeface="Cambria Math" panose="02040503050406030204" pitchFamily="18" charset="0"/>
                          </a:rPr>
                          <m:t>up</m:t>
                        </m:r>
                        <m:r>
                          <a:rPr lang="en-US" sz="1200" b="0" i="0" smtClean="0">
                            <a:latin typeface="Cambria Math" panose="02040503050406030204" pitchFamily="18" charset="0"/>
                          </a:rPr>
                          <m:t>,</m:t>
                        </m:r>
                        <m:r>
                          <m:rPr>
                            <m:sty m:val="p"/>
                          </m:rPr>
                          <a:rPr lang="en-US" sz="1200" b="0" i="0" smtClean="0">
                            <a:latin typeface="Cambria Math" panose="02040503050406030204" pitchFamily="18" charset="0"/>
                          </a:rPr>
                          <m:t>est</m:t>
                        </m:r>
                      </m:sup>
                    </m:sSubSup>
                    <m:r>
                      <a:rPr lang="en-US"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𝑑</m:t>
                        </m:r>
                      </m:e>
                      <m:sub>
                        <m:r>
                          <a:rPr lang="en-US" sz="1200" b="0" i="1" smtClean="0">
                            <a:latin typeface="Cambria Math" panose="02040503050406030204" pitchFamily="18" charset="0"/>
                          </a:rPr>
                          <m:t>𝑛</m:t>
                        </m:r>
                        <m:r>
                          <a:rPr lang="en-US" sz="1200" b="0" i="1" smtClean="0">
                            <a:latin typeface="Cambria Math" panose="02040503050406030204" pitchFamily="18" charset="0"/>
                          </a:rPr>
                          <m:t>,</m:t>
                        </m:r>
                        <m:r>
                          <m:rPr>
                            <m:sty m:val="p"/>
                          </m:rPr>
                          <a:rPr lang="en-US" sz="1200" b="0" i="0" smtClean="0">
                            <a:latin typeface="Cambria Math" panose="02040503050406030204" pitchFamily="18" charset="0"/>
                          </a:rPr>
                          <m:t>exe</m:t>
                        </m:r>
                      </m:sub>
                      <m:sup>
                        <m:r>
                          <m:rPr>
                            <m:sty m:val="p"/>
                          </m:rPr>
                          <a:rPr lang="en-US" sz="1200" b="0" i="0" smtClean="0">
                            <a:latin typeface="Cambria Math" panose="02040503050406030204" pitchFamily="18" charset="0"/>
                          </a:rPr>
                          <m:t>U</m:t>
                        </m:r>
                        <m:r>
                          <a:rPr lang="en-US" sz="1200" b="0" i="0" smtClean="0">
                            <a:latin typeface="Cambria Math" panose="02040503050406030204" pitchFamily="18" charset="0"/>
                          </a:rPr>
                          <m:t>,</m:t>
                        </m:r>
                        <m:r>
                          <m:rPr>
                            <m:sty m:val="p"/>
                          </m:rPr>
                          <a:rPr lang="en-US" sz="1200" b="0" i="0" smtClean="0">
                            <a:latin typeface="Cambria Math" panose="02040503050406030204" pitchFamily="18" charset="0"/>
                          </a:rPr>
                          <m:t>est</m:t>
                        </m:r>
                      </m:sup>
                    </m:sSubSup>
                    <m:r>
                      <a:rPr lang="en-US" sz="1200" b="0" i="1" smtClean="0">
                        <a:latin typeface="Cambria Math" panose="02040503050406030204" pitchFamily="18" charset="0"/>
                        <a:ea typeface="Cambria Math" panose="02040503050406030204" pitchFamily="18" charset="0"/>
                      </a:rPr>
                      <m:t>≥</m:t>
                    </m:r>
                    <m:sSubSup>
                      <m:sSubSupPr>
                        <m:ctrlPr>
                          <a:rPr lang="en-US" sz="1200" b="0" i="1" smtClean="0">
                            <a:latin typeface="Cambria Math" panose="02040503050406030204" pitchFamily="18" charset="0"/>
                            <a:ea typeface="Cambria Math" panose="02040503050406030204" pitchFamily="18" charset="0"/>
                          </a:rPr>
                        </m:ctrlPr>
                      </m:sSubSupPr>
                      <m:e>
                        <m:r>
                          <a:rPr lang="en-US" sz="1200" b="0" i="1" smtClean="0">
                            <a:latin typeface="Cambria Math" panose="02040503050406030204" pitchFamily="18" charset="0"/>
                            <a:ea typeface="Cambria Math" panose="02040503050406030204" pitchFamily="18" charset="0"/>
                          </a:rPr>
                          <m:t>𝑑</m:t>
                        </m:r>
                      </m:e>
                      <m:sub>
                        <m:r>
                          <a:rPr lang="en-US" sz="1200" b="0" i="1" smtClean="0">
                            <a:latin typeface="Cambria Math" panose="02040503050406030204" pitchFamily="18" charset="0"/>
                            <a:ea typeface="Cambria Math" panose="02040503050406030204" pitchFamily="18" charset="0"/>
                          </a:rPr>
                          <m:t>𝑛</m:t>
                        </m:r>
                      </m:sub>
                      <m:sup>
                        <m:r>
                          <m:rPr>
                            <m:sty m:val="p"/>
                          </m:rPr>
                          <a:rPr lang="en-US" sz="1200" b="0" i="0" smtClean="0">
                            <a:latin typeface="Cambria Math" panose="02040503050406030204" pitchFamily="18" charset="0"/>
                            <a:ea typeface="Cambria Math" panose="02040503050406030204" pitchFamily="18" charset="0"/>
                          </a:rPr>
                          <m:t>max</m:t>
                        </m:r>
                      </m:sup>
                    </m:sSubSup>
                  </m:oMath>
                </a14:m>
                <a:r>
                  <a:rPr lang="en-US" sz="1200" dirty="0"/>
                  <a:t>, then execute locally.</a:t>
                </a:r>
              </a:p>
              <a:p>
                <a:pPr lvl="1">
                  <a:buFont typeface="Times New Roman" panose="02020603050405020304" pitchFamily="18" charset="0"/>
                  <a:buChar char="→"/>
                </a:pPr>
                <a:endParaRPr lang="en-US" sz="500" dirty="0"/>
              </a:p>
              <a:p>
                <a:r>
                  <a:rPr lang="en-US" sz="1600" dirty="0"/>
                  <a:t>Vehicle-side estimates</a:t>
                </a:r>
              </a:p>
            </p:txBody>
          </p:sp>
        </mc:Choice>
        <mc:Fallback xmlns="">
          <p:sp>
            <p:nvSpPr>
              <p:cNvPr id="3" name="Text Placeholder 2">
                <a:extLst>
                  <a:ext uri="{FF2B5EF4-FFF2-40B4-BE49-F238E27FC236}">
                    <a16:creationId xmlns:a16="http://schemas.microsoft.com/office/drawing/2014/main" id="{69C98000-A66E-7200-6B4D-9531DAA471D3}"/>
                  </a:ext>
                </a:extLst>
              </p:cNvPr>
              <p:cNvSpPr>
                <a:spLocks noGrp="1" noRot="1" noChangeAspect="1" noMove="1" noResize="1" noEditPoints="1" noAdjustHandles="1" noChangeArrowheads="1" noChangeShapeType="1" noTextEdit="1"/>
              </p:cNvSpPr>
              <p:nvPr>
                <p:ph type="body" idx="1"/>
              </p:nvPr>
            </p:nvSpPr>
            <p:spPr>
              <a:xfrm>
                <a:off x="84500" y="815200"/>
                <a:ext cx="8582700" cy="3416400"/>
              </a:xfrm>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A7B4489-7656-6D61-B946-D762D9C846EA}"/>
              </a:ext>
            </a:extLst>
          </p:cNvPr>
          <p:cNvPicPr>
            <a:picLocks noChangeAspect="1"/>
          </p:cNvPicPr>
          <p:nvPr/>
        </p:nvPicPr>
        <p:blipFill>
          <a:blip r:embed="rId3"/>
          <a:stretch>
            <a:fillRect/>
          </a:stretch>
        </p:blipFill>
        <p:spPr>
          <a:xfrm>
            <a:off x="628650" y="3503706"/>
            <a:ext cx="2178050" cy="706394"/>
          </a:xfrm>
          <a:prstGeom prst="rect">
            <a:avLst/>
          </a:prstGeom>
        </p:spPr>
      </p:pic>
      <p:pic>
        <p:nvPicPr>
          <p:cNvPr id="8" name="Picture 7">
            <a:extLst>
              <a:ext uri="{FF2B5EF4-FFF2-40B4-BE49-F238E27FC236}">
                <a16:creationId xmlns:a16="http://schemas.microsoft.com/office/drawing/2014/main" id="{BBB5CF36-F053-6ACE-BA31-F6FDD389E18A}"/>
              </a:ext>
            </a:extLst>
          </p:cNvPr>
          <p:cNvPicPr>
            <a:picLocks noChangeAspect="1"/>
          </p:cNvPicPr>
          <p:nvPr/>
        </p:nvPicPr>
        <p:blipFill>
          <a:blip r:embed="rId4"/>
          <a:stretch>
            <a:fillRect/>
          </a:stretch>
        </p:blipFill>
        <p:spPr>
          <a:xfrm>
            <a:off x="7039492" y="2352295"/>
            <a:ext cx="2021958" cy="1976005"/>
          </a:xfrm>
          <a:prstGeom prst="rect">
            <a:avLst/>
          </a:prstGeom>
        </p:spPr>
      </p:pic>
      <p:sp>
        <p:nvSpPr>
          <p:cNvPr id="4" name="Slide Number Placeholder 3">
            <a:extLst>
              <a:ext uri="{FF2B5EF4-FFF2-40B4-BE49-F238E27FC236}">
                <a16:creationId xmlns:a16="http://schemas.microsoft.com/office/drawing/2014/main" id="{7520CCE6-3743-15BD-0329-500B8294C5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6" name="TextBox 5">
            <a:extLst>
              <a:ext uri="{FF2B5EF4-FFF2-40B4-BE49-F238E27FC236}">
                <a16:creationId xmlns:a16="http://schemas.microsoft.com/office/drawing/2014/main" id="{38157746-1DB9-F65D-87C0-8A9F2E480835}"/>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2318907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49796-24C3-7C15-D378-0242AB10BF01}"/>
              </a:ext>
            </a:extLst>
          </p:cNvPr>
          <p:cNvSpPr>
            <a:spLocks noGrp="1"/>
          </p:cNvSpPr>
          <p:nvPr>
            <p:ph type="title"/>
          </p:nvPr>
        </p:nvSpPr>
        <p:spPr/>
        <p:txBody>
          <a:bodyPr/>
          <a:lstStyle/>
          <a:p>
            <a:r>
              <a:rPr lang="en-US" sz="2200" b="1" dirty="0">
                <a:solidFill>
                  <a:srgbClr val="C01F21"/>
                </a:solidFill>
              </a:rPr>
              <a:t>TODORA: RSU-side Scheduling and TODORAP Extension</a:t>
            </a:r>
          </a:p>
        </p:txBody>
      </p:sp>
      <p:sp>
        <p:nvSpPr>
          <p:cNvPr id="3" name="Text Placeholder 2">
            <a:extLst>
              <a:ext uri="{FF2B5EF4-FFF2-40B4-BE49-F238E27FC236}">
                <a16:creationId xmlns:a16="http://schemas.microsoft.com/office/drawing/2014/main" id="{F48F8019-B7C4-D265-555A-979B8F6FCCAF}"/>
              </a:ext>
            </a:extLst>
          </p:cNvPr>
          <p:cNvSpPr>
            <a:spLocks noGrp="1"/>
          </p:cNvSpPr>
          <p:nvPr>
            <p:ph type="body" idx="1"/>
          </p:nvPr>
        </p:nvSpPr>
        <p:spPr/>
        <p:txBody>
          <a:bodyPr/>
          <a:lstStyle/>
          <a:p>
            <a:r>
              <a:rPr lang="en-US" dirty="0"/>
              <a:t>RSU-side delay estimates</a:t>
            </a:r>
          </a:p>
          <a:p>
            <a:endParaRPr lang="en-US" dirty="0"/>
          </a:p>
          <a:p>
            <a:endParaRPr lang="en-US" dirty="0"/>
          </a:p>
          <a:p>
            <a:endParaRPr lang="en-US" dirty="0"/>
          </a:p>
          <a:p>
            <a:endParaRPr lang="en-US" dirty="0"/>
          </a:p>
          <a:p>
            <a:endParaRPr lang="en-US" dirty="0"/>
          </a:p>
          <a:p>
            <a:r>
              <a:rPr lang="en-US" dirty="0"/>
              <a:t>TODORAP decision rule </a:t>
            </a:r>
          </a:p>
        </p:txBody>
      </p:sp>
      <p:pic>
        <p:nvPicPr>
          <p:cNvPr id="5" name="Picture 4">
            <a:extLst>
              <a:ext uri="{FF2B5EF4-FFF2-40B4-BE49-F238E27FC236}">
                <a16:creationId xmlns:a16="http://schemas.microsoft.com/office/drawing/2014/main" id="{CAD7C8A3-A87B-E133-9749-053033D98BF1}"/>
              </a:ext>
            </a:extLst>
          </p:cNvPr>
          <p:cNvPicPr>
            <a:picLocks noChangeAspect="1"/>
          </p:cNvPicPr>
          <p:nvPr/>
        </p:nvPicPr>
        <p:blipFill>
          <a:blip r:embed="rId2"/>
          <a:stretch>
            <a:fillRect/>
          </a:stretch>
        </p:blipFill>
        <p:spPr>
          <a:xfrm>
            <a:off x="781050" y="1333500"/>
            <a:ext cx="5448300" cy="1294088"/>
          </a:xfrm>
          <a:prstGeom prst="rect">
            <a:avLst/>
          </a:prstGeom>
        </p:spPr>
      </p:pic>
      <p:pic>
        <p:nvPicPr>
          <p:cNvPr id="7" name="Picture 6">
            <a:extLst>
              <a:ext uri="{FF2B5EF4-FFF2-40B4-BE49-F238E27FC236}">
                <a16:creationId xmlns:a16="http://schemas.microsoft.com/office/drawing/2014/main" id="{1C4AA9A3-4763-DCC0-95D1-03F65723D34E}"/>
              </a:ext>
            </a:extLst>
          </p:cNvPr>
          <p:cNvPicPr>
            <a:picLocks noChangeAspect="1"/>
          </p:cNvPicPr>
          <p:nvPr/>
        </p:nvPicPr>
        <p:blipFill>
          <a:blip r:embed="rId3"/>
          <a:stretch>
            <a:fillRect/>
          </a:stretch>
        </p:blipFill>
        <p:spPr>
          <a:xfrm>
            <a:off x="781050" y="3196550"/>
            <a:ext cx="2622550" cy="737301"/>
          </a:xfrm>
          <a:prstGeom prst="rect">
            <a:avLst/>
          </a:prstGeom>
        </p:spPr>
      </p:pic>
      <p:pic>
        <p:nvPicPr>
          <p:cNvPr id="9" name="Picture 8">
            <a:extLst>
              <a:ext uri="{FF2B5EF4-FFF2-40B4-BE49-F238E27FC236}">
                <a16:creationId xmlns:a16="http://schemas.microsoft.com/office/drawing/2014/main" id="{898D6133-FECA-EF88-8273-40A60FC0AA4A}"/>
              </a:ext>
            </a:extLst>
          </p:cNvPr>
          <p:cNvPicPr>
            <a:picLocks noChangeAspect="1"/>
          </p:cNvPicPr>
          <p:nvPr/>
        </p:nvPicPr>
        <p:blipFill>
          <a:blip r:embed="rId4"/>
          <a:stretch>
            <a:fillRect/>
          </a:stretch>
        </p:blipFill>
        <p:spPr>
          <a:xfrm>
            <a:off x="6476725" y="2629732"/>
            <a:ext cx="2546971" cy="1601868"/>
          </a:xfrm>
          <a:prstGeom prst="rect">
            <a:avLst/>
          </a:prstGeom>
        </p:spPr>
      </p:pic>
      <p:sp>
        <p:nvSpPr>
          <p:cNvPr id="4" name="Slide Number Placeholder 3">
            <a:extLst>
              <a:ext uri="{FF2B5EF4-FFF2-40B4-BE49-F238E27FC236}">
                <a16:creationId xmlns:a16="http://schemas.microsoft.com/office/drawing/2014/main" id="{BD4334C2-0175-617E-49B5-3AE807CC95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
        <p:nvSpPr>
          <p:cNvPr id="6" name="TextBox 5">
            <a:extLst>
              <a:ext uri="{FF2B5EF4-FFF2-40B4-BE49-F238E27FC236}">
                <a16:creationId xmlns:a16="http://schemas.microsoft.com/office/drawing/2014/main" id="{99871B0A-49FB-51BD-04F6-32DDD2DAB18A}"/>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38620209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A001-8112-0574-3C8F-886CBA25EDA6}"/>
              </a:ext>
            </a:extLst>
          </p:cNvPr>
          <p:cNvSpPr>
            <a:spLocks noGrp="1"/>
          </p:cNvSpPr>
          <p:nvPr>
            <p:ph type="title"/>
          </p:nvPr>
        </p:nvSpPr>
        <p:spPr/>
        <p:txBody>
          <a:bodyPr/>
          <a:lstStyle/>
          <a:p>
            <a:r>
              <a:rPr lang="en-US" sz="2200" b="1" dirty="0">
                <a:solidFill>
                  <a:srgbClr val="C01F21"/>
                </a:solidFill>
              </a:rPr>
              <a:t>TODORA Algorithm</a:t>
            </a:r>
          </a:p>
        </p:txBody>
      </p:sp>
      <p:pic>
        <p:nvPicPr>
          <p:cNvPr id="5" name="Picture 4">
            <a:extLst>
              <a:ext uri="{FF2B5EF4-FFF2-40B4-BE49-F238E27FC236}">
                <a16:creationId xmlns:a16="http://schemas.microsoft.com/office/drawing/2014/main" id="{923E774A-BA97-8D8D-D6DC-299EB8325651}"/>
              </a:ext>
            </a:extLst>
          </p:cNvPr>
          <p:cNvPicPr>
            <a:picLocks noChangeAspect="1"/>
          </p:cNvPicPr>
          <p:nvPr/>
        </p:nvPicPr>
        <p:blipFill>
          <a:blip r:embed="rId2"/>
          <a:stretch>
            <a:fillRect/>
          </a:stretch>
        </p:blipFill>
        <p:spPr>
          <a:xfrm>
            <a:off x="3118994" y="603250"/>
            <a:ext cx="2906012" cy="3693622"/>
          </a:xfrm>
          <a:prstGeom prst="rect">
            <a:avLst/>
          </a:prstGeom>
        </p:spPr>
      </p:pic>
      <p:sp>
        <p:nvSpPr>
          <p:cNvPr id="3" name="Slide Number Placeholder 2">
            <a:extLst>
              <a:ext uri="{FF2B5EF4-FFF2-40B4-BE49-F238E27FC236}">
                <a16:creationId xmlns:a16="http://schemas.microsoft.com/office/drawing/2014/main" id="{9640F7B8-E97A-470F-02C3-2BB60C1379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
        <p:nvSpPr>
          <p:cNvPr id="4" name="TextBox 3">
            <a:extLst>
              <a:ext uri="{FF2B5EF4-FFF2-40B4-BE49-F238E27FC236}">
                <a16:creationId xmlns:a16="http://schemas.microsoft.com/office/drawing/2014/main" id="{9E4FC1BE-9702-FC39-83F5-C131A7855E71}"/>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4208386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D703-A3D2-9EB3-5305-917D79C20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96191-9118-E92E-6C53-F4CB26E68B3D}"/>
              </a:ext>
            </a:extLst>
          </p:cNvPr>
          <p:cNvSpPr>
            <a:spLocks noGrp="1"/>
          </p:cNvSpPr>
          <p:nvPr>
            <p:ph type="title"/>
          </p:nvPr>
        </p:nvSpPr>
        <p:spPr/>
        <p:txBody>
          <a:bodyPr/>
          <a:lstStyle/>
          <a:p>
            <a:r>
              <a:rPr lang="en-US" sz="2200" b="1" dirty="0">
                <a:solidFill>
                  <a:srgbClr val="C01F21"/>
                </a:solidFill>
              </a:rPr>
              <a:t>TODORAP: Partial Offloading Extension</a:t>
            </a:r>
          </a:p>
        </p:txBody>
      </p:sp>
      <p:sp>
        <p:nvSpPr>
          <p:cNvPr id="3" name="Text Placeholder 2">
            <a:extLst>
              <a:ext uri="{FF2B5EF4-FFF2-40B4-BE49-F238E27FC236}">
                <a16:creationId xmlns:a16="http://schemas.microsoft.com/office/drawing/2014/main" id="{B6B3F445-0AE0-938B-E216-E93DA00C3387}"/>
              </a:ext>
            </a:extLst>
          </p:cNvPr>
          <p:cNvSpPr>
            <a:spLocks noGrp="1"/>
          </p:cNvSpPr>
          <p:nvPr>
            <p:ph type="body" idx="1"/>
          </p:nvPr>
        </p:nvSpPr>
        <p:spPr>
          <a:xfrm>
            <a:off x="4764156" y="1060365"/>
            <a:ext cx="4227444" cy="2703252"/>
          </a:xfrm>
        </p:spPr>
        <p:txBody>
          <a:bodyPr/>
          <a:lstStyle/>
          <a:p>
            <a:pPr>
              <a:spcAft>
                <a:spcPts val="2200"/>
              </a:spcAft>
            </a:pPr>
            <a:r>
              <a:rPr lang="en-US" sz="1600" dirty="0"/>
              <a:t>Split tasks into local and remote parts</a:t>
            </a:r>
          </a:p>
          <a:p>
            <a:pPr>
              <a:spcAft>
                <a:spcPts val="2200"/>
              </a:spcAft>
            </a:pPr>
            <a:r>
              <a:rPr lang="en-US" sz="1600" dirty="0"/>
              <a:t>Select edge or cloud for the remote part</a:t>
            </a:r>
          </a:p>
          <a:p>
            <a:pPr>
              <a:spcAft>
                <a:spcPts val="2200"/>
              </a:spcAft>
            </a:pPr>
            <a:r>
              <a:rPr lang="en-US" sz="1600" dirty="0"/>
              <a:t>Reuse TODORA’s priority-based allocation</a:t>
            </a:r>
          </a:p>
          <a:p>
            <a:pPr>
              <a:spcAft>
                <a:spcPts val="2200"/>
              </a:spcAft>
            </a:pPr>
            <a:r>
              <a:rPr lang="en-US" sz="1600" dirty="0"/>
              <a:t>Enable parallel execution across computing layers</a:t>
            </a:r>
          </a:p>
          <a:p>
            <a:endParaRPr lang="en-US" dirty="0"/>
          </a:p>
        </p:txBody>
      </p:sp>
      <p:pic>
        <p:nvPicPr>
          <p:cNvPr id="6" name="Picture 5">
            <a:extLst>
              <a:ext uri="{FF2B5EF4-FFF2-40B4-BE49-F238E27FC236}">
                <a16:creationId xmlns:a16="http://schemas.microsoft.com/office/drawing/2014/main" id="{1B57A955-05A6-6B69-C0BF-6E0327E3F7A2}"/>
              </a:ext>
            </a:extLst>
          </p:cNvPr>
          <p:cNvPicPr>
            <a:picLocks noChangeAspect="1"/>
          </p:cNvPicPr>
          <p:nvPr/>
        </p:nvPicPr>
        <p:blipFill>
          <a:blip r:embed="rId3"/>
          <a:stretch>
            <a:fillRect/>
          </a:stretch>
        </p:blipFill>
        <p:spPr>
          <a:xfrm>
            <a:off x="357403" y="1225825"/>
            <a:ext cx="4327185" cy="2491409"/>
          </a:xfrm>
          <a:prstGeom prst="rect">
            <a:avLst/>
          </a:prstGeom>
        </p:spPr>
      </p:pic>
      <p:sp>
        <p:nvSpPr>
          <p:cNvPr id="4" name="Slide Number Placeholder 3">
            <a:extLst>
              <a:ext uri="{FF2B5EF4-FFF2-40B4-BE49-F238E27FC236}">
                <a16:creationId xmlns:a16="http://schemas.microsoft.com/office/drawing/2014/main" id="{1495B544-68B0-81D6-A006-FDED5BE841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TextBox 4">
            <a:extLst>
              <a:ext uri="{FF2B5EF4-FFF2-40B4-BE49-F238E27FC236}">
                <a16:creationId xmlns:a16="http://schemas.microsoft.com/office/drawing/2014/main" id="{58F462ED-476A-A380-9BAD-BDA93BA58ACD}"/>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532327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F884-E83C-63AE-954A-8851F9EAB0BC}"/>
              </a:ext>
            </a:extLst>
          </p:cNvPr>
          <p:cNvSpPr>
            <a:spLocks noGrp="1"/>
          </p:cNvSpPr>
          <p:nvPr>
            <p:ph type="title"/>
          </p:nvPr>
        </p:nvSpPr>
        <p:spPr/>
        <p:txBody>
          <a:bodyPr/>
          <a:lstStyle/>
          <a:p>
            <a:r>
              <a:rPr lang="en-US" sz="2200" b="1" dirty="0">
                <a:solidFill>
                  <a:srgbClr val="C01F21"/>
                </a:solidFill>
              </a:rPr>
              <a:t>Extension Results: Dependency and Partial Offloading</a:t>
            </a:r>
            <a:endParaRPr lang="en-US" dirty="0"/>
          </a:p>
        </p:txBody>
      </p:sp>
      <p:pic>
        <p:nvPicPr>
          <p:cNvPr id="11" name="Picture 10">
            <a:extLst>
              <a:ext uri="{FF2B5EF4-FFF2-40B4-BE49-F238E27FC236}">
                <a16:creationId xmlns:a16="http://schemas.microsoft.com/office/drawing/2014/main" id="{BAA2C2FD-43CE-5F44-98D1-F1B3412BD64F}"/>
              </a:ext>
            </a:extLst>
          </p:cNvPr>
          <p:cNvPicPr>
            <a:picLocks noChangeAspect="1"/>
          </p:cNvPicPr>
          <p:nvPr/>
        </p:nvPicPr>
        <p:blipFill>
          <a:blip r:embed="rId2"/>
          <a:stretch>
            <a:fillRect/>
          </a:stretch>
        </p:blipFill>
        <p:spPr>
          <a:xfrm>
            <a:off x="249600" y="1411813"/>
            <a:ext cx="2161500" cy="1662692"/>
          </a:xfrm>
          <a:prstGeom prst="rect">
            <a:avLst/>
          </a:prstGeom>
        </p:spPr>
      </p:pic>
      <p:pic>
        <p:nvPicPr>
          <p:cNvPr id="13" name="Picture 12">
            <a:extLst>
              <a:ext uri="{FF2B5EF4-FFF2-40B4-BE49-F238E27FC236}">
                <a16:creationId xmlns:a16="http://schemas.microsoft.com/office/drawing/2014/main" id="{BAEC074D-B278-9947-2101-0279C6D8A312}"/>
              </a:ext>
            </a:extLst>
          </p:cNvPr>
          <p:cNvPicPr>
            <a:picLocks noChangeAspect="1"/>
          </p:cNvPicPr>
          <p:nvPr/>
        </p:nvPicPr>
        <p:blipFill>
          <a:blip r:embed="rId3"/>
          <a:stretch>
            <a:fillRect/>
          </a:stretch>
        </p:blipFill>
        <p:spPr>
          <a:xfrm>
            <a:off x="2411100" y="1091605"/>
            <a:ext cx="1791929" cy="2559370"/>
          </a:xfrm>
          <a:prstGeom prst="rect">
            <a:avLst/>
          </a:prstGeom>
        </p:spPr>
      </p:pic>
      <p:pic>
        <p:nvPicPr>
          <p:cNvPr id="15" name="Picture 14">
            <a:extLst>
              <a:ext uri="{FF2B5EF4-FFF2-40B4-BE49-F238E27FC236}">
                <a16:creationId xmlns:a16="http://schemas.microsoft.com/office/drawing/2014/main" id="{1F510DE5-692F-2B6E-E8B4-D8AFBE35BCD5}"/>
              </a:ext>
            </a:extLst>
          </p:cNvPr>
          <p:cNvPicPr>
            <a:picLocks noChangeAspect="1"/>
          </p:cNvPicPr>
          <p:nvPr/>
        </p:nvPicPr>
        <p:blipFill>
          <a:blip r:embed="rId4"/>
          <a:stretch>
            <a:fillRect/>
          </a:stretch>
        </p:blipFill>
        <p:spPr>
          <a:xfrm>
            <a:off x="4572001" y="1470204"/>
            <a:ext cx="2050720" cy="1538040"/>
          </a:xfrm>
          <a:prstGeom prst="rect">
            <a:avLst/>
          </a:prstGeom>
        </p:spPr>
      </p:pic>
      <p:pic>
        <p:nvPicPr>
          <p:cNvPr id="17" name="Picture 16">
            <a:extLst>
              <a:ext uri="{FF2B5EF4-FFF2-40B4-BE49-F238E27FC236}">
                <a16:creationId xmlns:a16="http://schemas.microsoft.com/office/drawing/2014/main" id="{B98E65A9-3543-B282-54DC-F157CF306C7A}"/>
              </a:ext>
            </a:extLst>
          </p:cNvPr>
          <p:cNvPicPr>
            <a:picLocks noChangeAspect="1"/>
          </p:cNvPicPr>
          <p:nvPr/>
        </p:nvPicPr>
        <p:blipFill>
          <a:blip r:embed="rId5"/>
          <a:stretch>
            <a:fillRect/>
          </a:stretch>
        </p:blipFill>
        <p:spPr>
          <a:xfrm>
            <a:off x="6673676" y="1043609"/>
            <a:ext cx="2241566" cy="2607366"/>
          </a:xfrm>
          <a:prstGeom prst="rect">
            <a:avLst/>
          </a:prstGeom>
        </p:spPr>
      </p:pic>
      <p:sp>
        <p:nvSpPr>
          <p:cNvPr id="19" name="TextBox 18">
            <a:extLst>
              <a:ext uri="{FF2B5EF4-FFF2-40B4-BE49-F238E27FC236}">
                <a16:creationId xmlns:a16="http://schemas.microsoft.com/office/drawing/2014/main" id="{7F2A9361-231C-3242-AFEF-2F224FC1F5C9}"/>
              </a:ext>
            </a:extLst>
          </p:cNvPr>
          <p:cNvSpPr txBox="1"/>
          <p:nvPr/>
        </p:nvSpPr>
        <p:spPr>
          <a:xfrm>
            <a:off x="249600" y="668672"/>
            <a:ext cx="4141033" cy="615553"/>
          </a:xfrm>
          <a:prstGeom prst="rect">
            <a:avLst/>
          </a:prstGeom>
          <a:noFill/>
        </p:spPr>
        <p:txBody>
          <a:bodyPr wrap="square" rtlCol="0">
            <a:spAutoFit/>
          </a:bodyPr>
          <a:lstStyle/>
          <a:p>
            <a:pPr marL="171450" indent="-171450">
              <a:buFont typeface="System Font Regular"/>
              <a:buChar char="*"/>
            </a:pPr>
            <a:r>
              <a:rPr lang="en-US" sz="1000" dirty="0"/>
              <a:t>Sequential two-task dependency; the second task is scheduled only after the first task completes.</a:t>
            </a:r>
          </a:p>
          <a:p>
            <a:endParaRPr lang="en-US" dirty="0"/>
          </a:p>
        </p:txBody>
      </p:sp>
      <p:cxnSp>
        <p:nvCxnSpPr>
          <p:cNvPr id="21" name="Straight Connector 20">
            <a:extLst>
              <a:ext uri="{FF2B5EF4-FFF2-40B4-BE49-F238E27FC236}">
                <a16:creationId xmlns:a16="http://schemas.microsoft.com/office/drawing/2014/main" id="{C61D943B-7E44-91DB-9AF7-E5F40474EAD5}"/>
              </a:ext>
            </a:extLst>
          </p:cNvPr>
          <p:cNvCxnSpPr>
            <a:cxnSpLocks/>
          </p:cNvCxnSpPr>
          <p:nvPr/>
        </p:nvCxnSpPr>
        <p:spPr>
          <a:xfrm>
            <a:off x="4446103" y="1091605"/>
            <a:ext cx="0" cy="2559370"/>
          </a:xfrm>
          <a:prstGeom prst="line">
            <a:avLst/>
          </a:prstGeom>
          <a:ln w="19050">
            <a:solidFill>
              <a:srgbClr val="000000"/>
            </a:solidFill>
            <a:prstDash val="sysDot"/>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5196524-8ADB-956B-8629-518D3ABEB1B7}"/>
              </a:ext>
            </a:extLst>
          </p:cNvPr>
          <p:cNvSpPr txBox="1"/>
          <p:nvPr/>
        </p:nvSpPr>
        <p:spPr>
          <a:xfrm>
            <a:off x="207626" y="3708958"/>
            <a:ext cx="8728748" cy="738664"/>
          </a:xfrm>
          <a:prstGeom prst="rect">
            <a:avLst/>
          </a:prstGeom>
          <a:noFill/>
        </p:spPr>
        <p:txBody>
          <a:bodyPr wrap="square" rtlCol="0">
            <a:spAutoFit/>
          </a:bodyPr>
          <a:lstStyle/>
          <a:p>
            <a:r>
              <a:rPr lang="en-US" b="1" dirty="0">
                <a:solidFill>
                  <a:srgbClr val="C01F21"/>
                </a:solidFill>
              </a:rPr>
              <a:t>TODORA remains effective under task dependency, and its partial-offloading extension further improves flexibility and resource utilization.</a:t>
            </a:r>
            <a:endParaRPr lang="en-US" dirty="0">
              <a:solidFill>
                <a:srgbClr val="C01F21"/>
              </a:solidFill>
            </a:endParaRPr>
          </a:p>
          <a:p>
            <a:endParaRPr lang="en-US" dirty="0"/>
          </a:p>
        </p:txBody>
      </p:sp>
      <p:sp>
        <p:nvSpPr>
          <p:cNvPr id="3" name="Slide Number Placeholder 2">
            <a:extLst>
              <a:ext uri="{FF2B5EF4-FFF2-40B4-BE49-F238E27FC236}">
                <a16:creationId xmlns:a16="http://schemas.microsoft.com/office/drawing/2014/main" id="{A6104F92-F616-5612-9A1F-0DF0768DAE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
        <p:nvSpPr>
          <p:cNvPr id="4" name="TextBox 3">
            <a:extLst>
              <a:ext uri="{FF2B5EF4-FFF2-40B4-BE49-F238E27FC236}">
                <a16:creationId xmlns:a16="http://schemas.microsoft.com/office/drawing/2014/main" id="{20344303-5919-8CE4-B3A1-5A26486DDB54}"/>
              </a:ext>
            </a:extLst>
          </p:cNvPr>
          <p:cNvSpPr txBox="1"/>
          <p:nvPr/>
        </p:nvSpPr>
        <p:spPr>
          <a:xfrm>
            <a:off x="1442301" y="4495733"/>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“Online Distributed Offloading of Time-Sensitive Vehicular Tasks in Edge-Cloud Systems,” </a:t>
            </a:r>
          </a:p>
          <a:p>
            <a:pPr lvl="0">
              <a:buSzPts val="2800"/>
            </a:pPr>
            <a:r>
              <a:rPr lang="en-US" sz="800" dirty="0">
                <a:solidFill>
                  <a:schemeClr val="bg1"/>
                </a:solidFill>
              </a:rPr>
              <a:t>in </a:t>
            </a:r>
            <a:r>
              <a:rPr lang="en-US" sz="800" i="1" dirty="0">
                <a:solidFill>
                  <a:schemeClr val="bg1"/>
                </a:solidFill>
              </a:rPr>
              <a:t>IEEE Transactions on Vehicular Technology</a:t>
            </a:r>
            <a:r>
              <a:rPr lang="en-US" sz="800" dirty="0">
                <a:solidFill>
                  <a:schemeClr val="bg1"/>
                </a:solidFill>
              </a:rPr>
              <a:t>, vol. 74, no. 12, pp. 19681-19697, Dec. 2025</a:t>
            </a:r>
          </a:p>
        </p:txBody>
      </p:sp>
    </p:spTree>
    <p:extLst>
      <p:ext uri="{BB962C8B-B14F-4D97-AF65-F5344CB8AC3E}">
        <p14:creationId xmlns:p14="http://schemas.microsoft.com/office/powerpoint/2010/main" val="2475696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7DF2-F3B1-FC50-90F6-913584537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4D829-7CB2-9711-5989-A214BB7D0D28}"/>
              </a:ext>
            </a:extLst>
          </p:cNvPr>
          <p:cNvSpPr>
            <a:spLocks noGrp="1"/>
          </p:cNvSpPr>
          <p:nvPr>
            <p:ph type="title"/>
          </p:nvPr>
        </p:nvSpPr>
        <p:spPr/>
        <p:txBody>
          <a:bodyPr/>
          <a:lstStyle/>
          <a:p>
            <a:r>
              <a:rPr lang="en-US" sz="2200" b="1" dirty="0">
                <a:solidFill>
                  <a:srgbClr val="C01F21"/>
                </a:solidFill>
              </a:rPr>
              <a:t>LLPRI Details</a:t>
            </a:r>
          </a:p>
        </p:txBody>
      </p:sp>
      <p:sp>
        <p:nvSpPr>
          <p:cNvPr id="3" name="Text Placeholder 2">
            <a:extLst>
              <a:ext uri="{FF2B5EF4-FFF2-40B4-BE49-F238E27FC236}">
                <a16:creationId xmlns:a16="http://schemas.microsoft.com/office/drawing/2014/main" id="{FA4BBE94-9D38-D971-3F9B-060643CE6F27}"/>
              </a:ext>
            </a:extLst>
          </p:cNvPr>
          <p:cNvSpPr>
            <a:spLocks noGrp="1"/>
          </p:cNvSpPr>
          <p:nvPr>
            <p:ph type="body" idx="1"/>
          </p:nvPr>
        </p:nvSpPr>
        <p:spPr>
          <a:xfrm>
            <a:off x="249600" y="662800"/>
            <a:ext cx="8582700" cy="3416400"/>
          </a:xfrm>
        </p:spPr>
        <p:txBody>
          <a:bodyPr/>
          <a:lstStyle/>
          <a:p>
            <a:r>
              <a:rPr lang="en-US" sz="1600" dirty="0"/>
              <a:t>Privacy-aware sensitive object detection</a:t>
            </a:r>
          </a:p>
          <a:p>
            <a:pPr lvl="1">
              <a:spcAft>
                <a:spcPts val="600"/>
              </a:spcAft>
              <a:buFont typeface="Times New Roman" panose="02020603050405020304" pitchFamily="18" charset="0"/>
              <a:buChar char="→"/>
            </a:pPr>
            <a:r>
              <a:rPr lang="en-US" sz="1200" b="1" dirty="0"/>
              <a:t>Privacy-enhanced false-negative loss: </a:t>
            </a:r>
            <a:r>
              <a:rPr lang="en-US" sz="1200" dirty="0"/>
              <a:t>Boosts sensitive-object recall by </a:t>
            </a:r>
            <a:r>
              <a:rPr lang="en-US" sz="1200" dirty="0">
                <a:solidFill>
                  <a:srgbClr val="0070C0"/>
                </a:solidFill>
              </a:rPr>
              <a:t>increasing sensitive confidence on anchors aligned with sensitive ground truth</a:t>
            </a:r>
            <a:r>
              <a:rPr lang="en-US" sz="1200" dirty="0"/>
              <a:t>.</a:t>
            </a:r>
          </a:p>
          <a:p>
            <a:pPr lvl="1">
              <a:spcAft>
                <a:spcPts val="600"/>
              </a:spcAft>
              <a:buFont typeface="Times New Roman" panose="02020603050405020304" pitchFamily="18" charset="0"/>
              <a:buChar char="→"/>
            </a:pPr>
            <a:r>
              <a:rPr lang="en-US" sz="1200" b="1" dirty="0"/>
              <a:t>Privacy-enhanced false-positive loss: </a:t>
            </a:r>
            <a:r>
              <a:rPr lang="en-US" sz="1200" dirty="0">
                <a:solidFill>
                  <a:srgbClr val="0070C0"/>
                </a:solidFill>
              </a:rPr>
              <a:t>Suppresses false sensitive predictions on non-sensitive images</a:t>
            </a:r>
            <a:r>
              <a:rPr lang="en-US" sz="1200" dirty="0"/>
              <a:t> to avoid unnecessary obfuscation.</a:t>
            </a:r>
          </a:p>
          <a:p>
            <a:pPr lvl="1">
              <a:spcAft>
                <a:spcPts val="600"/>
              </a:spcAft>
              <a:buFont typeface="Times New Roman" panose="02020603050405020304" pitchFamily="18" charset="0"/>
              <a:buChar char="→"/>
            </a:pPr>
            <a:r>
              <a:rPr lang="en-US" sz="1200" b="1" dirty="0"/>
              <a:t>Sensitive-class-aware knowledge distillation: </a:t>
            </a:r>
            <a:r>
              <a:rPr lang="en-US" sz="1200" dirty="0"/>
              <a:t>Transfers both classification and localization cues from a larger teacher to a lightweight detector </a:t>
            </a:r>
            <a:r>
              <a:rPr lang="en-US" sz="1200" dirty="0">
                <a:solidFill>
                  <a:srgbClr val="0070C0"/>
                </a:solidFill>
              </a:rPr>
              <a:t>with extra emphasis on sensitive categories</a:t>
            </a:r>
            <a:r>
              <a:rPr lang="en-US" sz="1200" dirty="0"/>
              <a:t>.</a:t>
            </a:r>
          </a:p>
          <a:p>
            <a:pPr lvl="1">
              <a:spcAft>
                <a:spcPts val="600"/>
              </a:spcAft>
              <a:buFont typeface="Times New Roman" panose="02020603050405020304" pitchFamily="18" charset="0"/>
              <a:buChar char="→"/>
            </a:pPr>
            <a:endParaRPr lang="en-US" sz="600" dirty="0"/>
          </a:p>
          <a:p>
            <a:r>
              <a:rPr lang="en-US" sz="1600" dirty="0"/>
              <a:t>Selective latent-space obfuscation with explicit privacy-utility optimization</a:t>
            </a:r>
          </a:p>
          <a:p>
            <a:pPr lvl="1">
              <a:spcAft>
                <a:spcPts val="600"/>
              </a:spcAft>
              <a:buFont typeface="Times New Roman" panose="02020603050405020304" pitchFamily="18" charset="0"/>
              <a:buChar char="→"/>
            </a:pPr>
            <a:r>
              <a:rPr lang="en-US" sz="1200" b="1" dirty="0"/>
              <a:t>Selective obfuscation</a:t>
            </a:r>
            <a:r>
              <a:rPr lang="en-US" sz="1200" dirty="0"/>
              <a:t>: </a:t>
            </a:r>
            <a:r>
              <a:rPr lang="en-US" sz="1200" dirty="0">
                <a:solidFill>
                  <a:schemeClr val="tx2">
                    <a:lumMod val="10000"/>
                  </a:schemeClr>
                </a:solidFill>
              </a:rPr>
              <a:t>Obfuscates </a:t>
            </a:r>
            <a:r>
              <a:rPr lang="en-US" sz="1200" dirty="0">
                <a:solidFill>
                  <a:srgbClr val="0070C0"/>
                </a:solidFill>
              </a:rPr>
              <a:t>only sensitive regions</a:t>
            </a:r>
            <a:r>
              <a:rPr lang="en-US" sz="1200" dirty="0">
                <a:solidFill>
                  <a:schemeClr val="tx2">
                    <a:lumMod val="10000"/>
                  </a:schemeClr>
                </a:solidFill>
              </a:rPr>
              <a:t>.</a:t>
            </a:r>
            <a:endParaRPr lang="en-US" sz="1200" dirty="0"/>
          </a:p>
          <a:p>
            <a:pPr lvl="1">
              <a:spcAft>
                <a:spcPts val="600"/>
              </a:spcAft>
              <a:buFont typeface="Times New Roman" panose="02020603050405020304" pitchFamily="18" charset="0"/>
              <a:buChar char="→"/>
            </a:pPr>
            <a:r>
              <a:rPr lang="en-US" sz="1200" b="1" dirty="0"/>
              <a:t>Backbone reuse: </a:t>
            </a:r>
            <a:r>
              <a:rPr lang="en-US" sz="1200" dirty="0">
                <a:solidFill>
                  <a:srgbClr val="0070C0"/>
                </a:solidFill>
              </a:rPr>
              <a:t>Uses the target model’s early backbone as the client embedding network</a:t>
            </a:r>
            <a:r>
              <a:rPr lang="en-US" sz="1200" dirty="0"/>
              <a:t> to reduce extra latency.</a:t>
            </a:r>
          </a:p>
          <a:p>
            <a:pPr lvl="1">
              <a:spcAft>
                <a:spcPts val="600"/>
              </a:spcAft>
              <a:buFont typeface="Times New Roman" panose="02020603050405020304" pitchFamily="18" charset="0"/>
              <a:buChar char="→"/>
            </a:pPr>
            <a:r>
              <a:rPr lang="en-US" sz="1200" b="1" dirty="0"/>
              <a:t>Latent-space masking with joint objective: </a:t>
            </a:r>
            <a:r>
              <a:rPr lang="en-US" sz="1200" dirty="0"/>
              <a:t>Optimizes the mask generator to </a:t>
            </a:r>
            <a:r>
              <a:rPr lang="en-US" sz="1200" dirty="0">
                <a:solidFill>
                  <a:srgbClr val="0070C0"/>
                </a:solidFill>
              </a:rPr>
              <a:t>minimize utility loss and maximize adversarial privacy loss</a:t>
            </a:r>
            <a:r>
              <a:rPr lang="en-US" sz="1200" dirty="0"/>
              <a:t>.</a:t>
            </a:r>
          </a:p>
          <a:p>
            <a:pPr lvl="1"/>
            <a:endParaRPr lang="en-US" sz="1200" dirty="0"/>
          </a:p>
          <a:p>
            <a:pPr lvl="1"/>
            <a:endParaRPr lang="en-US" sz="1200" dirty="0"/>
          </a:p>
        </p:txBody>
      </p:sp>
      <p:sp>
        <p:nvSpPr>
          <p:cNvPr id="4" name="Slide Number Placeholder 3">
            <a:extLst>
              <a:ext uri="{FF2B5EF4-FFF2-40B4-BE49-F238E27FC236}">
                <a16:creationId xmlns:a16="http://schemas.microsoft.com/office/drawing/2014/main" id="{9B27099F-3229-6118-9A53-860C941A08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
        <p:nvSpPr>
          <p:cNvPr id="5" name="TextBox 4">
            <a:extLst>
              <a:ext uri="{FF2B5EF4-FFF2-40B4-BE49-F238E27FC236}">
                <a16:creationId xmlns:a16="http://schemas.microsoft.com/office/drawing/2014/main" id="{01B4DA1A-7AB9-DAC5-916A-51EF444BB3C1}"/>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92842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7686-5B47-AB4D-BCC5-869FDA0D52F5}"/>
              </a:ext>
            </a:extLst>
          </p:cNvPr>
          <p:cNvSpPr>
            <a:spLocks noGrp="1"/>
          </p:cNvSpPr>
          <p:nvPr>
            <p:ph type="title"/>
          </p:nvPr>
        </p:nvSpPr>
        <p:spPr/>
        <p:txBody>
          <a:bodyPr/>
          <a:lstStyle/>
          <a:p>
            <a:r>
              <a:rPr lang="en-US" sz="2200" b="1" dirty="0">
                <a:solidFill>
                  <a:srgbClr val="C01F21"/>
                </a:solidFill>
              </a:rPr>
              <a:t>LLPRI: Privacy-Aware Sensitive-Object Detector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5AAB5CD-EF12-DFAF-8ABD-978E501FBDE4}"/>
                  </a:ext>
                </a:extLst>
              </p:cNvPr>
              <p:cNvSpPr>
                <a:spLocks noGrp="1"/>
              </p:cNvSpPr>
              <p:nvPr>
                <p:ph type="body" idx="1"/>
              </p:nvPr>
            </p:nvSpPr>
            <p:spPr>
              <a:xfrm>
                <a:off x="249600" y="815200"/>
                <a:ext cx="5586050" cy="3416400"/>
              </a:xfrm>
            </p:spPr>
            <p:txBody>
              <a:bodyPr/>
              <a:lstStyle/>
              <a:p>
                <a:r>
                  <a:rPr lang="en-US" dirty="0"/>
                  <a:t>Pri</a:t>
                </a:r>
                <a:r>
                  <a:rPr lang="en-US" sz="1600" dirty="0"/>
                  <a:t>vacy-enhanced detector loss</a:t>
                </a:r>
              </a:p>
              <a:p>
                <a:endParaRPr lang="en-US" sz="1600" dirty="0"/>
              </a:p>
              <a:p>
                <a:endParaRPr lang="en-US" sz="1600" dirty="0"/>
              </a:p>
              <a:p>
                <a:endParaRPr lang="en-US" sz="1600" dirty="0"/>
              </a:p>
              <a:p>
                <a:endParaRPr lang="en-US" sz="1600" dirty="0"/>
              </a:p>
              <a:p>
                <a:pPr lvl="1">
                  <a:buFont typeface="Times New Roman" panose="02020603050405020304" pitchFamily="18" charset="0"/>
                  <a:buChar char="→"/>
                </a:pPr>
                <a14:m>
                  <m:oMath xmlns:m="http://schemas.openxmlformats.org/officeDocument/2006/math">
                    <m:sSub>
                      <m:sSubPr>
                        <m:ctrlPr>
                          <a:rPr lang="en-US" sz="1200" i="1" smtClean="0">
                            <a:solidFill>
                              <a:srgbClr val="0070C0"/>
                            </a:solidFill>
                            <a:latin typeface="Cambria Math" panose="02040503050406030204" pitchFamily="18" charset="0"/>
                          </a:rPr>
                        </m:ctrlPr>
                      </m:sSubPr>
                      <m:e>
                        <m:r>
                          <a:rPr lang="en-US" sz="1200" i="1" smtClean="0">
                            <a:solidFill>
                              <a:srgbClr val="0070C0"/>
                            </a:solidFill>
                            <a:latin typeface="Cambria Math" panose="02040503050406030204" pitchFamily="18" charset="0"/>
                            <a:ea typeface="Cambria Math" panose="02040503050406030204" pitchFamily="18" charset="0"/>
                          </a:rPr>
                          <m:t>𝛾</m:t>
                        </m:r>
                      </m:e>
                      <m:sub>
                        <m:r>
                          <m:rPr>
                            <m:sty m:val="p"/>
                          </m:rPr>
                          <a:rPr lang="en-US" sz="1200" b="0" i="0" smtClean="0">
                            <a:solidFill>
                              <a:srgbClr val="0070C0"/>
                            </a:solidFill>
                            <a:latin typeface="Cambria Math" panose="02040503050406030204" pitchFamily="18" charset="0"/>
                          </a:rPr>
                          <m:t>FN</m:t>
                        </m:r>
                      </m:sub>
                    </m:sSub>
                    <m:r>
                      <a:rPr lang="en-US" sz="1200" b="0" i="1" smtClean="0">
                        <a:solidFill>
                          <a:srgbClr val="0070C0"/>
                        </a:solidFill>
                        <a:latin typeface="Cambria Math" panose="02040503050406030204" pitchFamily="18" charset="0"/>
                      </a:rPr>
                      <m:t>&gt;</m:t>
                    </m:r>
                    <m:sSub>
                      <m:sSubPr>
                        <m:ctrlPr>
                          <a:rPr lang="en-US" sz="1200" b="0" i="1" smtClean="0">
                            <a:solidFill>
                              <a:srgbClr val="0070C0"/>
                            </a:solidFill>
                            <a:latin typeface="Cambria Math" panose="02040503050406030204" pitchFamily="18" charset="0"/>
                          </a:rPr>
                        </m:ctrlPr>
                      </m:sSubPr>
                      <m:e>
                        <m:r>
                          <a:rPr lang="en-US" sz="1200" b="0" i="1" smtClean="0">
                            <a:solidFill>
                              <a:srgbClr val="0070C0"/>
                            </a:solidFill>
                            <a:latin typeface="Cambria Math" panose="02040503050406030204" pitchFamily="18" charset="0"/>
                            <a:ea typeface="Cambria Math" panose="02040503050406030204" pitchFamily="18" charset="0"/>
                          </a:rPr>
                          <m:t>𝛾</m:t>
                        </m:r>
                      </m:e>
                      <m:sub>
                        <m:r>
                          <m:rPr>
                            <m:sty m:val="p"/>
                          </m:rPr>
                          <a:rPr lang="en-US" sz="1200" b="0" i="0" smtClean="0">
                            <a:solidFill>
                              <a:srgbClr val="0070C0"/>
                            </a:solidFill>
                            <a:latin typeface="Cambria Math" panose="02040503050406030204" pitchFamily="18" charset="0"/>
                          </a:rPr>
                          <m:t>FP</m:t>
                        </m:r>
                      </m:sub>
                    </m:sSub>
                  </m:oMath>
                </a14:m>
                <a:r>
                  <a:rPr lang="en-US" sz="1200" dirty="0">
                    <a:solidFill>
                      <a:srgbClr val="0070C0"/>
                    </a:solidFill>
                  </a:rPr>
                  <a:t> explicitly prioritizes sensitive-object recall over precision</a:t>
                </a:r>
                <a:r>
                  <a:rPr lang="en-US" sz="1200" dirty="0"/>
                  <a:t>.</a:t>
                </a:r>
              </a:p>
              <a:p>
                <a:r>
                  <a:rPr lang="en-US" sz="1600" dirty="0"/>
                  <a:t>Sensitive-class-aware knowledge distillation</a:t>
                </a:r>
              </a:p>
              <a:p>
                <a:pPr marL="114300" indent="0">
                  <a:buNone/>
                </a:pPr>
                <a:endParaRPr lang="en-US" sz="1600" dirty="0"/>
              </a:p>
              <a:p>
                <a:pPr marL="114300" indent="0">
                  <a:buNone/>
                </a:pPr>
                <a:endParaRPr lang="en-US" sz="1600" dirty="0"/>
              </a:p>
              <a:p>
                <a:pPr lvl="1">
                  <a:buFont typeface="Times New Roman" panose="02020603050405020304" pitchFamily="18" charset="0"/>
                  <a:buChar char="→"/>
                </a:pPr>
                <a:r>
                  <a:rPr lang="en-US" sz="1200" dirty="0"/>
                  <a:t>We assign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𝑤</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𝑤</m:t>
                        </m:r>
                      </m:e>
                      <m:sub>
                        <m:r>
                          <m:rPr>
                            <m:sty m:val="p"/>
                          </m:rPr>
                          <a:rPr lang="en-US" sz="1200" b="0" i="0" smtClean="0">
                            <a:latin typeface="Cambria Math" panose="02040503050406030204" pitchFamily="18" charset="0"/>
                          </a:rPr>
                          <m:t>sens</m:t>
                        </m:r>
                      </m:sub>
                    </m:sSub>
                  </m:oMath>
                </a14:m>
                <a:r>
                  <a:rPr lang="en-US" sz="1200" dirty="0"/>
                  <a:t> for sensitive-class prediction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𝑤</m:t>
                        </m:r>
                      </m:e>
                      <m:sub>
                        <m:r>
                          <a:rPr lang="en-US" sz="1200" i="1">
                            <a:latin typeface="Cambria Math" panose="02040503050406030204" pitchFamily="18" charset="0"/>
                          </a:rPr>
                          <m:t>𝑖</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𝑤</m:t>
                        </m:r>
                      </m:e>
                      <m:sub>
                        <m:r>
                          <m:rPr>
                            <m:sty m:val="p"/>
                          </m:rPr>
                          <a:rPr lang="en-US" sz="1200" b="0" i="0" smtClean="0">
                            <a:latin typeface="Cambria Math" panose="02040503050406030204" pitchFamily="18" charset="0"/>
                          </a:rPr>
                          <m:t>non</m:t>
                        </m:r>
                        <m:r>
                          <m:rPr>
                            <m:sty m:val="p"/>
                          </m:rPr>
                          <a:rPr lang="en-US" sz="1200">
                            <a:latin typeface="Cambria Math" panose="02040503050406030204" pitchFamily="18" charset="0"/>
                          </a:rPr>
                          <m:t>sens</m:t>
                        </m:r>
                      </m:sub>
                    </m:sSub>
                  </m:oMath>
                </a14:m>
                <a:r>
                  <a:rPr lang="en-US" sz="1200" dirty="0"/>
                  <a:t> for non-sensitive class, </a:t>
                </a:r>
                <a:r>
                  <a:rPr lang="en-US" sz="1200" dirty="0">
                    <a:solidFill>
                      <a:srgbClr val="0070C0"/>
                    </a:solidFill>
                  </a:rPr>
                  <a:t>with </a:t>
                </a:r>
                <a14:m>
                  <m:oMath xmlns:m="http://schemas.openxmlformats.org/officeDocument/2006/math">
                    <m:sSub>
                      <m:sSubPr>
                        <m:ctrlPr>
                          <a:rPr lang="en-US" sz="1200" i="1">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𝑤</m:t>
                        </m:r>
                      </m:e>
                      <m:sub>
                        <m:r>
                          <m:rPr>
                            <m:sty m:val="p"/>
                          </m:rPr>
                          <a:rPr lang="en-US" sz="1200">
                            <a:solidFill>
                              <a:srgbClr val="0070C0"/>
                            </a:solidFill>
                            <a:latin typeface="Cambria Math" panose="02040503050406030204" pitchFamily="18" charset="0"/>
                          </a:rPr>
                          <m:t>sens</m:t>
                        </m:r>
                      </m:sub>
                    </m:sSub>
                    <m:r>
                      <a:rPr lang="en-US" sz="1200" b="0" i="1" smtClean="0">
                        <a:solidFill>
                          <a:srgbClr val="0070C0"/>
                        </a:solidFill>
                        <a:latin typeface="Cambria Math" panose="02040503050406030204" pitchFamily="18" charset="0"/>
                      </a:rPr>
                      <m:t>&gt;</m:t>
                    </m:r>
                    <m:sSub>
                      <m:sSubPr>
                        <m:ctrlPr>
                          <a:rPr lang="en-US" sz="1200" i="1">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𝑤</m:t>
                        </m:r>
                      </m:e>
                      <m:sub>
                        <m:r>
                          <m:rPr>
                            <m:sty m:val="p"/>
                          </m:rPr>
                          <a:rPr lang="en-US" sz="1200">
                            <a:solidFill>
                              <a:srgbClr val="0070C0"/>
                            </a:solidFill>
                            <a:latin typeface="Cambria Math" panose="02040503050406030204" pitchFamily="18" charset="0"/>
                          </a:rPr>
                          <m:t>nonsens</m:t>
                        </m:r>
                      </m:sub>
                    </m:sSub>
                  </m:oMath>
                </a14:m>
                <a:r>
                  <a:rPr lang="en-US" sz="1200" dirty="0">
                    <a:solidFill>
                      <a:srgbClr val="0070C0"/>
                    </a:solidFill>
                  </a:rPr>
                  <a:t> to allocate more distillation capacity to sensitive classes</a:t>
                </a:r>
                <a:r>
                  <a:rPr lang="en-US" sz="1200" dirty="0"/>
                  <a:t>.</a:t>
                </a:r>
              </a:p>
            </p:txBody>
          </p:sp>
        </mc:Choice>
        <mc:Fallback xmlns="">
          <p:sp>
            <p:nvSpPr>
              <p:cNvPr id="3" name="Text Placeholder 2">
                <a:extLst>
                  <a:ext uri="{FF2B5EF4-FFF2-40B4-BE49-F238E27FC236}">
                    <a16:creationId xmlns:a16="http://schemas.microsoft.com/office/drawing/2014/main" id="{25AAB5CD-EF12-DFAF-8ABD-978E501FBDE4}"/>
                  </a:ext>
                </a:extLst>
              </p:cNvPr>
              <p:cNvSpPr>
                <a:spLocks noGrp="1" noRot="1" noChangeAspect="1" noMove="1" noResize="1" noEditPoints="1" noAdjustHandles="1" noChangeArrowheads="1" noChangeShapeType="1" noTextEdit="1"/>
              </p:cNvSpPr>
              <p:nvPr>
                <p:ph type="body" idx="1"/>
              </p:nvPr>
            </p:nvSpPr>
            <p:spPr>
              <a:xfrm>
                <a:off x="249600" y="815200"/>
                <a:ext cx="5586050" cy="3416400"/>
              </a:xfrm>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A029C92-9D58-DBED-AFAC-30D36AE5C26F}"/>
              </a:ext>
            </a:extLst>
          </p:cNvPr>
          <p:cNvPicPr>
            <a:picLocks noChangeAspect="1"/>
          </p:cNvPicPr>
          <p:nvPr/>
        </p:nvPicPr>
        <p:blipFill>
          <a:blip r:embed="rId3"/>
          <a:stretch>
            <a:fillRect/>
          </a:stretch>
        </p:blipFill>
        <p:spPr>
          <a:xfrm>
            <a:off x="888999" y="1187450"/>
            <a:ext cx="2244825" cy="1149350"/>
          </a:xfrm>
          <a:prstGeom prst="rect">
            <a:avLst/>
          </a:prstGeom>
        </p:spPr>
      </p:pic>
      <p:pic>
        <p:nvPicPr>
          <p:cNvPr id="7" name="Picture 6">
            <a:extLst>
              <a:ext uri="{FF2B5EF4-FFF2-40B4-BE49-F238E27FC236}">
                <a16:creationId xmlns:a16="http://schemas.microsoft.com/office/drawing/2014/main" id="{30A97C59-D5BB-DC23-0E86-CD85014F9151}"/>
              </a:ext>
            </a:extLst>
          </p:cNvPr>
          <p:cNvPicPr>
            <a:picLocks noChangeAspect="1"/>
          </p:cNvPicPr>
          <p:nvPr/>
        </p:nvPicPr>
        <p:blipFill>
          <a:blip r:embed="rId4"/>
          <a:stretch>
            <a:fillRect/>
          </a:stretch>
        </p:blipFill>
        <p:spPr>
          <a:xfrm>
            <a:off x="888999" y="2871450"/>
            <a:ext cx="2686051" cy="405089"/>
          </a:xfrm>
          <a:prstGeom prst="rect">
            <a:avLst/>
          </a:prstGeom>
        </p:spPr>
      </p:pic>
      <p:pic>
        <p:nvPicPr>
          <p:cNvPr id="11" name="Picture 10">
            <a:extLst>
              <a:ext uri="{FF2B5EF4-FFF2-40B4-BE49-F238E27FC236}">
                <a16:creationId xmlns:a16="http://schemas.microsoft.com/office/drawing/2014/main" id="{D9B801D1-807B-8E46-CD65-C0165FEC6467}"/>
              </a:ext>
            </a:extLst>
          </p:cNvPr>
          <p:cNvPicPr>
            <a:picLocks noChangeAspect="1"/>
          </p:cNvPicPr>
          <p:nvPr/>
        </p:nvPicPr>
        <p:blipFill>
          <a:blip r:embed="rId5"/>
          <a:stretch>
            <a:fillRect/>
          </a:stretch>
        </p:blipFill>
        <p:spPr>
          <a:xfrm>
            <a:off x="6385805" y="1684010"/>
            <a:ext cx="2446495" cy="2547590"/>
          </a:xfrm>
          <a:prstGeom prst="rect">
            <a:avLst/>
          </a:prstGeom>
        </p:spPr>
      </p:pic>
      <p:sp>
        <p:nvSpPr>
          <p:cNvPr id="4" name="Slide Number Placeholder 3">
            <a:extLst>
              <a:ext uri="{FF2B5EF4-FFF2-40B4-BE49-F238E27FC236}">
                <a16:creationId xmlns:a16="http://schemas.microsoft.com/office/drawing/2014/main" id="{9BFF07F0-0D85-1135-FC7F-A80C03B899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
        <p:nvSpPr>
          <p:cNvPr id="6" name="TextBox 5">
            <a:extLst>
              <a:ext uri="{FF2B5EF4-FFF2-40B4-BE49-F238E27FC236}">
                <a16:creationId xmlns:a16="http://schemas.microsoft.com/office/drawing/2014/main" id="{630836AF-1D79-7159-6E55-20AF1BFFBD94}"/>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3846694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56A9-FFE8-15FB-CB65-A907B012982B}"/>
              </a:ext>
            </a:extLst>
          </p:cNvPr>
          <p:cNvSpPr>
            <a:spLocks noGrp="1"/>
          </p:cNvSpPr>
          <p:nvPr>
            <p:ph type="title"/>
          </p:nvPr>
        </p:nvSpPr>
        <p:spPr/>
        <p:txBody>
          <a:bodyPr/>
          <a:lstStyle/>
          <a:p>
            <a:r>
              <a:rPr lang="en-US" sz="2200" b="1" dirty="0">
                <a:solidFill>
                  <a:srgbClr val="C01F21"/>
                </a:solidFill>
              </a:rPr>
              <a:t>LLPRI: Obfuscator with Joint Privacy-Utility Training</a:t>
            </a:r>
          </a:p>
        </p:txBody>
      </p:sp>
      <p:sp>
        <p:nvSpPr>
          <p:cNvPr id="3" name="Text Placeholder 2">
            <a:extLst>
              <a:ext uri="{FF2B5EF4-FFF2-40B4-BE49-F238E27FC236}">
                <a16:creationId xmlns:a16="http://schemas.microsoft.com/office/drawing/2014/main" id="{AE3982A5-9DCC-9832-8CFB-4180C17B12C4}"/>
              </a:ext>
            </a:extLst>
          </p:cNvPr>
          <p:cNvSpPr>
            <a:spLocks noGrp="1"/>
          </p:cNvSpPr>
          <p:nvPr>
            <p:ph type="body" idx="1"/>
          </p:nvPr>
        </p:nvSpPr>
        <p:spPr>
          <a:xfrm>
            <a:off x="249600" y="815200"/>
            <a:ext cx="8582700" cy="3090049"/>
          </a:xfrm>
        </p:spPr>
        <p:txBody>
          <a:bodyPr/>
          <a:lstStyle/>
          <a:p>
            <a:r>
              <a:rPr lang="en-US" sz="1600" dirty="0"/>
              <a:t>Client/server network</a:t>
            </a:r>
          </a:p>
          <a:p>
            <a:pPr marL="114300" indent="0">
              <a:buNone/>
            </a:pPr>
            <a:endParaRPr lang="en-US" sz="1600" dirty="0"/>
          </a:p>
          <a:p>
            <a:pPr marL="596900" lvl="1" indent="0">
              <a:buNone/>
            </a:pPr>
            <a:endParaRPr lang="en-US" sz="600" dirty="0"/>
          </a:p>
          <a:p>
            <a:pPr lvl="1">
              <a:buFont typeface="Times New Roman" panose="02020603050405020304" pitchFamily="18" charset="0"/>
              <a:buChar char="→"/>
            </a:pPr>
            <a:r>
              <a:rPr lang="en-US" sz="1200" dirty="0">
                <a:solidFill>
                  <a:srgbClr val="0070C0"/>
                </a:solidFill>
              </a:rPr>
              <a:t>Optimize downstream task utility</a:t>
            </a:r>
            <a:r>
              <a:rPr lang="en-US" sz="1200" dirty="0"/>
              <a:t>.</a:t>
            </a:r>
          </a:p>
          <a:p>
            <a:r>
              <a:rPr lang="en-US" sz="1600" dirty="0"/>
              <a:t>Adversary network</a:t>
            </a:r>
          </a:p>
          <a:p>
            <a:endParaRPr lang="en-US" sz="1600" dirty="0"/>
          </a:p>
          <a:p>
            <a:pPr marL="596900" lvl="1" indent="0">
              <a:buNone/>
            </a:pPr>
            <a:endParaRPr lang="en-US" sz="600" dirty="0"/>
          </a:p>
          <a:p>
            <a:pPr lvl="1">
              <a:buFont typeface="Times New Roman" panose="02020603050405020304" pitchFamily="18" charset="0"/>
              <a:buChar char="→"/>
            </a:pPr>
            <a:r>
              <a:rPr lang="en-US" sz="1200" dirty="0">
                <a:solidFill>
                  <a:srgbClr val="0070C0"/>
                </a:solidFill>
              </a:rPr>
              <a:t>Optimize the reconstruction quality</a:t>
            </a:r>
            <a:r>
              <a:rPr lang="en-US" sz="1200" dirty="0"/>
              <a:t>.</a:t>
            </a:r>
          </a:p>
          <a:p>
            <a:r>
              <a:rPr lang="en-US" sz="1600" dirty="0"/>
              <a:t>Mask generation network</a:t>
            </a:r>
          </a:p>
          <a:p>
            <a:endParaRPr lang="en-US" sz="1600" dirty="0"/>
          </a:p>
          <a:p>
            <a:pPr marL="596900" lvl="1" indent="0">
              <a:buNone/>
            </a:pPr>
            <a:endParaRPr lang="en-US" sz="600" dirty="0">
              <a:solidFill>
                <a:srgbClr val="0070C0"/>
              </a:solidFill>
            </a:endParaRPr>
          </a:p>
          <a:p>
            <a:pPr lvl="1">
              <a:buFont typeface="Times New Roman" panose="02020603050405020304" pitchFamily="18" charset="0"/>
              <a:buChar char="→"/>
            </a:pPr>
            <a:r>
              <a:rPr lang="en-US" sz="1200" dirty="0">
                <a:solidFill>
                  <a:srgbClr val="0070C0"/>
                </a:solidFill>
              </a:rPr>
              <a:t>Minimize utility loss while maximizing adversarial privacy loss</a:t>
            </a:r>
            <a:r>
              <a:rPr lang="en-US" sz="1200" dirty="0"/>
              <a:t>.</a:t>
            </a:r>
          </a:p>
          <a:p>
            <a:r>
              <a:rPr lang="en-US" sz="1600" dirty="0"/>
              <a:t>Privacy loss used in implementation</a:t>
            </a:r>
          </a:p>
          <a:p>
            <a:pPr marL="114300" indent="0">
              <a:buNone/>
            </a:pPr>
            <a:endParaRPr lang="en-US" sz="1200" i="1" dirty="0"/>
          </a:p>
        </p:txBody>
      </p:sp>
      <p:pic>
        <p:nvPicPr>
          <p:cNvPr id="5" name="Picture 4">
            <a:extLst>
              <a:ext uri="{FF2B5EF4-FFF2-40B4-BE49-F238E27FC236}">
                <a16:creationId xmlns:a16="http://schemas.microsoft.com/office/drawing/2014/main" id="{7CA6DB43-D5EF-ADD0-AA06-71C31C466B68}"/>
              </a:ext>
            </a:extLst>
          </p:cNvPr>
          <p:cNvPicPr>
            <a:picLocks noChangeAspect="1"/>
          </p:cNvPicPr>
          <p:nvPr/>
        </p:nvPicPr>
        <p:blipFill>
          <a:blip r:embed="rId2"/>
          <a:stretch>
            <a:fillRect/>
          </a:stretch>
        </p:blipFill>
        <p:spPr>
          <a:xfrm>
            <a:off x="908050" y="1238251"/>
            <a:ext cx="990031" cy="267248"/>
          </a:xfrm>
          <a:prstGeom prst="rect">
            <a:avLst/>
          </a:prstGeom>
        </p:spPr>
      </p:pic>
      <p:pic>
        <p:nvPicPr>
          <p:cNvPr id="7" name="Picture 6">
            <a:extLst>
              <a:ext uri="{FF2B5EF4-FFF2-40B4-BE49-F238E27FC236}">
                <a16:creationId xmlns:a16="http://schemas.microsoft.com/office/drawing/2014/main" id="{E0BC70AB-7F6A-B457-F14B-FFAF4B737140}"/>
              </a:ext>
            </a:extLst>
          </p:cNvPr>
          <p:cNvPicPr>
            <a:picLocks noChangeAspect="1"/>
          </p:cNvPicPr>
          <p:nvPr/>
        </p:nvPicPr>
        <p:blipFill>
          <a:blip r:embed="rId3"/>
          <a:stretch>
            <a:fillRect/>
          </a:stretch>
        </p:blipFill>
        <p:spPr>
          <a:xfrm>
            <a:off x="908050" y="2099147"/>
            <a:ext cx="952500" cy="267248"/>
          </a:xfrm>
          <a:prstGeom prst="rect">
            <a:avLst/>
          </a:prstGeom>
        </p:spPr>
      </p:pic>
      <p:pic>
        <p:nvPicPr>
          <p:cNvPr id="9" name="Picture 8">
            <a:extLst>
              <a:ext uri="{FF2B5EF4-FFF2-40B4-BE49-F238E27FC236}">
                <a16:creationId xmlns:a16="http://schemas.microsoft.com/office/drawing/2014/main" id="{FE86C2D9-E769-0EC7-B3F4-8EE87FBC7E71}"/>
              </a:ext>
            </a:extLst>
          </p:cNvPr>
          <p:cNvPicPr>
            <a:picLocks noChangeAspect="1"/>
          </p:cNvPicPr>
          <p:nvPr/>
        </p:nvPicPr>
        <p:blipFill>
          <a:blip r:embed="rId4"/>
          <a:stretch>
            <a:fillRect/>
          </a:stretch>
        </p:blipFill>
        <p:spPr>
          <a:xfrm>
            <a:off x="908050" y="2960044"/>
            <a:ext cx="2279650" cy="2951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62FF122-5356-B71F-CEAB-EA5FD395F6EB}"/>
                  </a:ext>
                </a:extLst>
              </p:cNvPr>
              <p:cNvSpPr txBox="1"/>
              <p:nvPr/>
            </p:nvSpPr>
            <p:spPr>
              <a:xfrm>
                <a:off x="825500" y="3830379"/>
                <a:ext cx="2235868" cy="2940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ℒ</m:t>
                          </m:r>
                        </m:e>
                        <m:sub>
                          <m:r>
                            <m:rPr>
                              <m:sty m:val="p"/>
                            </m:rPr>
                            <a:rPr lang="en-US" sz="1200">
                              <a:latin typeface="Cambria Math" panose="02040503050406030204" pitchFamily="18" charset="0"/>
                            </a:rPr>
                            <m:t>privacy</m:t>
                          </m:r>
                        </m:sub>
                      </m:sSub>
                      <m:d>
                        <m:dPr>
                          <m:ctrlPr>
                            <a:rPr lang="en-US" sz="1200" i="1">
                              <a:latin typeface="Cambria Math" panose="02040503050406030204" pitchFamily="18" charset="0"/>
                            </a:rPr>
                          </m:ctrlPr>
                        </m:dPr>
                        <m:e>
                          <m:r>
                            <a:rPr lang="en-US" sz="1200" i="1">
                              <a:latin typeface="Cambria Math" panose="02040503050406030204" pitchFamily="18" charset="0"/>
                            </a:rPr>
                            <m:t>𝐼</m:t>
                          </m:r>
                          <m:r>
                            <a:rPr lang="en-US" sz="1200" i="1">
                              <a:latin typeface="Cambria Math" panose="02040503050406030204" pitchFamily="18" charset="0"/>
                            </a:rPr>
                            <m:t>,</m:t>
                          </m:r>
                          <m:r>
                            <a:rPr lang="en-US" sz="1200" i="1">
                              <a:latin typeface="Cambria Math" panose="02040503050406030204" pitchFamily="18" charset="0"/>
                            </a:rPr>
                            <m:t>𝑅</m:t>
                          </m:r>
                        </m:e>
                      </m:d>
                      <m:r>
                        <a:rPr lang="en-US" sz="1200" i="1">
                          <a:latin typeface="Cambria Math" panose="02040503050406030204" pitchFamily="18" charset="0"/>
                        </a:rPr>
                        <m:t>=1−</m:t>
                      </m:r>
                      <m:r>
                        <m:rPr>
                          <m:sty m:val="p"/>
                        </m:rPr>
                        <a:rPr lang="en-US" sz="1200">
                          <a:latin typeface="Cambria Math" panose="02040503050406030204" pitchFamily="18" charset="0"/>
                        </a:rPr>
                        <m:t>SSIM</m:t>
                      </m:r>
                      <m:r>
                        <a:rPr lang="en-US" sz="1200" i="1">
                          <a:latin typeface="Cambria Math" panose="02040503050406030204" pitchFamily="18" charset="0"/>
                        </a:rPr>
                        <m:t>(</m:t>
                      </m:r>
                      <m:r>
                        <a:rPr lang="en-US" sz="1200" i="1">
                          <a:latin typeface="Cambria Math" panose="02040503050406030204" pitchFamily="18" charset="0"/>
                        </a:rPr>
                        <m:t>𝐼</m:t>
                      </m:r>
                      <m:r>
                        <a:rPr lang="en-US" sz="1200" i="1">
                          <a:latin typeface="Cambria Math" panose="02040503050406030204" pitchFamily="18" charset="0"/>
                        </a:rPr>
                        <m:t>,</m:t>
                      </m:r>
                      <m:r>
                        <a:rPr lang="en-US" sz="1200" i="1">
                          <a:latin typeface="Cambria Math" panose="02040503050406030204" pitchFamily="18" charset="0"/>
                        </a:rPr>
                        <m:t>𝑅</m:t>
                      </m:r>
                      <m:r>
                        <a:rPr lang="en-US" sz="1200" i="1">
                          <a:latin typeface="Cambria Math" panose="02040503050406030204" pitchFamily="18" charset="0"/>
                        </a:rPr>
                        <m:t>)</m:t>
                      </m:r>
                    </m:oMath>
                  </m:oMathPara>
                </a14:m>
                <a:endParaRPr lang="en-US" sz="1200" dirty="0"/>
              </a:p>
            </p:txBody>
          </p:sp>
        </mc:Choice>
        <mc:Fallback xmlns="">
          <p:sp>
            <p:nvSpPr>
              <p:cNvPr id="10" name="TextBox 9">
                <a:extLst>
                  <a:ext uri="{FF2B5EF4-FFF2-40B4-BE49-F238E27FC236}">
                    <a16:creationId xmlns:a16="http://schemas.microsoft.com/office/drawing/2014/main" id="{262FF122-5356-B71F-CEAB-EA5FD395F6EB}"/>
                  </a:ext>
                </a:extLst>
              </p:cNvPr>
              <p:cNvSpPr txBox="1">
                <a:spLocks noRot="1" noChangeAspect="1" noMove="1" noResize="1" noEditPoints="1" noAdjustHandles="1" noChangeArrowheads="1" noChangeShapeType="1" noTextEdit="1"/>
              </p:cNvSpPr>
              <p:nvPr/>
            </p:nvSpPr>
            <p:spPr>
              <a:xfrm>
                <a:off x="825500" y="3830379"/>
                <a:ext cx="2235868" cy="294055"/>
              </a:xfrm>
              <a:prstGeom prst="rect">
                <a:avLst/>
              </a:prstGeom>
              <a:blipFill>
                <a:blip r:embed="rId5"/>
                <a:stretch>
                  <a:fillRect/>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1DC10591-15D8-A9AD-A288-6F6DBCF6BF61}"/>
              </a:ext>
            </a:extLst>
          </p:cNvPr>
          <p:cNvPicPr>
            <a:picLocks noChangeAspect="1"/>
          </p:cNvPicPr>
          <p:nvPr/>
        </p:nvPicPr>
        <p:blipFill>
          <a:blip r:embed="rId6"/>
          <a:stretch>
            <a:fillRect/>
          </a:stretch>
        </p:blipFill>
        <p:spPr>
          <a:xfrm>
            <a:off x="6681756" y="1718619"/>
            <a:ext cx="1999346" cy="2482849"/>
          </a:xfrm>
          <a:prstGeom prst="rect">
            <a:avLst/>
          </a:prstGeom>
        </p:spPr>
      </p:pic>
      <p:sp>
        <p:nvSpPr>
          <p:cNvPr id="4" name="Slide Number Placeholder 3">
            <a:extLst>
              <a:ext uri="{FF2B5EF4-FFF2-40B4-BE49-F238E27FC236}">
                <a16:creationId xmlns:a16="http://schemas.microsoft.com/office/drawing/2014/main" id="{365B0102-3A0B-313E-A85F-8EB1A5CBC3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
        <p:nvSpPr>
          <p:cNvPr id="6" name="TextBox 5">
            <a:extLst>
              <a:ext uri="{FF2B5EF4-FFF2-40B4-BE49-F238E27FC236}">
                <a16:creationId xmlns:a16="http://schemas.microsoft.com/office/drawing/2014/main" id="{9E22F2E1-1F0D-04C6-D3FD-72F75659BE52}"/>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2521516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79F4-08DB-39EE-802F-327BFA45B1AD}"/>
              </a:ext>
            </a:extLst>
          </p:cNvPr>
          <p:cNvSpPr>
            <a:spLocks noGrp="1"/>
          </p:cNvSpPr>
          <p:nvPr>
            <p:ph type="title"/>
          </p:nvPr>
        </p:nvSpPr>
        <p:spPr/>
        <p:txBody>
          <a:bodyPr/>
          <a:lstStyle/>
          <a:p>
            <a:r>
              <a:rPr lang="en-US" sz="2200" b="1" dirty="0">
                <a:solidFill>
                  <a:srgbClr val="C01F21"/>
                </a:solidFill>
              </a:rPr>
              <a:t>LLPRI: Scheduler for Distributed Inference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8CEDB05-8C39-E0B6-8954-0B0F65608BA5}"/>
                  </a:ext>
                </a:extLst>
              </p:cNvPr>
              <p:cNvSpPr>
                <a:spLocks noGrp="1"/>
              </p:cNvSpPr>
              <p:nvPr>
                <p:ph type="body" idx="1"/>
              </p:nvPr>
            </p:nvSpPr>
            <p:spPr>
              <a:xfrm>
                <a:off x="249600" y="815200"/>
                <a:ext cx="6246450" cy="3416400"/>
              </a:xfrm>
            </p:spPr>
            <p:txBody>
              <a:bodyPr/>
              <a:lstStyle/>
              <a:p>
                <a:r>
                  <a:rPr lang="en-US" sz="1600" dirty="0"/>
                  <a:t>Sensitive image scheduling</a:t>
                </a:r>
              </a:p>
              <a:p>
                <a:endParaRPr lang="en-US" sz="1600" dirty="0"/>
              </a:p>
              <a:p>
                <a:pPr lvl="1">
                  <a:buFont typeface="Times New Roman" panose="02020603050405020304" pitchFamily="18" charset="0"/>
                  <a:buChar char="→"/>
                </a:pPr>
                <a:endParaRPr lang="en-US" sz="600" dirty="0"/>
              </a:p>
              <a:p>
                <a:pPr lvl="1">
                  <a:buFont typeface="Times New Roman" panose="02020603050405020304" pitchFamily="18" charset="0"/>
                  <a:buChar char="→"/>
                </a:pPr>
                <a:r>
                  <a:rPr lang="en-US" sz="1200" dirty="0"/>
                  <a:t>For each sensitive image </a:t>
                </a:r>
                <a14:m>
                  <m:oMath xmlns:m="http://schemas.openxmlformats.org/officeDocument/2006/math">
                    <m:r>
                      <a:rPr lang="en-US" sz="1200" b="0" i="1" smtClean="0">
                        <a:latin typeface="Cambria Math" panose="02040503050406030204" pitchFamily="18" charset="0"/>
                      </a:rPr>
                      <m:t>𝑛</m:t>
                    </m:r>
                  </m:oMath>
                </a14:m>
                <a:r>
                  <a:rPr lang="en-US" sz="1200" dirty="0"/>
                  <a:t>, estimate its inference time on each server </a:t>
                </a:r>
                <a14:m>
                  <m:oMath xmlns:m="http://schemas.openxmlformats.org/officeDocument/2006/math">
                    <m:r>
                      <a:rPr lang="en-US" sz="1200" b="0" i="1" smtClean="0">
                        <a:latin typeface="Cambria Math" panose="02040503050406030204" pitchFamily="18" charset="0"/>
                      </a:rPr>
                      <m:t>𝑚</m:t>
                    </m:r>
                  </m:oMath>
                </a14:m>
                <a:r>
                  <a:rPr lang="en-US" sz="1200" dirty="0"/>
                  <a:t>.</a:t>
                </a:r>
              </a:p>
              <a:p>
                <a:pPr lvl="1">
                  <a:buFont typeface="Times New Roman" panose="02020603050405020304" pitchFamily="18" charset="0"/>
                  <a:buChar char="→"/>
                </a:pPr>
                <a:r>
                  <a:rPr lang="en-US" sz="1200" dirty="0"/>
                  <a:t>Assign the image to the server with the </a:t>
                </a:r>
                <a:r>
                  <a:rPr lang="en-US" sz="1200" dirty="0">
                    <a:solidFill>
                      <a:srgbClr val="0070C0"/>
                    </a:solidFill>
                  </a:rPr>
                  <a:t>minimum estimated inference time</a:t>
                </a:r>
                <a:r>
                  <a:rPr lang="en-US" sz="1200" dirty="0"/>
                  <a:t>. </a:t>
                </a:r>
              </a:p>
              <a:p>
                <a:endParaRPr lang="en-US" sz="1200" dirty="0"/>
              </a:p>
              <a:p>
                <a:r>
                  <a:rPr lang="en-US" sz="1600" dirty="0"/>
                  <a:t>Non-sensitive image partitioning and scheduling</a:t>
                </a:r>
              </a:p>
              <a:p>
                <a:endParaRPr lang="en-US" sz="1600" dirty="0"/>
              </a:p>
              <a:p>
                <a:pPr lvl="1">
                  <a:buFont typeface="Times New Roman" panose="02020603050405020304" pitchFamily="18" charset="0"/>
                  <a:buChar char="→"/>
                </a:pPr>
                <a:endParaRPr lang="en-US" sz="600" dirty="0"/>
              </a:p>
              <a:p>
                <a:pPr lvl="1">
                  <a:buFont typeface="Times New Roman" panose="02020603050405020304" pitchFamily="18" charset="0"/>
                  <a:buChar char="→"/>
                </a:pPr>
                <a:r>
                  <a:rPr lang="en-US" sz="1200" dirty="0"/>
                  <a:t>Partition the non-sensitive remainder proportionally according to each server’s </a:t>
                </a:r>
                <a:r>
                  <a:rPr lang="en-US" sz="1200" dirty="0">
                    <a:solidFill>
                      <a:srgbClr val="0070C0"/>
                    </a:solidFill>
                  </a:rPr>
                  <a:t>available compute share</a:t>
                </a:r>
                <a:r>
                  <a:rPr lang="en-US" sz="1200" dirty="0"/>
                  <a:t>.</a:t>
                </a:r>
              </a:p>
              <a:p>
                <a:pPr lvl="1">
                  <a:buFont typeface="Times New Roman" panose="02020603050405020304" pitchFamily="18" charset="0"/>
                  <a:buChar char="→"/>
                </a:pPr>
                <a:r>
                  <a:rPr lang="en-US" sz="1200" dirty="0"/>
                  <a:t>Servers with higher available share process larger image portions.</a:t>
                </a:r>
              </a:p>
              <a:p>
                <a:endParaRPr lang="en-US" sz="1600" dirty="0"/>
              </a:p>
            </p:txBody>
          </p:sp>
        </mc:Choice>
        <mc:Fallback xmlns="">
          <p:sp>
            <p:nvSpPr>
              <p:cNvPr id="3" name="Text Placeholder 2">
                <a:extLst>
                  <a:ext uri="{FF2B5EF4-FFF2-40B4-BE49-F238E27FC236}">
                    <a16:creationId xmlns:a16="http://schemas.microsoft.com/office/drawing/2014/main" id="{F8CEDB05-8C39-E0B6-8954-0B0F65608BA5}"/>
                  </a:ext>
                </a:extLst>
              </p:cNvPr>
              <p:cNvSpPr>
                <a:spLocks noGrp="1" noRot="1" noChangeAspect="1" noMove="1" noResize="1" noEditPoints="1" noAdjustHandles="1" noChangeArrowheads="1" noChangeShapeType="1" noTextEdit="1"/>
              </p:cNvSpPr>
              <p:nvPr>
                <p:ph type="body" idx="1"/>
              </p:nvPr>
            </p:nvSpPr>
            <p:spPr>
              <a:xfrm>
                <a:off x="249600" y="815200"/>
                <a:ext cx="6246450" cy="3416400"/>
              </a:xfrm>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D7E4CB4-309A-FF97-A170-1AE42A1A1932}"/>
              </a:ext>
            </a:extLst>
          </p:cNvPr>
          <p:cNvPicPr>
            <a:picLocks noChangeAspect="1"/>
          </p:cNvPicPr>
          <p:nvPr/>
        </p:nvPicPr>
        <p:blipFill>
          <a:blip r:embed="rId3"/>
          <a:stretch>
            <a:fillRect/>
          </a:stretch>
        </p:blipFill>
        <p:spPr>
          <a:xfrm>
            <a:off x="933450" y="1257300"/>
            <a:ext cx="1898650" cy="255424"/>
          </a:xfrm>
          <a:prstGeom prst="rect">
            <a:avLst/>
          </a:prstGeom>
        </p:spPr>
      </p:pic>
      <p:pic>
        <p:nvPicPr>
          <p:cNvPr id="7" name="Picture 6">
            <a:extLst>
              <a:ext uri="{FF2B5EF4-FFF2-40B4-BE49-F238E27FC236}">
                <a16:creationId xmlns:a16="http://schemas.microsoft.com/office/drawing/2014/main" id="{EA6E18A7-2618-45BD-E147-A7A39266F049}"/>
              </a:ext>
            </a:extLst>
          </p:cNvPr>
          <p:cNvPicPr>
            <a:picLocks noChangeAspect="1"/>
          </p:cNvPicPr>
          <p:nvPr/>
        </p:nvPicPr>
        <p:blipFill>
          <a:blip r:embed="rId4"/>
          <a:stretch>
            <a:fillRect/>
          </a:stretch>
        </p:blipFill>
        <p:spPr>
          <a:xfrm>
            <a:off x="933450" y="2536910"/>
            <a:ext cx="3130550" cy="260180"/>
          </a:xfrm>
          <a:prstGeom prst="rect">
            <a:avLst/>
          </a:prstGeom>
        </p:spPr>
      </p:pic>
      <p:pic>
        <p:nvPicPr>
          <p:cNvPr id="9" name="Picture 8">
            <a:extLst>
              <a:ext uri="{FF2B5EF4-FFF2-40B4-BE49-F238E27FC236}">
                <a16:creationId xmlns:a16="http://schemas.microsoft.com/office/drawing/2014/main" id="{7DC5D355-98FB-6A22-14D6-650252BD2D75}"/>
              </a:ext>
            </a:extLst>
          </p:cNvPr>
          <p:cNvPicPr>
            <a:picLocks noChangeAspect="1"/>
          </p:cNvPicPr>
          <p:nvPr/>
        </p:nvPicPr>
        <p:blipFill>
          <a:blip r:embed="rId5"/>
          <a:stretch>
            <a:fillRect/>
          </a:stretch>
        </p:blipFill>
        <p:spPr>
          <a:xfrm>
            <a:off x="6289738" y="2152650"/>
            <a:ext cx="2604662" cy="2078950"/>
          </a:xfrm>
          <a:prstGeom prst="rect">
            <a:avLst/>
          </a:prstGeom>
        </p:spPr>
      </p:pic>
      <p:sp>
        <p:nvSpPr>
          <p:cNvPr id="4" name="Slide Number Placeholder 3">
            <a:extLst>
              <a:ext uri="{FF2B5EF4-FFF2-40B4-BE49-F238E27FC236}">
                <a16:creationId xmlns:a16="http://schemas.microsoft.com/office/drawing/2014/main" id="{D32DDFBA-57AC-FF52-0FBA-F52C30CC83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
        <p:nvSpPr>
          <p:cNvPr id="6" name="TextBox 5">
            <a:extLst>
              <a:ext uri="{FF2B5EF4-FFF2-40B4-BE49-F238E27FC236}">
                <a16:creationId xmlns:a16="http://schemas.microsoft.com/office/drawing/2014/main" id="{E8C4E0C7-613C-EE98-49FD-A9959EB96794}"/>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2469385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0497-6EBF-2FF4-AA5B-44ADAF92373B}"/>
              </a:ext>
            </a:extLst>
          </p:cNvPr>
          <p:cNvSpPr>
            <a:spLocks noGrp="1"/>
          </p:cNvSpPr>
          <p:nvPr>
            <p:ph type="title"/>
          </p:nvPr>
        </p:nvSpPr>
        <p:spPr/>
        <p:txBody>
          <a:bodyPr/>
          <a:lstStyle/>
          <a:p>
            <a:r>
              <a:rPr lang="en-US" sz="2200" b="1" dirty="0">
                <a:solidFill>
                  <a:srgbClr val="C01F21"/>
                </a:solidFill>
              </a:rPr>
              <a:t>LLPRI: Evaluation Metrics</a:t>
            </a:r>
          </a:p>
        </p:txBody>
      </p:sp>
      <p:sp>
        <p:nvSpPr>
          <p:cNvPr id="3" name="Text Placeholder 2">
            <a:extLst>
              <a:ext uri="{FF2B5EF4-FFF2-40B4-BE49-F238E27FC236}">
                <a16:creationId xmlns:a16="http://schemas.microsoft.com/office/drawing/2014/main" id="{BE8F74C4-2A60-77A4-D331-D14B6554CCCC}"/>
              </a:ext>
            </a:extLst>
          </p:cNvPr>
          <p:cNvSpPr>
            <a:spLocks noGrp="1"/>
          </p:cNvSpPr>
          <p:nvPr>
            <p:ph type="body" idx="1"/>
          </p:nvPr>
        </p:nvSpPr>
        <p:spPr/>
        <p:txBody>
          <a:bodyPr/>
          <a:lstStyle/>
          <a:p>
            <a:r>
              <a:rPr lang="en-US" sz="1600" dirty="0"/>
              <a:t>SSIM: Structural Similarity</a:t>
            </a:r>
          </a:p>
          <a:p>
            <a:endParaRPr lang="en-US" sz="1600" dirty="0"/>
          </a:p>
          <a:p>
            <a:endParaRPr lang="en-US" sz="1600" dirty="0"/>
          </a:p>
          <a:p>
            <a:endParaRPr lang="en-US" sz="1600" dirty="0"/>
          </a:p>
          <a:p>
            <a:r>
              <a:rPr lang="en-US" sz="1600" dirty="0"/>
              <a:t>SIM: Semantic Embedding Similarity</a:t>
            </a:r>
          </a:p>
          <a:p>
            <a:endParaRPr lang="en-US" sz="1600" dirty="0"/>
          </a:p>
          <a:p>
            <a:endParaRPr lang="en-US" sz="1600" dirty="0"/>
          </a:p>
          <a:p>
            <a:endParaRPr lang="en-US" sz="1600" dirty="0"/>
          </a:p>
          <a:p>
            <a:endParaRPr lang="en-US" sz="600" dirty="0"/>
          </a:p>
          <a:p>
            <a:r>
              <a:rPr lang="en-US" sz="1600" dirty="0"/>
              <a:t>NMI: Normalized Mutual Information</a:t>
            </a:r>
          </a:p>
          <a:p>
            <a:endParaRPr lang="en-US" sz="1600" dirty="0"/>
          </a:p>
          <a:p>
            <a:endParaRPr lang="en-US" sz="1600" dirty="0"/>
          </a:p>
        </p:txBody>
      </p:sp>
      <p:pic>
        <p:nvPicPr>
          <p:cNvPr id="5" name="Picture 4">
            <a:extLst>
              <a:ext uri="{FF2B5EF4-FFF2-40B4-BE49-F238E27FC236}">
                <a16:creationId xmlns:a16="http://schemas.microsoft.com/office/drawing/2014/main" id="{4D36FAC9-5662-F77B-EC13-1958607AFC5F}"/>
              </a:ext>
            </a:extLst>
          </p:cNvPr>
          <p:cNvPicPr>
            <a:picLocks noChangeAspect="1"/>
          </p:cNvPicPr>
          <p:nvPr/>
        </p:nvPicPr>
        <p:blipFill>
          <a:blip r:embed="rId3"/>
          <a:stretch>
            <a:fillRect/>
          </a:stretch>
        </p:blipFill>
        <p:spPr>
          <a:xfrm>
            <a:off x="777875" y="2443671"/>
            <a:ext cx="2578100" cy="256157"/>
          </a:xfrm>
          <a:prstGeom prst="rect">
            <a:avLst/>
          </a:prstGeom>
        </p:spPr>
      </p:pic>
      <p:pic>
        <p:nvPicPr>
          <p:cNvPr id="7" name="Picture 6">
            <a:extLst>
              <a:ext uri="{FF2B5EF4-FFF2-40B4-BE49-F238E27FC236}">
                <a16:creationId xmlns:a16="http://schemas.microsoft.com/office/drawing/2014/main" id="{16FAB943-98F9-E898-5174-E3F2763F0AAD}"/>
              </a:ext>
            </a:extLst>
          </p:cNvPr>
          <p:cNvPicPr>
            <a:picLocks noChangeAspect="1"/>
          </p:cNvPicPr>
          <p:nvPr/>
        </p:nvPicPr>
        <p:blipFill>
          <a:blip r:embed="rId4"/>
          <a:stretch>
            <a:fillRect/>
          </a:stretch>
        </p:blipFill>
        <p:spPr>
          <a:xfrm>
            <a:off x="806450" y="1397152"/>
            <a:ext cx="2184400" cy="257881"/>
          </a:xfrm>
          <a:prstGeom prst="rect">
            <a:avLst/>
          </a:prstGeom>
        </p:spPr>
      </p:pic>
      <p:pic>
        <p:nvPicPr>
          <p:cNvPr id="9" name="Picture 8">
            <a:extLst>
              <a:ext uri="{FF2B5EF4-FFF2-40B4-BE49-F238E27FC236}">
                <a16:creationId xmlns:a16="http://schemas.microsoft.com/office/drawing/2014/main" id="{E48B04FA-E752-E14A-FCCA-5AB7CA3C1D9E}"/>
              </a:ext>
            </a:extLst>
          </p:cNvPr>
          <p:cNvPicPr>
            <a:picLocks noChangeAspect="1"/>
          </p:cNvPicPr>
          <p:nvPr/>
        </p:nvPicPr>
        <p:blipFill>
          <a:blip r:embed="rId5"/>
          <a:stretch>
            <a:fillRect/>
          </a:stretch>
        </p:blipFill>
        <p:spPr>
          <a:xfrm>
            <a:off x="777875" y="3648706"/>
            <a:ext cx="2305050" cy="272183"/>
          </a:xfrm>
          <a:prstGeom prst="rect">
            <a:avLst/>
          </a:prstGeom>
        </p:spPr>
      </p:pic>
      <p:pic>
        <p:nvPicPr>
          <p:cNvPr id="11" name="Picture 10">
            <a:extLst>
              <a:ext uri="{FF2B5EF4-FFF2-40B4-BE49-F238E27FC236}">
                <a16:creationId xmlns:a16="http://schemas.microsoft.com/office/drawing/2014/main" id="{0F002C68-83A3-A11B-D304-BE0820DFEDC8}"/>
              </a:ext>
            </a:extLst>
          </p:cNvPr>
          <p:cNvPicPr>
            <a:picLocks noChangeAspect="1"/>
          </p:cNvPicPr>
          <p:nvPr/>
        </p:nvPicPr>
        <p:blipFill>
          <a:blip r:embed="rId6"/>
          <a:stretch>
            <a:fillRect/>
          </a:stretch>
        </p:blipFill>
        <p:spPr>
          <a:xfrm>
            <a:off x="3721100" y="1231050"/>
            <a:ext cx="2432052" cy="646988"/>
          </a:xfrm>
          <a:prstGeom prst="rect">
            <a:avLst/>
          </a:prstGeom>
        </p:spPr>
      </p:pic>
      <p:sp>
        <p:nvSpPr>
          <p:cNvPr id="12" name="TextBox 11">
            <a:extLst>
              <a:ext uri="{FF2B5EF4-FFF2-40B4-BE49-F238E27FC236}">
                <a16:creationId xmlns:a16="http://schemas.microsoft.com/office/drawing/2014/main" id="{7DAA3BEB-563E-732C-E62F-1C637A3831D9}"/>
              </a:ext>
            </a:extLst>
          </p:cNvPr>
          <p:cNvSpPr txBox="1"/>
          <p:nvPr/>
        </p:nvSpPr>
        <p:spPr>
          <a:xfrm>
            <a:off x="3118200" y="1397152"/>
            <a:ext cx="475550" cy="276999"/>
          </a:xfrm>
          <a:prstGeom prst="rect">
            <a:avLst/>
          </a:prstGeom>
          <a:noFill/>
        </p:spPr>
        <p:txBody>
          <a:bodyPr wrap="square" rtlCol="0">
            <a:spAutoFit/>
          </a:bodyPr>
          <a:lstStyle/>
          <a:p>
            <a:r>
              <a:rPr lang="en-US" sz="1200" dirty="0"/>
              <a:t>with</a:t>
            </a:r>
          </a:p>
        </p:txBody>
      </p:sp>
      <p:pic>
        <p:nvPicPr>
          <p:cNvPr id="14" name="Picture 13">
            <a:extLst>
              <a:ext uri="{FF2B5EF4-FFF2-40B4-BE49-F238E27FC236}">
                <a16:creationId xmlns:a16="http://schemas.microsoft.com/office/drawing/2014/main" id="{3F935DA0-C1CE-8FC9-3442-97DEC6CF0A94}"/>
              </a:ext>
            </a:extLst>
          </p:cNvPr>
          <p:cNvPicPr>
            <a:picLocks noChangeAspect="1"/>
          </p:cNvPicPr>
          <p:nvPr/>
        </p:nvPicPr>
        <p:blipFill>
          <a:blip r:embed="rId7"/>
          <a:stretch>
            <a:fillRect/>
          </a:stretch>
        </p:blipFill>
        <p:spPr>
          <a:xfrm>
            <a:off x="1253425" y="2826916"/>
            <a:ext cx="3500800" cy="251919"/>
          </a:xfrm>
          <a:prstGeom prst="rect">
            <a:avLst/>
          </a:prstGeom>
        </p:spPr>
      </p:pic>
      <p:sp>
        <p:nvSpPr>
          <p:cNvPr id="15" name="TextBox 14">
            <a:extLst>
              <a:ext uri="{FF2B5EF4-FFF2-40B4-BE49-F238E27FC236}">
                <a16:creationId xmlns:a16="http://schemas.microsoft.com/office/drawing/2014/main" id="{2E6A3435-E7EA-3B21-187F-820764139AE6}"/>
              </a:ext>
            </a:extLst>
          </p:cNvPr>
          <p:cNvSpPr txBox="1"/>
          <p:nvPr/>
        </p:nvSpPr>
        <p:spPr>
          <a:xfrm>
            <a:off x="777875" y="2813074"/>
            <a:ext cx="475550" cy="276999"/>
          </a:xfrm>
          <a:prstGeom prst="rect">
            <a:avLst/>
          </a:prstGeom>
          <a:noFill/>
        </p:spPr>
        <p:txBody>
          <a:bodyPr wrap="square" rtlCol="0">
            <a:spAutoFit/>
          </a:bodyPr>
          <a:lstStyle/>
          <a:p>
            <a:r>
              <a:rPr lang="en-US" sz="1200" dirty="0"/>
              <a:t>with</a:t>
            </a:r>
          </a:p>
        </p:txBody>
      </p:sp>
      <p:pic>
        <p:nvPicPr>
          <p:cNvPr id="17" name="Picture 16">
            <a:extLst>
              <a:ext uri="{FF2B5EF4-FFF2-40B4-BE49-F238E27FC236}">
                <a16:creationId xmlns:a16="http://schemas.microsoft.com/office/drawing/2014/main" id="{FF4B446E-8542-6730-CEE1-1ACDD4F6A6AE}"/>
              </a:ext>
            </a:extLst>
          </p:cNvPr>
          <p:cNvPicPr>
            <a:picLocks noChangeAspect="1"/>
          </p:cNvPicPr>
          <p:nvPr/>
        </p:nvPicPr>
        <p:blipFill>
          <a:blip r:embed="rId8"/>
          <a:stretch>
            <a:fillRect/>
          </a:stretch>
        </p:blipFill>
        <p:spPr>
          <a:xfrm>
            <a:off x="5679216" y="2267245"/>
            <a:ext cx="3153084" cy="1964355"/>
          </a:xfrm>
          <a:prstGeom prst="rect">
            <a:avLst/>
          </a:prstGeom>
        </p:spPr>
      </p:pic>
      <p:sp>
        <p:nvSpPr>
          <p:cNvPr id="4" name="Slide Number Placeholder 3">
            <a:extLst>
              <a:ext uri="{FF2B5EF4-FFF2-40B4-BE49-F238E27FC236}">
                <a16:creationId xmlns:a16="http://schemas.microsoft.com/office/drawing/2014/main" id="{B6DE9017-1AD7-F9FF-916F-906EAFBB2E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
        <p:nvSpPr>
          <p:cNvPr id="6" name="TextBox 5">
            <a:extLst>
              <a:ext uri="{FF2B5EF4-FFF2-40B4-BE49-F238E27FC236}">
                <a16:creationId xmlns:a16="http://schemas.microsoft.com/office/drawing/2014/main" id="{A036FFB9-7432-1DD6-A6AA-9D381CF81BD3}"/>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13990776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6B00-ED7F-6E5D-EDCE-9BD7234179E7}"/>
              </a:ext>
            </a:extLst>
          </p:cNvPr>
          <p:cNvSpPr>
            <a:spLocks noGrp="1"/>
          </p:cNvSpPr>
          <p:nvPr>
            <p:ph type="title"/>
          </p:nvPr>
        </p:nvSpPr>
        <p:spPr/>
        <p:txBody>
          <a:bodyPr/>
          <a:lstStyle/>
          <a:p>
            <a:r>
              <a:rPr lang="en-US" sz="2200" b="1" dirty="0">
                <a:solidFill>
                  <a:srgbClr val="C01F21"/>
                </a:solidFill>
              </a:rPr>
              <a:t>LLPRI: Ablation Studies</a:t>
            </a:r>
          </a:p>
        </p:txBody>
      </p:sp>
      <p:sp>
        <p:nvSpPr>
          <p:cNvPr id="8" name="TextBox 7">
            <a:extLst>
              <a:ext uri="{FF2B5EF4-FFF2-40B4-BE49-F238E27FC236}">
                <a16:creationId xmlns:a16="http://schemas.microsoft.com/office/drawing/2014/main" id="{60738E43-2A18-CE53-3550-29EC9E9337F4}"/>
              </a:ext>
            </a:extLst>
          </p:cNvPr>
          <p:cNvSpPr txBox="1"/>
          <p:nvPr/>
        </p:nvSpPr>
        <p:spPr>
          <a:xfrm>
            <a:off x="5076988" y="1636033"/>
            <a:ext cx="3331032" cy="523220"/>
          </a:xfrm>
          <a:prstGeom prst="rect">
            <a:avLst/>
          </a:prstGeom>
          <a:noFill/>
        </p:spPr>
        <p:txBody>
          <a:bodyPr wrap="square" rtlCol="0">
            <a:spAutoFit/>
          </a:bodyPr>
          <a:lstStyle/>
          <a:p>
            <a:r>
              <a:rPr lang="en-US" b="1" dirty="0">
                <a:solidFill>
                  <a:srgbClr val="C01F21"/>
                </a:solidFill>
              </a:rPr>
              <a:t>Impact of Split Point on Performance</a:t>
            </a:r>
          </a:p>
          <a:p>
            <a:endParaRPr lang="en-US" dirty="0"/>
          </a:p>
        </p:txBody>
      </p:sp>
      <p:sp>
        <p:nvSpPr>
          <p:cNvPr id="9" name="TextBox 8">
            <a:extLst>
              <a:ext uri="{FF2B5EF4-FFF2-40B4-BE49-F238E27FC236}">
                <a16:creationId xmlns:a16="http://schemas.microsoft.com/office/drawing/2014/main" id="{A5CC0D5A-0C22-DC24-9377-A38587A7CBBB}"/>
              </a:ext>
            </a:extLst>
          </p:cNvPr>
          <p:cNvSpPr txBox="1"/>
          <p:nvPr/>
        </p:nvSpPr>
        <p:spPr>
          <a:xfrm>
            <a:off x="203511" y="1528311"/>
            <a:ext cx="4187747" cy="738664"/>
          </a:xfrm>
          <a:prstGeom prst="rect">
            <a:avLst/>
          </a:prstGeom>
          <a:noFill/>
        </p:spPr>
        <p:txBody>
          <a:bodyPr wrap="square" rtlCol="0">
            <a:spAutoFit/>
          </a:bodyPr>
          <a:lstStyle/>
          <a:p>
            <a:pPr algn="ctr"/>
            <a:r>
              <a:rPr lang="en-US" b="1" dirty="0">
                <a:solidFill>
                  <a:srgbClr val="C01F21"/>
                </a:solidFill>
              </a:rPr>
              <a:t>Comparison of Sensitive Object Detector Variants</a:t>
            </a:r>
          </a:p>
          <a:p>
            <a:endParaRPr lang="en-US" dirty="0"/>
          </a:p>
        </p:txBody>
      </p:sp>
      <p:pic>
        <p:nvPicPr>
          <p:cNvPr id="11" name="Picture 10">
            <a:extLst>
              <a:ext uri="{FF2B5EF4-FFF2-40B4-BE49-F238E27FC236}">
                <a16:creationId xmlns:a16="http://schemas.microsoft.com/office/drawing/2014/main" id="{97B3D3EA-5DBD-A41C-D33E-E68791AA3C4D}"/>
              </a:ext>
            </a:extLst>
          </p:cNvPr>
          <p:cNvPicPr>
            <a:picLocks noChangeAspect="1"/>
          </p:cNvPicPr>
          <p:nvPr/>
        </p:nvPicPr>
        <p:blipFill>
          <a:blip r:embed="rId2"/>
          <a:stretch>
            <a:fillRect/>
          </a:stretch>
        </p:blipFill>
        <p:spPr>
          <a:xfrm>
            <a:off x="249600" y="2159253"/>
            <a:ext cx="4187747" cy="1137190"/>
          </a:xfrm>
          <a:prstGeom prst="rect">
            <a:avLst/>
          </a:prstGeom>
        </p:spPr>
      </p:pic>
      <p:pic>
        <p:nvPicPr>
          <p:cNvPr id="13" name="Picture 12">
            <a:extLst>
              <a:ext uri="{FF2B5EF4-FFF2-40B4-BE49-F238E27FC236}">
                <a16:creationId xmlns:a16="http://schemas.microsoft.com/office/drawing/2014/main" id="{12C18C11-DCD9-FF17-6D6F-522957EC25AC}"/>
              </a:ext>
            </a:extLst>
          </p:cNvPr>
          <p:cNvPicPr>
            <a:picLocks noChangeAspect="1"/>
          </p:cNvPicPr>
          <p:nvPr/>
        </p:nvPicPr>
        <p:blipFill>
          <a:blip r:embed="rId3"/>
          <a:stretch>
            <a:fillRect/>
          </a:stretch>
        </p:blipFill>
        <p:spPr>
          <a:xfrm>
            <a:off x="4644553" y="2159253"/>
            <a:ext cx="4187747" cy="806393"/>
          </a:xfrm>
          <a:prstGeom prst="rect">
            <a:avLst/>
          </a:prstGeom>
        </p:spPr>
      </p:pic>
      <p:sp>
        <p:nvSpPr>
          <p:cNvPr id="3" name="Slide Number Placeholder 2">
            <a:extLst>
              <a:ext uri="{FF2B5EF4-FFF2-40B4-BE49-F238E27FC236}">
                <a16:creationId xmlns:a16="http://schemas.microsoft.com/office/drawing/2014/main" id="{49EFB5E3-7BF7-E50C-D459-D9AF42A17B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
        <p:nvSpPr>
          <p:cNvPr id="4" name="TextBox 3">
            <a:extLst>
              <a:ext uri="{FF2B5EF4-FFF2-40B4-BE49-F238E27FC236}">
                <a16:creationId xmlns:a16="http://schemas.microsoft.com/office/drawing/2014/main" id="{2682E925-8222-E6E0-5E13-A9812CF78941}"/>
              </a:ext>
            </a:extLst>
          </p:cNvPr>
          <p:cNvSpPr txBox="1"/>
          <p:nvPr/>
        </p:nvSpPr>
        <p:spPr>
          <a:xfrm>
            <a:off x="1417580" y="4552818"/>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“LLPRI: Low-Latency Private ML Inference for Vision Tasks in Distributed Environments,” </a:t>
            </a:r>
          </a:p>
          <a:p>
            <a:pPr lvl="0">
              <a:buSzPts val="2800"/>
            </a:pPr>
            <a:r>
              <a:rPr lang="en-US" sz="800" dirty="0">
                <a:solidFill>
                  <a:schemeClr val="bg1"/>
                </a:solidFill>
              </a:rPr>
              <a:t>under review in </a:t>
            </a:r>
            <a:r>
              <a:rPr lang="en-US" sz="800" i="1" dirty="0">
                <a:solidFill>
                  <a:schemeClr val="bg1"/>
                </a:solidFill>
              </a:rPr>
              <a:t>IEEE Transactions on Dependable and Secure Computing</a:t>
            </a:r>
            <a:endParaRPr lang="en-US" sz="800" dirty="0">
              <a:solidFill>
                <a:schemeClr val="bg1"/>
              </a:solidFill>
            </a:endParaRPr>
          </a:p>
        </p:txBody>
      </p:sp>
    </p:spTree>
    <p:extLst>
      <p:ext uri="{BB962C8B-B14F-4D97-AF65-F5344CB8AC3E}">
        <p14:creationId xmlns:p14="http://schemas.microsoft.com/office/powerpoint/2010/main" val="40733026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EAC38-7D57-EDB1-1089-89475E17D8D9}"/>
              </a:ext>
            </a:extLst>
          </p:cNvPr>
          <p:cNvSpPr>
            <a:spLocks noGrp="1"/>
          </p:cNvSpPr>
          <p:nvPr>
            <p:ph type="title"/>
          </p:nvPr>
        </p:nvSpPr>
        <p:spPr/>
        <p:txBody>
          <a:bodyPr/>
          <a:lstStyle/>
          <a:p>
            <a:r>
              <a:rPr lang="en-US" sz="2200" b="1" dirty="0">
                <a:solidFill>
                  <a:srgbClr val="C01F21"/>
                </a:solidFill>
              </a:rPr>
              <a:t>Cloud-Edge HW-NAS: Problem Formulation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E708A5-31CE-941F-6273-BB3F5739120D}"/>
                  </a:ext>
                </a:extLst>
              </p:cNvPr>
              <p:cNvSpPr>
                <a:spLocks noGrp="1"/>
              </p:cNvSpPr>
              <p:nvPr>
                <p:ph type="body" idx="1"/>
              </p:nvPr>
            </p:nvSpPr>
            <p:spPr>
              <a:xfrm>
                <a:off x="490386" y="1799989"/>
                <a:ext cx="8163227" cy="2023917"/>
              </a:xfrm>
            </p:spPr>
            <p:txBody>
              <a:bodyPr/>
              <a:lstStyle/>
              <a:p>
                <a:pPr>
                  <a:spcAft>
                    <a:spcPts val="1000"/>
                  </a:spcAft>
                </a:pPr>
                <a14:m>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oMath>
                </a14:m>
                <a:r>
                  <a:rPr lang="en-US" sz="1600" dirty="0"/>
                  <a:t>: task utility</a:t>
                </a:r>
              </a:p>
              <a:p>
                <a:pPr>
                  <a:spcAft>
                    <a:spcPts val="1000"/>
                  </a:spcAft>
                </a:pPr>
                <a14:m>
                  <m:oMath xmlns:m="http://schemas.openxmlformats.org/officeDocument/2006/math">
                    <m:r>
                      <a:rPr lang="en-US" sz="1600" b="0" i="1" smtClean="0">
                        <a:latin typeface="Cambria Math" panose="02040503050406030204" pitchFamily="18" charset="0"/>
                      </a:rPr>
                      <m:t>𝑀</m:t>
                    </m:r>
                    <m:r>
                      <a:rPr lang="en-US" sz="1600" i="1">
                        <a:latin typeface="Cambria Math" panose="02040503050406030204" pitchFamily="18" charset="0"/>
                      </a:rPr>
                      <m:t>(∙)</m:t>
                    </m:r>
                  </m:oMath>
                </a14:m>
                <a:r>
                  <a:rPr lang="en-US" sz="1600" dirty="0"/>
                  <a:t>: memory usage</a:t>
                </a:r>
              </a:p>
              <a:p>
                <a:pPr>
                  <a:spcAft>
                    <a:spcPts val="1000"/>
                  </a:spcAft>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𝐿</m:t>
                        </m:r>
                      </m:e>
                      <m:sub>
                        <m:r>
                          <m:rPr>
                            <m:sty m:val="p"/>
                          </m:rPr>
                          <a:rPr lang="en-US" sz="1600">
                            <a:latin typeface="Cambria Math" panose="02040503050406030204" pitchFamily="18" charset="0"/>
                          </a:rPr>
                          <m:t>j</m:t>
                        </m:r>
                      </m:sub>
                    </m:sSub>
                    <m:r>
                      <a:rPr lang="en-US" sz="1600" i="1">
                        <a:latin typeface="Cambria Math" panose="02040503050406030204" pitchFamily="18" charset="0"/>
                      </a:rPr>
                      <m:t>(</m:t>
                    </m:r>
                    <m:r>
                      <a:rPr lang="en-US" sz="1600" i="1">
                        <a:latin typeface="Cambria Math" panose="02040503050406030204" pitchFamily="18" charset="0"/>
                        <a:ea typeface="Cambria Math" panose="02040503050406030204" pitchFamily="18" charset="0"/>
                      </a:rPr>
                      <m:t>∙)</m:t>
                    </m:r>
                  </m:oMath>
                </a14:m>
                <a:r>
                  <a:rPr lang="en-US" sz="1600" dirty="0"/>
                  <a:t>: type-j latency, with j </a:t>
                </a:r>
                <a14:m>
                  <m:oMath xmlns:m="http://schemas.openxmlformats.org/officeDocument/2006/math">
                    <m:r>
                      <a:rPr lang="en-US" sz="1600" b="0" i="1" smtClean="0">
                        <a:latin typeface="Cambria Math" panose="02040503050406030204" pitchFamily="18" charset="0"/>
                        <a:ea typeface="Cambria Math" panose="02040503050406030204" pitchFamily="18" charset="0"/>
                      </a:rPr>
                      <m:t>∈</m:t>
                    </m:r>
                  </m:oMath>
                </a14:m>
                <a:r>
                  <a:rPr lang="en-US" sz="1600" dirty="0"/>
                  <a:t> J and J is the set of latency metric of interest during inference.</a:t>
                </a:r>
              </a:p>
              <a:p>
                <a:pPr>
                  <a:spcAft>
                    <a:spcPts val="1000"/>
                  </a:spcAft>
                </a:pPr>
                <a:r>
                  <a:rPr lang="en-US" sz="1600" dirty="0"/>
                  <a:t>Utility </a:t>
                </a:r>
                <a14:m>
                  <m:oMath xmlns:m="http://schemas.openxmlformats.org/officeDocument/2006/math">
                    <m:r>
                      <a:rPr lang="en-US" sz="1600" b="0" i="1" smtClean="0">
                        <a:latin typeface="Cambria Math" panose="02040503050406030204" pitchFamily="18" charset="0"/>
                      </a:rPr>
                      <m:t>𝑈</m:t>
                    </m:r>
                    <m:r>
                      <a:rPr lang="en-US" sz="1600" b="0" i="1" smtClean="0">
                        <a:latin typeface="Cambria Math" panose="02040503050406030204" pitchFamily="18" charset="0"/>
                      </a:rPr>
                      <m:t>(∙)</m:t>
                    </m:r>
                  </m:oMath>
                </a14:m>
                <a:r>
                  <a:rPr lang="en-US" sz="1600" dirty="0"/>
                  <a:t> is task specific.</a:t>
                </a:r>
              </a:p>
              <a:p>
                <a:pPr>
                  <a:spcAft>
                    <a:spcPts val="1000"/>
                  </a:spcAft>
                </a:pPr>
                <a:r>
                  <a:rPr lang="en-US" sz="1600" dirty="0"/>
                  <a:t>Latency constraints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𝐿</m:t>
                        </m:r>
                      </m:e>
                      <m:sub>
                        <m:r>
                          <m:rPr>
                            <m:sty m:val="p"/>
                          </m:rPr>
                          <a:rPr lang="en-US" sz="1600" b="0" i="0" smtClean="0">
                            <a:latin typeface="Cambria Math" panose="02040503050406030204" pitchFamily="18" charset="0"/>
                          </a:rPr>
                          <m:t>j</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oMath>
                </a14:m>
                <a:r>
                  <a:rPr lang="en-US" sz="1600" dirty="0"/>
                  <a:t> are task-dependent. </a:t>
                </a:r>
              </a:p>
            </p:txBody>
          </p:sp>
        </mc:Choice>
        <mc:Fallback xmlns="">
          <p:sp>
            <p:nvSpPr>
              <p:cNvPr id="3" name="Text Placeholder 2">
                <a:extLst>
                  <a:ext uri="{FF2B5EF4-FFF2-40B4-BE49-F238E27FC236}">
                    <a16:creationId xmlns:a16="http://schemas.microsoft.com/office/drawing/2014/main" id="{87E708A5-31CE-941F-6273-BB3F5739120D}"/>
                  </a:ext>
                </a:extLst>
              </p:cNvPr>
              <p:cNvSpPr>
                <a:spLocks noGrp="1" noRot="1" noChangeAspect="1" noMove="1" noResize="1" noEditPoints="1" noAdjustHandles="1" noChangeArrowheads="1" noChangeShapeType="1" noTextEdit="1"/>
              </p:cNvSpPr>
              <p:nvPr>
                <p:ph type="body" idx="1"/>
              </p:nvPr>
            </p:nvSpPr>
            <p:spPr>
              <a:xfrm>
                <a:off x="490386" y="1799989"/>
                <a:ext cx="8163227" cy="2023917"/>
              </a:xfrm>
              <a:blipFill>
                <a:blip r:embed="rId2"/>
                <a:stretch>
                  <a:fillRect b="-2062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D3A89BE-A189-3DA0-3F2D-D4B88A91BDC6}"/>
              </a:ext>
            </a:extLst>
          </p:cNvPr>
          <p:cNvPicPr>
            <a:picLocks noChangeAspect="1"/>
          </p:cNvPicPr>
          <p:nvPr/>
        </p:nvPicPr>
        <p:blipFill>
          <a:blip r:embed="rId3"/>
          <a:stretch>
            <a:fillRect/>
          </a:stretch>
        </p:blipFill>
        <p:spPr>
          <a:xfrm>
            <a:off x="3092296" y="825496"/>
            <a:ext cx="3098669" cy="974493"/>
          </a:xfrm>
          <a:prstGeom prst="rect">
            <a:avLst/>
          </a:prstGeom>
        </p:spPr>
      </p:pic>
      <p:sp>
        <p:nvSpPr>
          <p:cNvPr id="4" name="Slide Number Placeholder 3">
            <a:extLst>
              <a:ext uri="{FF2B5EF4-FFF2-40B4-BE49-F238E27FC236}">
                <a16:creationId xmlns:a16="http://schemas.microsoft.com/office/drawing/2014/main" id="{F9DE32E8-5DA6-4428-E631-183F802F1F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
        <p:nvSpPr>
          <p:cNvPr id="6" name="TextBox 5">
            <a:extLst>
              <a:ext uri="{FF2B5EF4-FFF2-40B4-BE49-F238E27FC236}">
                <a16:creationId xmlns:a16="http://schemas.microsoft.com/office/drawing/2014/main" id="{14DB25E7-0ED8-6E06-F0B9-F2D5CDC9497F}"/>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30349743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F197-DD52-898F-CECB-BB9061F5D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C9ADD-3885-CBF5-30E5-9662D6ECD2DB}"/>
              </a:ext>
            </a:extLst>
          </p:cNvPr>
          <p:cNvSpPr>
            <a:spLocks noGrp="1"/>
          </p:cNvSpPr>
          <p:nvPr>
            <p:ph type="title"/>
          </p:nvPr>
        </p:nvSpPr>
        <p:spPr/>
        <p:txBody>
          <a:bodyPr/>
          <a:lstStyle/>
          <a:p>
            <a:r>
              <a:rPr lang="en-US" sz="2200" b="1" dirty="0">
                <a:solidFill>
                  <a:srgbClr val="C01F21"/>
                </a:solidFill>
              </a:rPr>
              <a:t>Cloud-Edge HW-NAS Details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CC9FF97-6201-0233-AD4C-0FA19B25F9F5}"/>
                  </a:ext>
                </a:extLst>
              </p:cNvPr>
              <p:cNvSpPr>
                <a:spLocks noGrp="1"/>
              </p:cNvSpPr>
              <p:nvPr>
                <p:ph type="body" idx="1"/>
              </p:nvPr>
            </p:nvSpPr>
            <p:spPr/>
            <p:txBody>
              <a:bodyPr/>
              <a:lstStyle/>
              <a:p>
                <a:r>
                  <a:rPr lang="en-US" sz="1600" dirty="0"/>
                  <a:t>Top-</a:t>
                </a:r>
                <a14:m>
                  <m:oMath xmlns:m="http://schemas.openxmlformats.org/officeDocument/2006/math">
                    <m:r>
                      <a:rPr lang="en-US" sz="1600" b="0" i="1" smtClean="0">
                        <a:latin typeface="Cambria Math" panose="02040503050406030204" pitchFamily="18" charset="0"/>
                      </a:rPr>
                      <m:t>𝑁</m:t>
                    </m:r>
                  </m:oMath>
                </a14:m>
                <a:r>
                  <a:rPr lang="en-US" sz="1600" dirty="0"/>
                  <a:t>-induced subnet extraction for edge search-space reduction </a:t>
                </a:r>
              </a:p>
              <a:p>
                <a:pPr lvl="1">
                  <a:buFont typeface="Times New Roman" panose="02020603050405020304" pitchFamily="18" charset="0"/>
                  <a:buChar char="→"/>
                </a:pPr>
                <a:r>
                  <a:rPr lang="en-US" sz="1200" dirty="0"/>
                  <a:t>Run cloud search under </a:t>
                </a:r>
                <a:r>
                  <a:rPr lang="en-US" sz="1200" dirty="0">
                    <a:solidFill>
                      <a:srgbClr val="0070C0"/>
                    </a:solidFill>
                  </a:rPr>
                  <a:t>relaxed feasibility</a:t>
                </a:r>
                <a:r>
                  <a:rPr lang="en-US" sz="1200" dirty="0"/>
                  <a:t>, then retain only the operator choices appearing in the </a:t>
                </a:r>
                <a:r>
                  <a:rPr lang="en-US" sz="1200" dirty="0">
                    <a:solidFill>
                      <a:srgbClr val="0070C0"/>
                    </a:solidFill>
                  </a:rPr>
                  <a:t>top-</a:t>
                </a:r>
                <a14:m>
                  <m:oMath xmlns:m="http://schemas.openxmlformats.org/officeDocument/2006/math">
                    <m:r>
                      <a:rPr lang="en-US" sz="1200" b="0" i="1" smtClean="0">
                        <a:solidFill>
                          <a:srgbClr val="0070C0"/>
                        </a:solidFill>
                        <a:latin typeface="Cambria Math" panose="02040503050406030204" pitchFamily="18" charset="0"/>
                      </a:rPr>
                      <m:t>𝑁</m:t>
                    </m:r>
                  </m:oMath>
                </a14:m>
                <a:r>
                  <a:rPr lang="en-US" sz="1200" dirty="0">
                    <a:solidFill>
                      <a:srgbClr val="0070C0"/>
                    </a:solidFill>
                  </a:rPr>
                  <a:t> feasible architectures</a:t>
                </a:r>
                <a:r>
                  <a:rPr lang="en-US" sz="1200" dirty="0"/>
                  <a:t> to form a compact subnet.</a:t>
                </a:r>
              </a:p>
              <a:p>
                <a:pPr lvl="1">
                  <a:buFont typeface="Times New Roman" panose="02020603050405020304" pitchFamily="18" charset="0"/>
                  <a:buChar char="→"/>
                </a:pPr>
                <a:endParaRPr lang="en-US" sz="1600" dirty="0"/>
              </a:p>
              <a:p>
                <a:r>
                  <a:rPr lang="en-US" sz="1600" dirty="0"/>
                  <a:t>Prefix-preserving sequential beam search for on-device refinement</a:t>
                </a:r>
              </a:p>
              <a:p>
                <a:pPr lvl="1">
                  <a:spcAft>
                    <a:spcPts val="600"/>
                  </a:spcAft>
                  <a:buFont typeface="Times New Roman" panose="02020603050405020304" pitchFamily="18" charset="0"/>
                  <a:buChar char="→"/>
                </a:pPr>
                <a:r>
                  <a:rPr lang="en-US" sz="1200" dirty="0"/>
                  <a:t>Expand partial architectures </a:t>
                </a:r>
                <a:r>
                  <a:rPr lang="en-US" sz="1200" dirty="0">
                    <a:solidFill>
                      <a:srgbClr val="0070C0"/>
                    </a:solidFill>
                  </a:rPr>
                  <a:t>block by block </a:t>
                </a:r>
                <a:r>
                  <a:rPr lang="en-US" sz="1200" dirty="0"/>
                  <a:t>while retaining the top-</a:t>
                </a:r>
                <a14:m>
                  <m:oMath xmlns:m="http://schemas.openxmlformats.org/officeDocument/2006/math">
                    <m:r>
                      <a:rPr lang="en-US" sz="1200" b="0" i="1" smtClean="0">
                        <a:latin typeface="Cambria Math" panose="02040503050406030204" pitchFamily="18" charset="0"/>
                      </a:rPr>
                      <m:t>𝑏</m:t>
                    </m:r>
                  </m:oMath>
                </a14:m>
                <a:r>
                  <a:rPr lang="en-US" sz="1200" dirty="0"/>
                  <a:t> partial candidates.</a:t>
                </a:r>
              </a:p>
              <a:p>
                <a:pPr lvl="1">
                  <a:spcAft>
                    <a:spcPts val="600"/>
                  </a:spcAft>
                  <a:buFont typeface="Times New Roman" panose="02020603050405020304" pitchFamily="18" charset="0"/>
                  <a:buChar char="→"/>
                </a:pPr>
                <a:r>
                  <a:rPr lang="en-US" sz="1200" dirty="0"/>
                  <a:t>Child architectures expanded from the same parent </a:t>
                </a:r>
                <a:r>
                  <a:rPr lang="en-US" sz="1200" dirty="0">
                    <a:solidFill>
                      <a:srgbClr val="0070C0"/>
                    </a:solidFill>
                  </a:rPr>
                  <a:t>share long prefixes</a:t>
                </a:r>
                <a:r>
                  <a:rPr lang="en-US" sz="1200" dirty="0"/>
                  <a:t>, so only the modified suffix is recomputed during evaluation.</a:t>
                </a:r>
              </a:p>
              <a:p>
                <a:pPr marL="596900" lvl="1" indent="0">
                  <a:buNone/>
                </a:pPr>
                <a:endParaRPr lang="en-US" sz="1200" dirty="0"/>
              </a:p>
              <a:p>
                <a:r>
                  <a:rPr lang="en-US" sz="1600" dirty="0"/>
                  <a:t>Context-aware, Low-to-high fidelity evaluation with feature reuse</a:t>
                </a:r>
              </a:p>
              <a:p>
                <a:pPr lvl="1">
                  <a:spcAft>
                    <a:spcPts val="600"/>
                  </a:spcAft>
                  <a:buFont typeface="Times New Roman" panose="02020603050405020304" pitchFamily="18" charset="0"/>
                  <a:buChar char="→"/>
                </a:pPr>
                <a:r>
                  <a:rPr lang="en-US" sz="1200" dirty="0"/>
                  <a:t>Filter candidates with few mini-batches early, increase fidelity only for promising candidates.</a:t>
                </a:r>
              </a:p>
              <a:p>
                <a:pPr lvl="1">
                  <a:spcAft>
                    <a:spcPts val="600"/>
                  </a:spcAft>
                  <a:buFont typeface="Times New Roman" panose="02020603050405020304" pitchFamily="18" charset="0"/>
                  <a:buChar char="→"/>
                </a:pPr>
                <a:r>
                  <a:rPr lang="en-US" sz="1200" dirty="0"/>
                  <a:t>Reuse cached measurements and prefix activations to avoid repeated full evaluation.</a:t>
                </a:r>
              </a:p>
              <a:p>
                <a:pPr lvl="1">
                  <a:buFont typeface="Times New Roman" panose="02020603050405020304" pitchFamily="18" charset="0"/>
                  <a:buChar char="→"/>
                </a:pPr>
                <a:endParaRPr lang="en-US" sz="1200" dirty="0"/>
              </a:p>
            </p:txBody>
          </p:sp>
        </mc:Choice>
        <mc:Fallback xmlns="">
          <p:sp>
            <p:nvSpPr>
              <p:cNvPr id="3" name="Text Placeholder 2">
                <a:extLst>
                  <a:ext uri="{FF2B5EF4-FFF2-40B4-BE49-F238E27FC236}">
                    <a16:creationId xmlns:a16="http://schemas.microsoft.com/office/drawing/2014/main" id="{BF9C2D9E-8133-21BB-F5E4-6ACAF6D2E9AA}"/>
                  </a:ext>
                </a:extLst>
              </p:cNvPr>
              <p:cNvSpPr>
                <a:spLocks noGrp="1" noRot="1" noChangeAspect="1" noMove="1" noResize="1" noEditPoints="1" noAdjustHandles="1" noChangeArrowheads="1" noChangeShapeType="1" noTextEdit="1"/>
              </p:cNvSpPr>
              <p:nvPr>
                <p:ph type="body" idx="1"/>
              </p:nvPr>
            </p:nvSpPr>
            <p:spPr>
              <a:blipFill>
                <a:blip r:embed="rId2"/>
                <a:stretch>
                  <a:fillRect r="-29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94EAB29-1BFB-3EB2-705A-66AB695301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
        <p:nvSpPr>
          <p:cNvPr id="5" name="TextBox 4">
            <a:extLst>
              <a:ext uri="{FF2B5EF4-FFF2-40B4-BE49-F238E27FC236}">
                <a16:creationId xmlns:a16="http://schemas.microsoft.com/office/drawing/2014/main" id="{AABD128E-6CA7-7020-50FD-6EEB670A542A}"/>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2583006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02D7-4CA3-1B58-D31D-C6FF175647C7}"/>
              </a:ext>
            </a:extLst>
          </p:cNvPr>
          <p:cNvSpPr>
            <a:spLocks noGrp="1"/>
          </p:cNvSpPr>
          <p:nvPr>
            <p:ph type="title"/>
          </p:nvPr>
        </p:nvSpPr>
        <p:spPr/>
        <p:txBody>
          <a:bodyPr/>
          <a:lstStyle/>
          <a:p>
            <a:r>
              <a:rPr lang="en-US" sz="2200" b="1" dirty="0">
                <a:solidFill>
                  <a:srgbClr val="C01F21"/>
                </a:solidFill>
              </a:rPr>
              <a:t>Cloud-Edge HW-NAS: Evaluation Pipeline</a:t>
            </a:r>
          </a:p>
        </p:txBody>
      </p:sp>
      <p:sp>
        <p:nvSpPr>
          <p:cNvPr id="3" name="Text Placeholder 2">
            <a:extLst>
              <a:ext uri="{FF2B5EF4-FFF2-40B4-BE49-F238E27FC236}">
                <a16:creationId xmlns:a16="http://schemas.microsoft.com/office/drawing/2014/main" id="{D7735E7D-EA01-C174-8A21-098391A07269}"/>
              </a:ext>
            </a:extLst>
          </p:cNvPr>
          <p:cNvSpPr>
            <a:spLocks noGrp="1"/>
          </p:cNvSpPr>
          <p:nvPr>
            <p:ph type="body" idx="1"/>
          </p:nvPr>
        </p:nvSpPr>
        <p:spPr/>
        <p:txBody>
          <a:bodyPr/>
          <a:lstStyle/>
          <a:p>
            <a:r>
              <a:rPr lang="en-US" sz="1600" b="1" dirty="0"/>
              <a:t>Context-aware caching</a:t>
            </a:r>
          </a:p>
          <a:p>
            <a:pPr lvl="1">
              <a:buFont typeface="Times New Roman" panose="02020603050405020304" pitchFamily="18" charset="0"/>
              <a:buChar char="→"/>
            </a:pPr>
            <a:r>
              <a:rPr lang="en-US" sz="1200" dirty="0"/>
              <a:t>Store utility / latency / memory measurements together with device-context information, and reuse them when the same architecture is evaluated under a similar system state.</a:t>
            </a:r>
          </a:p>
          <a:p>
            <a:pPr lvl="1">
              <a:buFont typeface="Times New Roman" panose="02020603050405020304" pitchFamily="18" charset="0"/>
              <a:buChar char="→"/>
            </a:pPr>
            <a:endParaRPr lang="en-US" sz="1600" dirty="0"/>
          </a:p>
          <a:p>
            <a:r>
              <a:rPr lang="en-US" sz="1600" b="1" dirty="0"/>
              <a:t>Stage-aware evaluation</a:t>
            </a:r>
            <a:endParaRPr lang="en-US" sz="1600" dirty="0"/>
          </a:p>
          <a:p>
            <a:pPr lvl="1">
              <a:buFont typeface="Times New Roman" panose="02020603050405020304" pitchFamily="18" charset="0"/>
              <a:buChar char="→"/>
            </a:pPr>
            <a:r>
              <a:rPr lang="en-US" sz="1200" dirty="0"/>
              <a:t>Use a few mini-batches for coarse ranking in early stages, then progressively increase fidelity only for promising architectures.</a:t>
            </a:r>
          </a:p>
          <a:p>
            <a:pPr lvl="1">
              <a:buFont typeface="Times New Roman" panose="02020603050405020304" pitchFamily="18" charset="0"/>
              <a:buChar char="→"/>
            </a:pPr>
            <a:endParaRPr lang="en-US" sz="1600" dirty="0"/>
          </a:p>
          <a:p>
            <a:r>
              <a:rPr lang="en-US" sz="1600" b="1" dirty="0"/>
              <a:t>Intermediate feature reuse</a:t>
            </a:r>
            <a:endParaRPr lang="en-US" sz="1600" dirty="0"/>
          </a:p>
          <a:p>
            <a:pPr lvl="1">
              <a:buFont typeface="Times New Roman" panose="02020603050405020304" pitchFamily="18" charset="0"/>
              <a:buChar char="→"/>
            </a:pPr>
            <a:r>
              <a:rPr lang="en-US" sz="1200" dirty="0"/>
              <a:t>Reuse cached prefix activations and recompute only the modified suffix for child architectures generated by sequential beam search.  </a:t>
            </a:r>
          </a:p>
          <a:p>
            <a:endParaRPr lang="en-US" sz="1600" dirty="0"/>
          </a:p>
        </p:txBody>
      </p:sp>
      <p:sp>
        <p:nvSpPr>
          <p:cNvPr id="4" name="Slide Number Placeholder 3">
            <a:extLst>
              <a:ext uri="{FF2B5EF4-FFF2-40B4-BE49-F238E27FC236}">
                <a16:creationId xmlns:a16="http://schemas.microsoft.com/office/drawing/2014/main" id="{544C661A-3DB3-B6EB-C01C-92C9DD51BE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
        <p:nvSpPr>
          <p:cNvPr id="5" name="TextBox 4">
            <a:extLst>
              <a:ext uri="{FF2B5EF4-FFF2-40B4-BE49-F238E27FC236}">
                <a16:creationId xmlns:a16="http://schemas.microsoft.com/office/drawing/2014/main" id="{69CC58CB-4F32-5790-C4FA-94D5F7DB478E}"/>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36886778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E0C67-024E-8B9E-4BC5-A3E63CFB2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B04C8-279B-1C9F-4223-37254542F89C}"/>
              </a:ext>
            </a:extLst>
          </p:cNvPr>
          <p:cNvSpPr>
            <a:spLocks noGrp="1"/>
          </p:cNvSpPr>
          <p:nvPr>
            <p:ph type="title"/>
          </p:nvPr>
        </p:nvSpPr>
        <p:spPr/>
        <p:txBody>
          <a:bodyPr/>
          <a:lstStyle/>
          <a:p>
            <a:r>
              <a:rPr lang="en-US" sz="2200" b="1" dirty="0">
                <a:solidFill>
                  <a:srgbClr val="C01F21"/>
                </a:solidFill>
              </a:rPr>
              <a:t>Cloud-Edge HW-NAS: Baselines</a:t>
            </a:r>
          </a:p>
        </p:txBody>
      </p:sp>
      <p:sp>
        <p:nvSpPr>
          <p:cNvPr id="3" name="Text Placeholder 2">
            <a:extLst>
              <a:ext uri="{FF2B5EF4-FFF2-40B4-BE49-F238E27FC236}">
                <a16:creationId xmlns:a16="http://schemas.microsoft.com/office/drawing/2014/main" id="{178CC884-8EAF-7215-9E67-0FC0160455E6}"/>
              </a:ext>
            </a:extLst>
          </p:cNvPr>
          <p:cNvSpPr>
            <a:spLocks noGrp="1"/>
          </p:cNvSpPr>
          <p:nvPr>
            <p:ph type="body" idx="1"/>
          </p:nvPr>
        </p:nvSpPr>
        <p:spPr/>
        <p:txBody>
          <a:bodyPr/>
          <a:lstStyle/>
          <a:p>
            <a:r>
              <a:rPr lang="en-US" sz="1600" b="1" dirty="0"/>
              <a:t>Evolutionary HW-NAS</a:t>
            </a:r>
            <a:endParaRPr lang="en-US" sz="1600" dirty="0"/>
          </a:p>
          <a:p>
            <a:pPr lvl="1">
              <a:buFont typeface="Times New Roman" panose="02020603050405020304" pitchFamily="18" charset="0"/>
              <a:buChar char="→"/>
            </a:pPr>
            <a:r>
              <a:rPr lang="en-US" sz="1200" dirty="0"/>
              <a:t>Use evolutionary search to explore architectures through selection, mutation, and crossover, and keep the best feasible architecture under the hardware constraints.</a:t>
            </a:r>
            <a:br>
              <a:rPr lang="en-US" sz="1200" dirty="0"/>
            </a:br>
            <a:endParaRPr lang="en-US" sz="1200" dirty="0"/>
          </a:p>
          <a:p>
            <a:r>
              <a:rPr lang="en-US" sz="1600" b="1" dirty="0"/>
              <a:t>RL HW-NAS</a:t>
            </a:r>
            <a:endParaRPr lang="en-US" sz="1600" dirty="0"/>
          </a:p>
          <a:p>
            <a:pPr lvl="1">
              <a:buFont typeface="Times New Roman" panose="02020603050405020304" pitchFamily="18" charset="0"/>
              <a:buChar char="→"/>
            </a:pPr>
            <a:r>
              <a:rPr lang="en-US" sz="1200" dirty="0"/>
              <a:t>Use a PPO-based controller to sample architecture decisions, and optimize a reward that reflects utility while penalizing constraint violations.</a:t>
            </a:r>
            <a:br>
              <a:rPr lang="en-US" sz="1200" dirty="0"/>
            </a:br>
            <a:endParaRPr lang="en-US" sz="1200" dirty="0"/>
          </a:p>
          <a:p>
            <a:r>
              <a:rPr lang="en-US" sz="1600" b="1" dirty="0"/>
              <a:t>Bayesian Optimization HW-NAS</a:t>
            </a:r>
            <a:endParaRPr lang="en-US" sz="1600" dirty="0"/>
          </a:p>
          <a:p>
            <a:pPr lvl="1">
              <a:buFont typeface="Times New Roman" panose="02020603050405020304" pitchFamily="18" charset="0"/>
              <a:buChar char="→"/>
            </a:pPr>
            <a:r>
              <a:rPr lang="en-US" sz="1200" dirty="0"/>
              <a:t>Use a Gaussian-process surrogate to predict architecture utility, and iteratively choose promising architectures through an acquisition function under the hardware constraints.</a:t>
            </a:r>
          </a:p>
          <a:p>
            <a:endParaRPr lang="en-US" sz="1600" dirty="0"/>
          </a:p>
        </p:txBody>
      </p:sp>
      <p:sp>
        <p:nvSpPr>
          <p:cNvPr id="4" name="Slide Number Placeholder 3">
            <a:extLst>
              <a:ext uri="{FF2B5EF4-FFF2-40B4-BE49-F238E27FC236}">
                <a16:creationId xmlns:a16="http://schemas.microsoft.com/office/drawing/2014/main" id="{0D0C9C44-4653-0265-4D18-A525BB37E1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
        <p:nvSpPr>
          <p:cNvPr id="5" name="TextBox 4">
            <a:extLst>
              <a:ext uri="{FF2B5EF4-FFF2-40B4-BE49-F238E27FC236}">
                <a16:creationId xmlns:a16="http://schemas.microsoft.com/office/drawing/2014/main" id="{3E7959C7-C8AE-0C38-B01D-3C25BD8AAFFC}"/>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12032292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3EAA-5DCD-4265-14D3-2FF1D09C3452}"/>
              </a:ext>
            </a:extLst>
          </p:cNvPr>
          <p:cNvSpPr>
            <a:spLocks noGrp="1"/>
          </p:cNvSpPr>
          <p:nvPr>
            <p:ph type="title"/>
          </p:nvPr>
        </p:nvSpPr>
        <p:spPr/>
        <p:txBody>
          <a:bodyPr/>
          <a:lstStyle/>
          <a:p>
            <a:r>
              <a:rPr lang="en-US" sz="2200" b="1" dirty="0">
                <a:solidFill>
                  <a:srgbClr val="C01F21"/>
                </a:solidFill>
              </a:rPr>
              <a:t>Cloud-Edge HW-NAS: Ablation Studies</a:t>
            </a:r>
          </a:p>
        </p:txBody>
      </p:sp>
      <p:pic>
        <p:nvPicPr>
          <p:cNvPr id="5" name="Picture 4">
            <a:extLst>
              <a:ext uri="{FF2B5EF4-FFF2-40B4-BE49-F238E27FC236}">
                <a16:creationId xmlns:a16="http://schemas.microsoft.com/office/drawing/2014/main" id="{FB302A44-F0C2-7C60-259F-FB2681710AEE}"/>
              </a:ext>
            </a:extLst>
          </p:cNvPr>
          <p:cNvPicPr>
            <a:picLocks noChangeAspect="1"/>
          </p:cNvPicPr>
          <p:nvPr/>
        </p:nvPicPr>
        <p:blipFill>
          <a:blip r:embed="rId2"/>
          <a:stretch>
            <a:fillRect/>
          </a:stretch>
        </p:blipFill>
        <p:spPr>
          <a:xfrm>
            <a:off x="400930" y="909848"/>
            <a:ext cx="8297830" cy="2732884"/>
          </a:xfrm>
          <a:prstGeom prst="rect">
            <a:avLst/>
          </a:prstGeom>
        </p:spPr>
      </p:pic>
      <p:sp>
        <p:nvSpPr>
          <p:cNvPr id="3" name="Slide Number Placeholder 2">
            <a:extLst>
              <a:ext uri="{FF2B5EF4-FFF2-40B4-BE49-F238E27FC236}">
                <a16:creationId xmlns:a16="http://schemas.microsoft.com/office/drawing/2014/main" id="{71F09976-07A9-E84E-1771-2A990174F2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
        <p:nvSpPr>
          <p:cNvPr id="4" name="TextBox 3">
            <a:extLst>
              <a:ext uri="{FF2B5EF4-FFF2-40B4-BE49-F238E27FC236}">
                <a16:creationId xmlns:a16="http://schemas.microsoft.com/office/drawing/2014/main" id="{F6068280-0232-068E-134E-55186C2D6E8C}"/>
              </a:ext>
            </a:extLst>
          </p:cNvPr>
          <p:cNvSpPr txBox="1"/>
          <p:nvPr/>
        </p:nvSpPr>
        <p:spPr>
          <a:xfrm>
            <a:off x="1532706" y="4524012"/>
            <a:ext cx="6016487" cy="338554"/>
          </a:xfrm>
          <a:prstGeom prst="rect">
            <a:avLst/>
          </a:prstGeom>
          <a:noFill/>
        </p:spPr>
        <p:txBody>
          <a:bodyPr wrap="square" rtlCol="0">
            <a:spAutoFit/>
          </a:bodyPr>
          <a:lstStyle/>
          <a:p>
            <a:pPr lvl="0">
              <a:buSzPts val="2800"/>
            </a:pPr>
            <a:r>
              <a:rPr lang="en-US" sz="800" dirty="0">
                <a:solidFill>
                  <a:schemeClr val="bg1"/>
                </a:solidFill>
              </a:rPr>
              <a:t>Te-Yi Kan, and Konstantinos </a:t>
            </a:r>
            <a:r>
              <a:rPr lang="en-US" sz="800" dirty="0" err="1">
                <a:solidFill>
                  <a:schemeClr val="bg1"/>
                </a:solidFill>
              </a:rPr>
              <a:t>Psounis</a:t>
            </a:r>
            <a:r>
              <a:rPr lang="en-US" sz="800" dirty="0">
                <a:solidFill>
                  <a:schemeClr val="bg1"/>
                </a:solidFill>
              </a:rPr>
              <a:t>. “Neural Architecture Search for Edge Devices via Cloud-Edge Collaboration,” </a:t>
            </a:r>
          </a:p>
          <a:p>
            <a:pPr lvl="0">
              <a:buSzPts val="2800"/>
            </a:pPr>
            <a:r>
              <a:rPr lang="en-US" sz="800" dirty="0">
                <a:solidFill>
                  <a:schemeClr val="bg1"/>
                </a:solidFill>
              </a:rPr>
              <a:t>under review in </a:t>
            </a:r>
            <a:r>
              <a:rPr lang="en-US" sz="800" i="1" dirty="0">
                <a:solidFill>
                  <a:schemeClr val="bg1"/>
                </a:solidFill>
              </a:rPr>
              <a:t>the International Conference on Machine Learning (ICML)</a:t>
            </a:r>
            <a:endParaRPr lang="en-US" sz="800" dirty="0">
              <a:solidFill>
                <a:schemeClr val="bg1"/>
              </a:solidFill>
            </a:endParaRPr>
          </a:p>
        </p:txBody>
      </p:sp>
    </p:spTree>
    <p:extLst>
      <p:ext uri="{BB962C8B-B14F-4D97-AF65-F5344CB8AC3E}">
        <p14:creationId xmlns:p14="http://schemas.microsoft.com/office/powerpoint/2010/main" val="927951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456"/>
        <p:cNvGrpSpPr/>
        <p:nvPr/>
      </p:nvGrpSpPr>
      <p:grpSpPr>
        <a:xfrm>
          <a:off x="0" y="0"/>
          <a:ext cx="0" cy="0"/>
          <a:chOff x="0" y="0"/>
          <a:chExt cx="0" cy="0"/>
        </a:xfrm>
      </p:grpSpPr>
      <p:sp>
        <p:nvSpPr>
          <p:cNvPr id="458" name="Google Shape;458;p48"/>
          <p:cNvSpPr txBox="1">
            <a:spLocks noGrp="1"/>
          </p:cNvSpPr>
          <p:nvPr>
            <p:ph type="title"/>
          </p:nvPr>
        </p:nvSpPr>
        <p:spPr>
          <a:xfrm>
            <a:off x="249600" y="153575"/>
            <a:ext cx="8582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Back up</a:t>
            </a:r>
            <a:endParaRPr dirty="0"/>
          </a:p>
        </p:txBody>
      </p:sp>
      <p:sp>
        <p:nvSpPr>
          <p:cNvPr id="459" name="Google Shape;459;p48"/>
          <p:cNvSpPr txBox="1">
            <a:spLocks noGrp="1"/>
          </p:cNvSpPr>
          <p:nvPr>
            <p:ph type="body" idx="1"/>
          </p:nvPr>
        </p:nvSpPr>
        <p:spPr>
          <a:xfrm>
            <a:off x="249600" y="815200"/>
            <a:ext cx="85827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endParaRPr/>
          </a:p>
        </p:txBody>
      </p:sp>
      <p:sp>
        <p:nvSpPr>
          <p:cNvPr id="2" name="Slide Number Placeholder 1">
            <a:extLst>
              <a:ext uri="{FF2B5EF4-FFF2-40B4-BE49-F238E27FC236}">
                <a16:creationId xmlns:a16="http://schemas.microsoft.com/office/drawing/2014/main" id="{1705DAD3-2250-499D-37B3-F3322BD478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cSld>
  <p:clrMapOvr>
    <a:masterClrMapping/>
  </p:clrMapOvr>
</p:sld>
</file>

<file path=ppt/theme/theme1.xml><?xml version="1.0" encoding="utf-8"?>
<a:theme xmlns:a="http://schemas.openxmlformats.org/drawingml/2006/main" name="Office Theme">
  <a:themeElements>
    <a:clrScheme name="Custom 28">
      <a:dk1>
        <a:srgbClr val="990000"/>
      </a:dk1>
      <a:lt1>
        <a:srgbClr val="FFCC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23">
      <a:dk1>
        <a:srgbClr val="99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14965</TotalTime>
  <Words>6467</Words>
  <Application>Microsoft Macintosh PowerPoint</Application>
  <PresentationFormat>On-screen Show (16:9)</PresentationFormat>
  <Paragraphs>734</Paragraphs>
  <Slides>61</Slides>
  <Notes>43</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61</vt:i4>
      </vt:variant>
    </vt:vector>
  </HeadingPairs>
  <TitlesOfParts>
    <vt:vector size="69" baseType="lpstr">
      <vt:lpstr>System Font Regular</vt:lpstr>
      <vt:lpstr>Arial</vt:lpstr>
      <vt:lpstr>Calibri</vt:lpstr>
      <vt:lpstr>Cambria Math</vt:lpstr>
      <vt:lpstr>Times New Roman</vt:lpstr>
      <vt:lpstr>Wingdings</vt:lpstr>
      <vt:lpstr>Office Theme</vt:lpstr>
      <vt:lpstr>Office Theme</vt:lpstr>
      <vt:lpstr>PowerPoint Presentation</vt:lpstr>
      <vt:lpstr>Outline</vt:lpstr>
      <vt:lpstr>Motivation &amp; Research Focus</vt:lpstr>
      <vt:lpstr>Motivation:  The Need for ML on Resource-constrained Devices</vt:lpstr>
      <vt:lpstr>Utility-Latency-Privacy Tradeoff</vt:lpstr>
      <vt:lpstr>Practical ML for Resource-constrained Devices</vt:lpstr>
      <vt:lpstr>Key Dimensions and Research Thrusts</vt:lpstr>
      <vt:lpstr>Thrust I: Efficient Distributed Execution  Online Distributed Offloading of Time-Sensitive Vehicular Tasks in Edge-Cloud Systems </vt:lpstr>
      <vt:lpstr>Motivation</vt:lpstr>
      <vt:lpstr>Vehicular Offloading System Architecture</vt:lpstr>
      <vt:lpstr>Task Duration Minimization Problem</vt:lpstr>
      <vt:lpstr>What is Missing in Prior Vehicular Offloading Work?</vt:lpstr>
      <vt:lpstr>TODORA: Online Distributed Offloading and Resource Allocation </vt:lpstr>
      <vt:lpstr>TODORA: Key Ideas</vt:lpstr>
      <vt:lpstr>TODORA Performance under Varying Vehicle Compute</vt:lpstr>
      <vt:lpstr>TODORA Performance Under System Stress</vt:lpstr>
      <vt:lpstr>Thrust II: Privacy-Aware Distributed Inference  LLPRI: Low-Latency Private ML Inference for Vision Tasks in Distributed Environments</vt:lpstr>
      <vt:lpstr>Motivation</vt:lpstr>
      <vt:lpstr>Challenging Scenario</vt:lpstr>
      <vt:lpstr>What is Missing in Prior Privacy-Preserving Inference</vt:lpstr>
      <vt:lpstr>LLPRI: System Overview </vt:lpstr>
      <vt:lpstr>Core Module I: Sensitive Object Detector</vt:lpstr>
      <vt:lpstr>Core Module II: Scheduler</vt:lpstr>
      <vt:lpstr>Core Module III: Obfuscator </vt:lpstr>
      <vt:lpstr>Privacy–Utility Tradeoff</vt:lpstr>
      <vt:lpstr>Latency on Detection and Segmentation</vt:lpstr>
      <vt:lpstr>Thrust III: Deployment-Faithful Model Adaptation  Neural Architecture Search for Edge Devices via Cloud-Edge Collaboration</vt:lpstr>
      <vt:lpstr>Motivation </vt:lpstr>
      <vt:lpstr>Deployment-Faithful Model Adaptation Problem</vt:lpstr>
      <vt:lpstr>What is Missing in On-Device Model Adaptation</vt:lpstr>
      <vt:lpstr>Two-Stage Cloud-Edge Collaborative HW-NAS</vt:lpstr>
      <vt:lpstr>Cloud Stage: Supernet Construction and Search</vt:lpstr>
      <vt:lpstr>Edge Stage: Lightweight On-Device Refinement</vt:lpstr>
      <vt:lpstr>Results Across Vision and NLP Tasks</vt:lpstr>
      <vt:lpstr>Future Direction  Collaborative Speculative Decoding across Edge and Cloud</vt:lpstr>
      <vt:lpstr>Motivation </vt:lpstr>
      <vt:lpstr>Cloud-Edge Collaborative Speculative Decoding Mechanism</vt:lpstr>
      <vt:lpstr>Open Questions &amp; Goal</vt:lpstr>
      <vt:lpstr>Conclusion</vt:lpstr>
      <vt:lpstr>Dissertation Proposal Contributions</vt:lpstr>
      <vt:lpstr>Conclusion</vt:lpstr>
      <vt:lpstr>Thank You! Q&amp;A</vt:lpstr>
      <vt:lpstr>Appendix</vt:lpstr>
      <vt:lpstr>TODORA Objective and Delay Formulation</vt:lpstr>
      <vt:lpstr>TODORA Priority Function and Decision Rules</vt:lpstr>
      <vt:lpstr>TODORA: RSU-side Scheduling and TODORAP Extension</vt:lpstr>
      <vt:lpstr>TODORA Algorithm</vt:lpstr>
      <vt:lpstr>TODORAP: Partial Offloading Extension</vt:lpstr>
      <vt:lpstr>Extension Results: Dependency and Partial Offloading</vt:lpstr>
      <vt:lpstr>LLPRI Details</vt:lpstr>
      <vt:lpstr>LLPRI: Privacy-Aware Sensitive-Object Detector</vt:lpstr>
      <vt:lpstr>LLPRI: Obfuscator with Joint Privacy-Utility Training</vt:lpstr>
      <vt:lpstr>LLPRI: Scheduler for Distributed Inference</vt:lpstr>
      <vt:lpstr>LLPRI: Evaluation Metrics</vt:lpstr>
      <vt:lpstr>LLPRI: Ablation Studies</vt:lpstr>
      <vt:lpstr>Cloud-Edge HW-NAS: Problem Formulation</vt:lpstr>
      <vt:lpstr>Cloud-Edge HW-NAS Details</vt:lpstr>
      <vt:lpstr>Cloud-Edge HW-NAS: Evaluation Pipeline</vt:lpstr>
      <vt:lpstr>Cloud-Edge HW-NAS: Baselines</vt:lpstr>
      <vt:lpstr>Cloud-Edge HW-NAS: Ablation Studies</vt:lpstr>
      <vt:lpstr>Back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 Yi Kan</cp:lastModifiedBy>
  <cp:revision>368</cp:revision>
  <dcterms:modified xsi:type="dcterms:W3CDTF">2026-04-20T05:31:57Z</dcterms:modified>
</cp:coreProperties>
</file>